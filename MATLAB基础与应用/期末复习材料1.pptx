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526" r:id="rId3"/>
    <p:sldId id="673" r:id="rId4"/>
    <p:sldId id="674" r:id="rId5"/>
    <p:sldId id="675" r:id="rId6"/>
    <p:sldId id="676" r:id="rId7"/>
    <p:sldId id="677" r:id="rId8"/>
    <p:sldId id="678" r:id="rId9"/>
    <p:sldId id="684" r:id="rId10"/>
    <p:sldId id="685" r:id="rId11"/>
    <p:sldId id="686" r:id="rId12"/>
    <p:sldId id="687" r:id="rId13"/>
    <p:sldId id="688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97" r:id="rId22"/>
    <p:sldId id="698" r:id="rId23"/>
    <p:sldId id="699" r:id="rId24"/>
    <p:sldId id="700" r:id="rId25"/>
    <p:sldId id="701" r:id="rId26"/>
    <p:sldId id="702" r:id="rId27"/>
    <p:sldId id="703" r:id="rId28"/>
    <p:sldId id="704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0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699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1502" autoAdjust="0"/>
  </p:normalViewPr>
  <p:slideViewPr>
    <p:cSldViewPr showGuides="1">
      <p:cViewPr varScale="1">
        <p:scale>
          <a:sx n="63" d="100"/>
          <a:sy n="63" d="100"/>
        </p:scale>
        <p:origin x="1384" y="44"/>
      </p:cViewPr>
      <p:guideLst>
        <p:guide orient="horz" pos="2440"/>
        <p:guide pos="2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522C6-AC1F-4615-9E95-AA8C2C7316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9936E-C018-407F-B8A4-030D5D4037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2660915"/>
            <a:ext cx="4320480" cy="1470025"/>
          </a:xfrm>
        </p:spPr>
        <p:txBody>
          <a:bodyPr>
            <a:normAutofit/>
          </a:bodyPr>
          <a:lstStyle>
            <a:lvl1pPr algn="l">
              <a:defRPr sz="5335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123728" y="4773149"/>
            <a:ext cx="4320480" cy="672075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主讲人：某某某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49"/>
            <a:ext cx="3008313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7"/>
            <a:ext cx="54864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91865" y="2060575"/>
            <a:ext cx="2287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+mn-ea"/>
                <a:cs typeface="+mn-ea"/>
              </a:rPr>
              <a:t>期末复习</a:t>
            </a:r>
            <a:endParaRPr lang="zh-CN" altLang="en-US" sz="40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2620" y="491315"/>
            <a:ext cx="7329488" cy="662779"/>
          </a:xfrm>
        </p:spPr>
        <p:txBody>
          <a:bodyPr>
            <a:noAutofit/>
          </a:bodyPr>
          <a:lstStyle/>
          <a:p>
            <a:pPr algn="ctr"/>
            <a:r>
              <a:rPr lang="en-US" altLang="zh-CN" sz="4000" dirty="0"/>
              <a:t>2.1.3 </a:t>
            </a:r>
            <a:r>
              <a:rPr lang="zh-CN" altLang="en-US" sz="4000" dirty="0"/>
              <a:t>变  量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183495" y="1373394"/>
            <a:ext cx="877653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008080"/>
                </a:solidFill>
              </a:rPr>
              <a:t>1</a:t>
            </a:r>
            <a:r>
              <a:rPr lang="zh-CN" altLang="zh-CN" sz="2400" b="1" dirty="0">
                <a:solidFill>
                  <a:srgbClr val="008080"/>
                </a:solidFill>
              </a:rPr>
              <a:t>．变量的命名规则</a:t>
            </a:r>
            <a:endParaRPr lang="zh-CN" altLang="zh-CN" sz="2400" b="1" dirty="0">
              <a:solidFill>
                <a:srgbClr val="008080"/>
              </a:solidFill>
            </a:endParaRPr>
          </a:p>
          <a:p>
            <a:r>
              <a:rPr lang="en-US" altLang="zh-CN" sz="2400" dirty="0"/>
              <a:t>MATLAB</a:t>
            </a:r>
            <a:r>
              <a:rPr lang="zh-CN" altLang="zh-CN" sz="2400" dirty="0"/>
              <a:t>的变量有一定的命名规则。变量的命名规则如下。</a:t>
            </a:r>
            <a:endParaRPr lang="zh-CN" altLang="zh-CN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3355574" y="2972518"/>
            <a:ext cx="2172900" cy="2162201"/>
            <a:chOff x="3725965" y="2938328"/>
            <a:chExt cx="2172900" cy="2162201"/>
          </a:xfrm>
        </p:grpSpPr>
        <p:grpSp>
          <p:nvGrpSpPr>
            <p:cNvPr id="5" name="组合 4"/>
            <p:cNvGrpSpPr/>
            <p:nvPr/>
          </p:nvGrpSpPr>
          <p:grpSpPr>
            <a:xfrm>
              <a:off x="3725965" y="2938328"/>
              <a:ext cx="2172316" cy="1069650"/>
              <a:chOff x="3725965" y="2938328"/>
              <a:chExt cx="1405784" cy="692209"/>
            </a:xfrm>
            <a:solidFill>
              <a:srgbClr val="009999"/>
            </a:solidFill>
          </p:grpSpPr>
          <p:sp>
            <p:nvSpPr>
              <p:cNvPr id="13" name="斜纹 12"/>
              <p:cNvSpPr/>
              <p:nvPr/>
            </p:nvSpPr>
            <p:spPr>
              <a:xfrm rot="10800000">
                <a:off x="3725965" y="2938328"/>
                <a:ext cx="692209" cy="692209"/>
              </a:xfrm>
              <a:prstGeom prst="diagStripe">
                <a:avLst>
                  <a:gd name="adj" fmla="val 5740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斜纹 13"/>
              <p:cNvSpPr/>
              <p:nvPr/>
            </p:nvSpPr>
            <p:spPr>
              <a:xfrm rot="16200000">
                <a:off x="4439540" y="2938328"/>
                <a:ext cx="692209" cy="692209"/>
              </a:xfrm>
              <a:prstGeom prst="diagStripe">
                <a:avLst>
                  <a:gd name="adj" fmla="val 5740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 flipV="1">
              <a:off x="3726549" y="4030879"/>
              <a:ext cx="2172316" cy="1069650"/>
              <a:chOff x="3725965" y="2938328"/>
              <a:chExt cx="1405784" cy="692209"/>
            </a:xfrm>
            <a:solidFill>
              <a:srgbClr val="009999"/>
            </a:solidFill>
          </p:grpSpPr>
          <p:sp>
            <p:nvSpPr>
              <p:cNvPr id="11" name="斜纹 10"/>
              <p:cNvSpPr/>
              <p:nvPr/>
            </p:nvSpPr>
            <p:spPr>
              <a:xfrm rot="10800000">
                <a:off x="3725965" y="2938328"/>
                <a:ext cx="692209" cy="692209"/>
              </a:xfrm>
              <a:prstGeom prst="diagStripe">
                <a:avLst>
                  <a:gd name="adj" fmla="val 5740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斜纹 11"/>
              <p:cNvSpPr/>
              <p:nvPr/>
            </p:nvSpPr>
            <p:spPr>
              <a:xfrm rot="16200000">
                <a:off x="4439540" y="2938328"/>
                <a:ext cx="692209" cy="692209"/>
              </a:xfrm>
              <a:prstGeom prst="diagStripe">
                <a:avLst>
                  <a:gd name="adj" fmla="val 5740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18853652">
              <a:off x="3877176" y="3299213"/>
              <a:ext cx="889081" cy="478564"/>
            </a:xfrm>
            <a:prstGeom prst="triangle">
              <a:avLst/>
            </a:prstGeom>
            <a:solidFill>
              <a:srgbClr val="CCE8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2746348" flipH="1">
              <a:off x="4857987" y="3299215"/>
              <a:ext cx="889081" cy="478564"/>
            </a:xfrm>
            <a:prstGeom prst="triangle">
              <a:avLst/>
            </a:prstGeom>
            <a:solidFill>
              <a:srgbClr val="CCE8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8146348" flipH="1">
              <a:off x="4836524" y="4289096"/>
              <a:ext cx="889081" cy="478564"/>
            </a:xfrm>
            <a:prstGeom prst="triangle">
              <a:avLst/>
            </a:prstGeom>
            <a:solidFill>
              <a:srgbClr val="CCE8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3546348" flipH="1">
              <a:off x="3890506" y="4277046"/>
              <a:ext cx="889081" cy="478564"/>
            </a:xfrm>
            <a:prstGeom prst="triangle">
              <a:avLst/>
            </a:prstGeom>
            <a:solidFill>
              <a:srgbClr val="CCE8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3600874" y="3388018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b="1" dirty="0">
              <a:solidFill>
                <a:srgbClr val="183C5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02667" y="3388018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b="1" dirty="0">
              <a:solidFill>
                <a:srgbClr val="183C5C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00874" y="4372856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b="1" dirty="0">
              <a:solidFill>
                <a:srgbClr val="183C5C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02667" y="4372856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b="1" kern="100" dirty="0">
                <a:solidFill>
                  <a:srgbClr val="183C5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b="1" dirty="0">
              <a:solidFill>
                <a:srgbClr val="183C5C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5141" y="2949618"/>
            <a:ext cx="2939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变量名区分字母的大、小写。例如，“</a:t>
            </a:r>
            <a:r>
              <a:rPr lang="en-US" altLang="zh-CN" dirty="0"/>
              <a:t>a</a:t>
            </a:r>
            <a:r>
              <a:rPr lang="zh-CN" altLang="zh-CN" dirty="0"/>
              <a:t>”和“</a:t>
            </a:r>
            <a:r>
              <a:rPr lang="en-US" altLang="zh-CN" dirty="0"/>
              <a:t>A</a:t>
            </a:r>
            <a:r>
              <a:rPr lang="zh-CN" altLang="zh-CN" dirty="0"/>
              <a:t>”是不同的变量。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260268" y="2718828"/>
            <a:ext cx="3214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变量名不能超过</a:t>
            </a:r>
            <a:r>
              <a:rPr lang="en-US" altLang="zh-CN" dirty="0"/>
              <a:t>63</a:t>
            </a:r>
            <a:r>
              <a:rPr lang="zh-CN" altLang="zh-CN" dirty="0"/>
              <a:t>个字符，第</a:t>
            </a:r>
            <a:r>
              <a:rPr lang="en-US" altLang="zh-CN" dirty="0"/>
              <a:t>63</a:t>
            </a:r>
            <a:r>
              <a:rPr lang="zh-CN" altLang="zh-CN" dirty="0"/>
              <a:t>个字符后的字符被忽略，</a:t>
            </a:r>
            <a:r>
              <a:rPr lang="en-US" altLang="zh-CN" dirty="0"/>
              <a:t>MATLAB7.3</a:t>
            </a:r>
            <a:r>
              <a:rPr lang="zh-CN" altLang="zh-CN" dirty="0"/>
              <a:t>版以前的变量名不能超过</a:t>
            </a:r>
            <a:r>
              <a:rPr lang="en-US" altLang="zh-CN" dirty="0"/>
              <a:t>31</a:t>
            </a:r>
            <a:r>
              <a:rPr lang="zh-CN" altLang="zh-CN" dirty="0"/>
              <a:t>个字符。</a:t>
            </a:r>
            <a:endParaRPr lang="zh-CN" altLang="zh-CN" dirty="0"/>
          </a:p>
        </p:txBody>
      </p:sp>
      <p:sp>
        <p:nvSpPr>
          <p:cNvPr id="21" name="文本框 20"/>
          <p:cNvSpPr txBox="1"/>
          <p:nvPr/>
        </p:nvSpPr>
        <p:spPr>
          <a:xfrm>
            <a:off x="713793" y="4395761"/>
            <a:ext cx="30624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变量名必须以字母开头，变量名的组成可以是任意字母、数字或者下画线，但不能含有空格和标点符号（如。、</a:t>
            </a:r>
            <a:r>
              <a:rPr lang="en-US" altLang="zh-CN" dirty="0"/>
              <a:t>%</a:t>
            </a:r>
            <a:r>
              <a:rPr lang="zh-CN" altLang="zh-CN" dirty="0"/>
              <a:t>等）。例如，“</a:t>
            </a:r>
            <a:r>
              <a:rPr lang="en-US" altLang="zh-CN" dirty="0"/>
              <a:t>6ABC</a:t>
            </a:r>
            <a:r>
              <a:rPr lang="zh-CN" altLang="zh-CN" dirty="0"/>
              <a:t>”、“</a:t>
            </a:r>
            <a:r>
              <a:rPr lang="en-US" altLang="zh-CN" dirty="0"/>
              <a:t>AB%C</a:t>
            </a:r>
            <a:r>
              <a:rPr lang="zh-CN" altLang="zh-CN" dirty="0"/>
              <a:t>”都是不合法的变量名。</a:t>
            </a:r>
            <a:endParaRPr lang="zh-CN" altLang="zh-CN" dirty="0"/>
          </a:p>
        </p:txBody>
      </p:sp>
      <p:sp>
        <p:nvSpPr>
          <p:cNvPr id="22" name="文本框 21"/>
          <p:cNvSpPr txBox="1"/>
          <p:nvPr/>
        </p:nvSpPr>
        <p:spPr>
          <a:xfrm>
            <a:off x="5260268" y="4599894"/>
            <a:ext cx="271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关键字（如</a:t>
            </a:r>
            <a:r>
              <a:rPr lang="en-US" altLang="zh-CN" dirty="0"/>
              <a:t>if</a:t>
            </a:r>
            <a:r>
              <a:rPr lang="zh-CN" altLang="zh-CN" dirty="0"/>
              <a:t>、</a:t>
            </a:r>
            <a:r>
              <a:rPr lang="en-US" altLang="zh-CN" dirty="0"/>
              <a:t>while</a:t>
            </a:r>
            <a:r>
              <a:rPr lang="zh-CN" altLang="zh-CN" dirty="0"/>
              <a:t>等）不能作为变量名。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8656" y="502046"/>
            <a:ext cx="7329488" cy="662779"/>
          </a:xfrm>
        </p:spPr>
        <p:txBody>
          <a:bodyPr>
            <a:noAutofit/>
          </a:bodyPr>
          <a:lstStyle/>
          <a:p>
            <a:r>
              <a:rPr lang="zh-CN" altLang="zh-CN" sz="4000" dirty="0">
                <a:effectLst/>
              </a:rPr>
              <a:t>矩阵输入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288380" y="1345686"/>
            <a:ext cx="856723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8080"/>
                </a:solidFill>
              </a:rPr>
              <a:t>2</a:t>
            </a:r>
            <a:r>
              <a:rPr lang="zh-CN" altLang="zh-CN" sz="2000" b="1" dirty="0">
                <a:solidFill>
                  <a:srgbClr val="008080"/>
                </a:solidFill>
              </a:rPr>
              <a:t>．通过语句生成矩阵</a:t>
            </a:r>
            <a:endParaRPr lang="zh-CN" altLang="zh-CN" sz="2000" b="1" dirty="0">
              <a:solidFill>
                <a:srgbClr val="008080"/>
              </a:solidFill>
            </a:endParaRPr>
          </a:p>
          <a:p>
            <a:r>
              <a:rPr lang="zh-CN" altLang="zh-CN" sz="2000" dirty="0"/>
              <a:t>通过语句生成矩阵有以下几种方式。</a:t>
            </a:r>
            <a:endParaRPr lang="zh-CN" altLang="zh-CN" sz="2000" dirty="0"/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/>
              <a:t>）使用</a:t>
            </a:r>
            <a:r>
              <a:rPr lang="en-US" altLang="zh-CN" sz="2000" dirty="0" err="1"/>
              <a:t>from:step:to</a:t>
            </a:r>
            <a:r>
              <a:rPr lang="zh-CN" altLang="zh-CN" sz="2000" dirty="0"/>
              <a:t>方式生成行向量。如果是线性等间距格式的向量，则可以使用“</a:t>
            </a:r>
            <a:r>
              <a:rPr lang="en-US" altLang="zh-CN" sz="2000" dirty="0" err="1"/>
              <a:t>from:step:to</a:t>
            </a:r>
            <a:r>
              <a:rPr lang="zh-CN" altLang="zh-CN" sz="2000" dirty="0"/>
              <a:t>”方式生成。</a:t>
            </a:r>
            <a:endParaRPr lang="zh-CN" altLang="zh-CN" sz="2000" dirty="0"/>
          </a:p>
          <a:p>
            <a:r>
              <a:rPr lang="zh-CN" altLang="zh-CN" sz="2000" dirty="0"/>
              <a:t>语法：</a:t>
            </a:r>
            <a:endParaRPr lang="zh-CN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07505" y="3234707"/>
            <a:ext cx="8856984" cy="707886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from:to</a:t>
            </a:r>
            <a:endParaRPr lang="zh-CN" altLang="zh-CN" sz="2000" dirty="0"/>
          </a:p>
          <a:p>
            <a:r>
              <a:rPr lang="en-US" altLang="zh-CN" sz="2000" dirty="0" err="1"/>
              <a:t>from:step:to</a:t>
            </a:r>
            <a:endParaRPr lang="zh-CN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222362" y="4221088"/>
            <a:ext cx="8627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说明：</a:t>
            </a:r>
            <a:r>
              <a:rPr lang="en-US" altLang="zh-CN" sz="2000" dirty="0"/>
              <a:t>from</a:t>
            </a:r>
            <a:r>
              <a:rPr lang="zh-CN" altLang="zh-CN" sz="2000" dirty="0"/>
              <a:t>、</a:t>
            </a:r>
            <a:r>
              <a:rPr lang="en-US" altLang="zh-CN" sz="2000" dirty="0"/>
              <a:t>step</a:t>
            </a:r>
            <a:r>
              <a:rPr lang="zh-CN" altLang="zh-CN" sz="2000" dirty="0"/>
              <a:t>和</a:t>
            </a:r>
            <a:r>
              <a:rPr lang="en-US" altLang="zh-CN" sz="2000" dirty="0"/>
              <a:t>to</a:t>
            </a:r>
            <a:r>
              <a:rPr lang="zh-CN" altLang="zh-CN" sz="2000" dirty="0"/>
              <a:t>分别表示开始值、步长和结束值。当</a:t>
            </a:r>
            <a:r>
              <a:rPr lang="en-US" altLang="zh-CN" sz="2000" dirty="0"/>
              <a:t>step</a:t>
            </a:r>
            <a:r>
              <a:rPr lang="zh-CN" altLang="zh-CN" sz="2000" dirty="0"/>
              <a:t>省略时则默认为</a:t>
            </a:r>
            <a:r>
              <a:rPr lang="en-US" altLang="zh-CN" sz="2000" dirty="0"/>
              <a:t>step=1</a:t>
            </a:r>
            <a:r>
              <a:rPr lang="zh-CN" altLang="zh-CN" sz="2000" dirty="0"/>
              <a:t>；当</a:t>
            </a:r>
            <a:r>
              <a:rPr lang="en-US" altLang="zh-CN" sz="2000" dirty="0"/>
              <a:t>step</a:t>
            </a:r>
            <a:r>
              <a:rPr lang="zh-CN" altLang="zh-CN" sz="2000" dirty="0"/>
              <a:t>省略或</a:t>
            </a:r>
            <a:r>
              <a:rPr lang="en-US" altLang="zh-CN" sz="2000" dirty="0"/>
              <a:t>step&gt;0</a:t>
            </a:r>
            <a:r>
              <a:rPr lang="zh-CN" altLang="zh-CN" sz="2000" dirty="0"/>
              <a:t>而</a:t>
            </a:r>
            <a:r>
              <a:rPr lang="en-US" altLang="zh-CN" sz="2000" dirty="0"/>
              <a:t>from&gt;to</a:t>
            </a:r>
            <a:r>
              <a:rPr lang="zh-CN" altLang="zh-CN" sz="2000" dirty="0"/>
              <a:t>时为空矩阵；当</a:t>
            </a:r>
            <a:r>
              <a:rPr lang="en-US" altLang="zh-CN" sz="2000" dirty="0"/>
              <a:t>step&lt;0</a:t>
            </a:r>
            <a:r>
              <a:rPr lang="zh-CN" altLang="zh-CN" sz="2000" dirty="0"/>
              <a:t>而</a:t>
            </a:r>
            <a:r>
              <a:rPr lang="en-US" altLang="zh-CN" sz="2000" dirty="0"/>
              <a:t>from&lt;to</a:t>
            </a:r>
            <a:r>
              <a:rPr lang="zh-CN" altLang="zh-CN" sz="2000" dirty="0"/>
              <a:t>时也为空矩阵。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240" y="346509"/>
            <a:ext cx="7329488" cy="662779"/>
          </a:xfrm>
        </p:spPr>
        <p:txBody>
          <a:bodyPr>
            <a:noAutofit/>
          </a:bodyPr>
          <a:lstStyle/>
          <a:p>
            <a:r>
              <a:rPr lang="zh-CN" altLang="zh-CN" sz="4000" dirty="0">
                <a:effectLst/>
              </a:rPr>
              <a:t>矩阵输入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0" y="1015737"/>
            <a:ext cx="9417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2.3</a:t>
            </a:r>
            <a:r>
              <a:rPr lang="zh-CN" altLang="zh-CN" sz="2400" dirty="0"/>
              <a:t>】</a:t>
            </a:r>
            <a:r>
              <a:rPr lang="en-US" altLang="zh-CN" sz="2400" b="1" dirty="0"/>
              <a:t>  </a:t>
            </a:r>
            <a:r>
              <a:rPr lang="zh-CN" altLang="zh-CN" sz="2400" dirty="0"/>
              <a:t>使用“</a:t>
            </a:r>
            <a:r>
              <a:rPr lang="en-US" altLang="zh-CN" sz="2400" dirty="0" err="1"/>
              <a:t>from:step:to</a:t>
            </a:r>
            <a:r>
              <a:rPr lang="zh-CN" altLang="zh-CN" sz="2400" dirty="0"/>
              <a:t>”方式生成以下矩阵。</a:t>
            </a:r>
            <a:endParaRPr lang="zh-CN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107504" y="1489334"/>
            <a:ext cx="8640960" cy="5355312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&gt;&gt; x1=2:5</a:t>
            </a:r>
            <a:endParaRPr lang="zh-CN" altLang="zh-CN" dirty="0"/>
          </a:p>
          <a:p>
            <a:r>
              <a:rPr lang="en-US" altLang="zh-CN" dirty="0"/>
              <a:t>x1 =</a:t>
            </a:r>
            <a:endParaRPr lang="zh-CN" altLang="zh-CN" dirty="0"/>
          </a:p>
          <a:p>
            <a:r>
              <a:rPr lang="en-US" altLang="zh-CN" dirty="0"/>
              <a:t>     2     3     4     5</a:t>
            </a:r>
            <a:endParaRPr lang="zh-CN" altLang="zh-CN" dirty="0"/>
          </a:p>
          <a:p>
            <a:r>
              <a:rPr lang="en-US" altLang="zh-CN" dirty="0"/>
              <a:t>&gt;&gt; x2=2:0.5:4</a:t>
            </a:r>
            <a:endParaRPr lang="zh-CN" altLang="zh-CN" dirty="0"/>
          </a:p>
          <a:p>
            <a:r>
              <a:rPr lang="en-US" altLang="zh-CN" dirty="0"/>
              <a:t>x2 =</a:t>
            </a:r>
            <a:endParaRPr lang="zh-CN" altLang="zh-CN" dirty="0"/>
          </a:p>
          <a:p>
            <a:r>
              <a:rPr lang="en-US" altLang="zh-CN" dirty="0"/>
              <a:t>    2.0000    2.5000    3.0000    3.5000    4.0000</a:t>
            </a:r>
            <a:endParaRPr lang="zh-CN" altLang="zh-CN" dirty="0"/>
          </a:p>
          <a:p>
            <a:r>
              <a:rPr lang="en-US" altLang="zh-CN" dirty="0"/>
              <a:t>&gt;&gt; x3=5: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 1:2</a:t>
            </a:r>
            <a:endParaRPr lang="zh-CN" altLang="zh-CN" dirty="0"/>
          </a:p>
          <a:p>
            <a:r>
              <a:rPr lang="en-US" altLang="zh-CN" dirty="0"/>
              <a:t>x3 =</a:t>
            </a:r>
            <a:endParaRPr lang="zh-CN" altLang="zh-CN" dirty="0"/>
          </a:p>
          <a:p>
            <a:r>
              <a:rPr lang="en-US" altLang="zh-CN" dirty="0"/>
              <a:t>     5     4     3     2</a:t>
            </a:r>
            <a:endParaRPr lang="zh-CN" altLang="zh-CN" dirty="0"/>
          </a:p>
          <a:p>
            <a:r>
              <a:rPr lang="en-US" altLang="zh-CN" dirty="0"/>
              <a:t>&gt;&gt; x4=2: 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1:3					%</a:t>
            </a:r>
            <a:r>
              <a:rPr lang="zh-CN" altLang="zh-CN" dirty="0"/>
              <a:t>空矩阵</a:t>
            </a:r>
            <a:endParaRPr lang="zh-CN" altLang="zh-CN" dirty="0"/>
          </a:p>
          <a:p>
            <a:r>
              <a:rPr lang="en-US" altLang="zh-CN" dirty="0"/>
              <a:t>x4 =</a:t>
            </a:r>
            <a:endParaRPr lang="zh-CN" altLang="zh-CN" dirty="0"/>
          </a:p>
          <a:p>
            <a:r>
              <a:rPr lang="en-US" altLang="zh-CN" dirty="0"/>
              <a:t>   Empty matrix: 1-by-0</a:t>
            </a:r>
            <a:endParaRPr lang="zh-CN" altLang="zh-CN" dirty="0"/>
          </a:p>
          <a:p>
            <a:r>
              <a:rPr lang="en-US" altLang="zh-CN" dirty="0"/>
              <a:t>&gt;&gt;</a:t>
            </a:r>
            <a:r>
              <a:rPr lang="en-US" altLang="zh-CN" i="1" dirty="0"/>
              <a:t> </a:t>
            </a:r>
            <a:r>
              <a:rPr lang="en-US" altLang="zh-CN" dirty="0"/>
              <a:t>x5=2: 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1:0.5</a:t>
            </a:r>
            <a:endParaRPr lang="zh-CN" altLang="zh-CN" dirty="0"/>
          </a:p>
          <a:p>
            <a:r>
              <a:rPr lang="en-US" altLang="zh-CN" dirty="0"/>
              <a:t>x5 =</a:t>
            </a:r>
            <a:endParaRPr lang="zh-CN" altLang="zh-CN" dirty="0"/>
          </a:p>
          <a:p>
            <a:r>
              <a:rPr lang="en-US" altLang="zh-CN" dirty="0"/>
              <a:t>     2     1</a:t>
            </a:r>
            <a:endParaRPr lang="zh-CN" altLang="zh-CN" dirty="0"/>
          </a:p>
          <a:p>
            <a:r>
              <a:rPr lang="en-US" altLang="zh-CN" dirty="0"/>
              <a:t>&gt;&gt; x6=[1:2:5;1:3:7]					%</a:t>
            </a:r>
            <a:r>
              <a:rPr lang="zh-CN" altLang="zh-CN" dirty="0"/>
              <a:t>两行向量构成矩阵</a:t>
            </a:r>
            <a:endParaRPr lang="zh-CN" altLang="zh-CN" dirty="0"/>
          </a:p>
          <a:p>
            <a:r>
              <a:rPr lang="en-US" altLang="zh-CN" dirty="0"/>
              <a:t>x6 =</a:t>
            </a:r>
            <a:endParaRPr lang="zh-CN" altLang="zh-CN" dirty="0"/>
          </a:p>
          <a:p>
            <a:r>
              <a:rPr lang="en-US" altLang="zh-CN" dirty="0"/>
              <a:t>     1     3     5</a:t>
            </a:r>
            <a:endParaRPr lang="zh-CN" altLang="zh-CN" dirty="0"/>
          </a:p>
          <a:p>
            <a:r>
              <a:rPr lang="en-US" altLang="zh-CN" dirty="0"/>
              <a:t>     1     4     7</a:t>
            </a:r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8656" y="502046"/>
            <a:ext cx="7329488" cy="662779"/>
          </a:xfrm>
        </p:spPr>
        <p:txBody>
          <a:bodyPr>
            <a:noAutofit/>
          </a:bodyPr>
          <a:lstStyle/>
          <a:p>
            <a:r>
              <a:rPr lang="zh-CN" altLang="zh-CN" sz="4000" dirty="0">
                <a:effectLst/>
              </a:rPr>
              <a:t>矩阵输入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323528" y="1164825"/>
            <a:ext cx="1064806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8080"/>
                </a:solidFill>
              </a:rPr>
              <a:t>3</a:t>
            </a:r>
            <a:r>
              <a:rPr lang="zh-CN" altLang="zh-CN" sz="2000" b="1" dirty="0">
                <a:solidFill>
                  <a:srgbClr val="008080"/>
                </a:solidFill>
              </a:rPr>
              <a:t>．由函数产生特殊矩阵</a:t>
            </a:r>
            <a:endParaRPr lang="zh-CN" altLang="zh-CN" sz="2000" b="1" dirty="0">
              <a:solidFill>
                <a:srgbClr val="008080"/>
              </a:solidFill>
            </a:endParaRPr>
          </a:p>
          <a:p>
            <a:r>
              <a:rPr lang="en-US" altLang="zh-CN" dirty="0"/>
              <a:t>MATLAB</a:t>
            </a:r>
            <a:r>
              <a:rPr lang="zh-CN" altLang="zh-CN" dirty="0"/>
              <a:t>提供了很多能够产生特殊矩阵的函数，各函数的功能如表</a:t>
            </a:r>
            <a:r>
              <a:rPr lang="en-US" altLang="zh-CN" dirty="0"/>
              <a:t>2.4</a:t>
            </a:r>
            <a:r>
              <a:rPr lang="zh-CN" altLang="zh-CN" dirty="0"/>
              <a:t>所示。</a:t>
            </a:r>
            <a:endParaRPr lang="zh-CN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9612" y="2276872"/>
          <a:ext cx="8691073" cy="4079085"/>
        </p:xfrm>
        <a:graphic>
          <a:graphicData uri="http://schemas.openxmlformats.org/drawingml/2006/table">
            <a:tbl>
              <a:tblPr/>
              <a:tblGrid>
                <a:gridCol w="1325963"/>
                <a:gridCol w="2736884"/>
                <a:gridCol w="1590196"/>
                <a:gridCol w="3038030"/>
              </a:tblGrid>
              <a:tr h="178645">
                <a:tc rowSpan="2">
                  <a:txBody>
                    <a:bodyPr/>
                    <a:lstStyle/>
                    <a:p>
                      <a:pPr indent="266700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函</a:t>
                      </a:r>
                      <a:r>
                        <a:rPr lang="en-US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</a:t>
                      </a: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数</a:t>
                      </a:r>
                      <a:r>
                        <a:rPr lang="en-US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</a:t>
                      </a: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名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266700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功</a:t>
                      </a:r>
                      <a:r>
                        <a:rPr lang="en-US" sz="1400" kern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lang="zh-CN" sz="1400" kern="10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能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266700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例</a:t>
                      </a:r>
                      <a:r>
                        <a:rPr lang="en-US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子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</a:tr>
              <a:tr h="20508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输</a:t>
                      </a:r>
                      <a:r>
                        <a:rPr lang="en-US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入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结</a:t>
                      </a:r>
                      <a:r>
                        <a:rPr lang="en-US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lang="zh-CN" sz="1400" kern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果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zeros(m,n)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lang="en-US" sz="1400" i="1" kern="105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en-US" sz="1400" kern="105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sz="1400" i="1" kern="105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400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的全</a:t>
                      </a:r>
                      <a:r>
                        <a:rPr lang="en-US" sz="1400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400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zeros(2,3)    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0     0     0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0     0     0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ones(m,n)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的全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ones(2,3)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rand(m,n)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产生均匀分布的随机矩阵，元素取值范围为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rand(2,3)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0.9501    0.6068    0.8913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0.2311    0.4860    0.7621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883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randn(m,n)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产生正态分布的随机矩阵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randn(2,3)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0.4326    0.1253   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1.1465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1.6656    0.2877    1.1909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801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magic(N)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阶魔方矩阵（矩阵的行、列和对角线上元素的和相等）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magic(3)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8     1     6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3     5     7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4     9     2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801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eye(m,n)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的单位矩阵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eye(3)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1     0     0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0     1     0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0     0     1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false(m,n)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的逻辑矩阵，全为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9525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sz="1400" i="1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的逻辑矩阵，全为</a:t>
                      </a: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true(2,3)</a:t>
                      </a:r>
                      <a:endParaRPr lang="zh-CN" sz="1400" kern="105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indent="26670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kern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</a:t>
                      </a:r>
                      <a:endParaRPr lang="zh-CN" sz="1400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8656" y="502046"/>
            <a:ext cx="7329488" cy="662779"/>
          </a:xfrm>
        </p:spPr>
        <p:txBody>
          <a:bodyPr>
            <a:noAutofit/>
          </a:bodyPr>
          <a:lstStyle/>
          <a:p>
            <a:r>
              <a:rPr lang="zh-CN" altLang="zh-CN" sz="4000" dirty="0">
                <a:effectLst/>
              </a:rPr>
              <a:t>矩阵输入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179512" y="1164825"/>
            <a:ext cx="4717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2.4</a:t>
            </a:r>
            <a:r>
              <a:rPr lang="zh-CN" altLang="zh-CN" sz="2400" dirty="0"/>
              <a:t>】</a:t>
            </a:r>
            <a:r>
              <a:rPr lang="en-US" altLang="zh-CN" sz="2400" b="1" dirty="0"/>
              <a:t>  </a:t>
            </a:r>
            <a:r>
              <a:rPr lang="zh-CN" altLang="zh-CN" sz="2400" dirty="0"/>
              <a:t>使用函数创建矩阵。</a:t>
            </a:r>
            <a:endParaRPr lang="zh-CN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179512" y="1710120"/>
            <a:ext cx="8568952" cy="4184650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&gt;&gt; X1=eye(2,3)					%2</a:t>
            </a:r>
            <a:r>
              <a:rPr lang="zh-CN" altLang="zh-CN" sz="1400" dirty="0"/>
              <a:t>行</a:t>
            </a:r>
            <a:r>
              <a:rPr lang="en-US" altLang="zh-CN" sz="1400" dirty="0"/>
              <a:t>3</a:t>
            </a:r>
            <a:r>
              <a:rPr lang="zh-CN" altLang="zh-CN" sz="1400" dirty="0"/>
              <a:t>列的单位矩阵</a:t>
            </a:r>
            <a:endParaRPr lang="zh-CN" altLang="zh-CN" sz="1400" dirty="0"/>
          </a:p>
          <a:p>
            <a:r>
              <a:rPr lang="en-US" altLang="zh-CN" sz="1400" dirty="0"/>
              <a:t>X1 =</a:t>
            </a:r>
            <a:endParaRPr lang="zh-CN" altLang="zh-CN" sz="1400" dirty="0"/>
          </a:p>
          <a:p>
            <a:r>
              <a:rPr lang="en-US" altLang="zh-CN" sz="1400" dirty="0"/>
              <a:t>     1     0     0</a:t>
            </a:r>
            <a:endParaRPr lang="zh-CN" altLang="zh-CN" sz="1400" dirty="0"/>
          </a:p>
          <a:p>
            <a:r>
              <a:rPr lang="en-US" altLang="zh-CN" sz="1400" dirty="0"/>
              <a:t>     0     1     0</a:t>
            </a:r>
            <a:endParaRPr lang="zh-CN" altLang="zh-CN" sz="1400" dirty="0"/>
          </a:p>
          <a:p>
            <a:r>
              <a:rPr lang="en-US" altLang="zh-CN" sz="1400" dirty="0"/>
              <a:t>&gt;&gt; X2=eye(3)					%3</a:t>
            </a:r>
            <a:r>
              <a:rPr lang="zh-CN" altLang="zh-CN" sz="1400" dirty="0"/>
              <a:t>行</a:t>
            </a:r>
            <a:r>
              <a:rPr lang="en-US" altLang="zh-CN" sz="1400" dirty="0"/>
              <a:t>3</a:t>
            </a:r>
            <a:r>
              <a:rPr lang="zh-CN" altLang="zh-CN" sz="1400" dirty="0"/>
              <a:t>列的单位矩阵</a:t>
            </a:r>
            <a:endParaRPr lang="zh-CN" altLang="zh-CN" sz="1400" dirty="0"/>
          </a:p>
          <a:p>
            <a:r>
              <a:rPr lang="en-US" altLang="zh-CN" sz="1400" dirty="0"/>
              <a:t>X2 =</a:t>
            </a:r>
            <a:endParaRPr lang="zh-CN" altLang="zh-CN" sz="1400" dirty="0"/>
          </a:p>
          <a:p>
            <a:r>
              <a:rPr lang="en-US" altLang="zh-CN" sz="1400" dirty="0"/>
              <a:t>     1     0     0</a:t>
            </a:r>
            <a:endParaRPr lang="zh-CN" altLang="zh-CN" sz="1400" dirty="0"/>
          </a:p>
          <a:p>
            <a:r>
              <a:rPr lang="en-US" altLang="zh-CN" sz="1400" dirty="0"/>
              <a:t>     0     1     0</a:t>
            </a:r>
            <a:endParaRPr lang="zh-CN" altLang="zh-CN" sz="1400" dirty="0"/>
          </a:p>
          <a:p>
            <a:r>
              <a:rPr lang="en-US" altLang="zh-CN" sz="1400" dirty="0"/>
              <a:t>     0     0     1</a:t>
            </a:r>
            <a:endParaRPr lang="zh-CN" altLang="zh-CN" sz="1400" dirty="0"/>
          </a:p>
          <a:p>
            <a:r>
              <a:rPr lang="en-US" altLang="zh-CN" sz="1400" dirty="0"/>
              <a:t>&gt;&gt; t=true(3)					                       %3</a:t>
            </a:r>
            <a:r>
              <a:rPr lang="zh-CN" altLang="zh-CN" sz="1400" dirty="0"/>
              <a:t>行</a:t>
            </a:r>
            <a:r>
              <a:rPr lang="en-US" altLang="zh-CN" sz="1400" dirty="0"/>
              <a:t>3</a:t>
            </a:r>
            <a:r>
              <a:rPr lang="zh-CN" altLang="zh-CN" sz="1400" dirty="0"/>
              <a:t>列的全</a:t>
            </a:r>
            <a:r>
              <a:rPr lang="en-US" altLang="zh-CN" sz="1400" dirty="0"/>
              <a:t>true</a:t>
            </a:r>
            <a:r>
              <a:rPr lang="zh-CN" altLang="zh-CN" sz="1400" dirty="0"/>
              <a:t>矩阵</a:t>
            </a:r>
            <a:endParaRPr lang="zh-CN" altLang="zh-CN" sz="1400" dirty="0"/>
          </a:p>
          <a:p>
            <a:r>
              <a:rPr lang="en-US" altLang="zh-CN" sz="1400" dirty="0"/>
              <a:t>t =</a:t>
            </a:r>
            <a:endParaRPr lang="zh-CN" altLang="zh-CN" sz="1400" dirty="0"/>
          </a:p>
          <a:p>
            <a:r>
              <a:rPr lang="en-US" altLang="zh-CN" sz="1400" dirty="0"/>
              <a:t>     1     1     1</a:t>
            </a:r>
            <a:endParaRPr lang="zh-CN" altLang="zh-CN" sz="1400" dirty="0"/>
          </a:p>
          <a:p>
            <a:r>
              <a:rPr lang="en-US" altLang="zh-CN" sz="1400" dirty="0"/>
              <a:t>     1     1     1</a:t>
            </a:r>
            <a:endParaRPr lang="zh-CN" altLang="zh-CN" sz="1400" dirty="0"/>
          </a:p>
          <a:p>
            <a:r>
              <a:rPr lang="en-US" altLang="zh-CN" sz="1400" dirty="0"/>
              <a:t>     1     1     1</a:t>
            </a:r>
            <a:endParaRPr lang="zh-CN" altLang="zh-CN" sz="1400" dirty="0"/>
          </a:p>
          <a:p>
            <a:r>
              <a:rPr lang="en-US" altLang="zh-CN" sz="1400" dirty="0"/>
              <a:t>&gt;&gt; t(1:2,3)=false(2,1)					%1,2</a:t>
            </a:r>
            <a:r>
              <a:rPr lang="zh-CN" altLang="zh-CN" sz="1400" dirty="0"/>
              <a:t>行的第</a:t>
            </a:r>
            <a:r>
              <a:rPr lang="en-US" altLang="zh-CN" sz="1400" dirty="0"/>
              <a:t>3</a:t>
            </a:r>
            <a:r>
              <a:rPr lang="zh-CN" altLang="zh-CN" sz="1400" dirty="0"/>
              <a:t>列改为</a:t>
            </a:r>
            <a:r>
              <a:rPr lang="en-US" altLang="zh-CN" sz="1400" dirty="0"/>
              <a:t>false</a:t>
            </a:r>
            <a:endParaRPr lang="zh-CN" altLang="zh-CN" sz="1400" dirty="0"/>
          </a:p>
          <a:p>
            <a:r>
              <a:rPr lang="en-US" altLang="zh-CN" sz="1400" dirty="0"/>
              <a:t>t =</a:t>
            </a:r>
            <a:endParaRPr lang="zh-CN" altLang="zh-CN" sz="1400" dirty="0"/>
          </a:p>
          <a:p>
            <a:r>
              <a:rPr lang="en-US" altLang="zh-CN" sz="1400" dirty="0"/>
              <a:t>     1     1     0</a:t>
            </a:r>
            <a:endParaRPr lang="zh-CN" altLang="zh-CN" sz="1400" dirty="0"/>
          </a:p>
          <a:p>
            <a:r>
              <a:rPr lang="en-US" altLang="zh-CN" sz="1400" dirty="0"/>
              <a:t>     1     1     0</a:t>
            </a:r>
            <a:endParaRPr lang="zh-CN" altLang="zh-CN" sz="1400" dirty="0"/>
          </a:p>
          <a:p>
            <a:r>
              <a:rPr lang="en-US" altLang="zh-CN" sz="1400" dirty="0"/>
              <a:t>     1     1     1</a:t>
            </a:r>
            <a:endParaRPr lang="zh-CN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179512" y="6072654"/>
            <a:ext cx="886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程序说明：</a:t>
            </a:r>
            <a:r>
              <a:rPr lang="zh-CN" altLang="zh-CN" dirty="0"/>
              <a:t>当</a:t>
            </a:r>
            <a:r>
              <a:rPr lang="en-US" altLang="zh-CN" dirty="0"/>
              <a:t>eye(</a:t>
            </a:r>
            <a:r>
              <a:rPr lang="en-US" altLang="zh-CN" dirty="0" err="1"/>
              <a:t>m,n</a:t>
            </a:r>
            <a:r>
              <a:rPr lang="en-US" altLang="zh-CN" dirty="0"/>
              <a:t>)</a:t>
            </a:r>
            <a:r>
              <a:rPr lang="zh-CN" altLang="zh-CN" dirty="0"/>
              <a:t>函数的</a:t>
            </a:r>
            <a:r>
              <a:rPr lang="en-US" altLang="zh-CN" i="1" dirty="0"/>
              <a:t>m</a:t>
            </a:r>
            <a:r>
              <a:rPr lang="zh-CN" altLang="zh-CN" dirty="0"/>
              <a:t>和</a:t>
            </a:r>
            <a:r>
              <a:rPr lang="en-US" altLang="zh-CN" i="1" dirty="0"/>
              <a:t>n</a:t>
            </a:r>
            <a:r>
              <a:rPr lang="zh-CN" altLang="zh-CN" dirty="0"/>
              <a:t>参数不相等时，则单位矩阵会出现全</a:t>
            </a:r>
            <a:r>
              <a:rPr lang="en-US" altLang="zh-CN" dirty="0"/>
              <a:t>0</a:t>
            </a:r>
            <a:r>
              <a:rPr lang="zh-CN" altLang="zh-CN" dirty="0"/>
              <a:t>行或列。</a:t>
            </a:r>
            <a:r>
              <a:rPr lang="en-US" altLang="zh-CN" dirty="0"/>
              <a:t>false(2,1)</a:t>
            </a:r>
            <a:r>
              <a:rPr lang="zh-CN" altLang="zh-CN" dirty="0"/>
              <a:t>是</a:t>
            </a:r>
            <a:r>
              <a:rPr lang="en-US" altLang="zh-CN" dirty="0"/>
              <a:t>2</a:t>
            </a:r>
            <a:r>
              <a:rPr lang="zh-CN" altLang="zh-CN" dirty="0"/>
              <a:t>行</a:t>
            </a:r>
            <a:r>
              <a:rPr lang="en-US" altLang="zh-CN" dirty="0"/>
              <a:t>1</a:t>
            </a:r>
            <a:r>
              <a:rPr lang="zh-CN" altLang="zh-CN" dirty="0"/>
              <a:t>列的矩阵。</a:t>
            </a:r>
            <a:endParaRPr lang="zh-CN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8656" y="502046"/>
            <a:ext cx="7329488" cy="662779"/>
          </a:xfrm>
        </p:spPr>
        <p:txBody>
          <a:bodyPr>
            <a:noAutofit/>
          </a:bodyPr>
          <a:lstStyle/>
          <a:p>
            <a:r>
              <a:rPr lang="zh-CN" altLang="zh-CN" sz="4000" dirty="0">
                <a:effectLst/>
              </a:rPr>
              <a:t>字</a:t>
            </a:r>
            <a:r>
              <a:rPr lang="en-US" altLang="zh-CN" sz="4000" dirty="0">
                <a:effectLst/>
              </a:rPr>
              <a:t> </a:t>
            </a:r>
            <a:r>
              <a:rPr lang="zh-CN" altLang="zh-CN" sz="4000" dirty="0">
                <a:effectLst/>
              </a:rPr>
              <a:t>符</a:t>
            </a:r>
            <a:r>
              <a:rPr lang="en-US" altLang="zh-CN" sz="4000" dirty="0">
                <a:effectLst/>
              </a:rPr>
              <a:t> </a:t>
            </a:r>
            <a:r>
              <a:rPr lang="zh-CN" altLang="zh-CN" sz="4000" dirty="0">
                <a:effectLst/>
              </a:rPr>
              <a:t>串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28244" y="1268760"/>
            <a:ext cx="568295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</a:rPr>
              <a:t>2</a:t>
            </a:r>
            <a:r>
              <a:rPr lang="zh-CN" altLang="zh-CN" sz="2000" b="1" dirty="0">
                <a:solidFill>
                  <a:srgbClr val="FF0000"/>
                </a:solidFill>
              </a:rPr>
              <a:t>．字符串函数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r>
              <a:rPr lang="zh-CN" altLang="zh-CN" dirty="0"/>
              <a:t>字符串可以用以下函数进行运算。</a:t>
            </a:r>
            <a:endParaRPr lang="zh-CN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56019" y="2119378"/>
            <a:ext cx="363196" cy="264920"/>
            <a:chOff x="2649196" y="3743058"/>
            <a:chExt cx="363196" cy="264920"/>
          </a:xfrm>
        </p:grpSpPr>
        <p:sp>
          <p:nvSpPr>
            <p:cNvPr id="5" name="椭圆 4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箭头: 右 5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37617" y="2014966"/>
            <a:ext cx="771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length</a:t>
            </a:r>
            <a:r>
              <a:rPr lang="zh-CN" altLang="zh-CN" dirty="0"/>
              <a:t>：用来计算字符串的长度（即组成字符的个数）。</a:t>
            </a:r>
            <a:endParaRPr lang="zh-CN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56019" y="2656087"/>
            <a:ext cx="363196" cy="264920"/>
            <a:chOff x="2649196" y="3743058"/>
            <a:chExt cx="363196" cy="264920"/>
          </a:xfrm>
        </p:grpSpPr>
        <p:sp>
          <p:nvSpPr>
            <p:cNvPr id="9" name="椭圆 8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6019" y="3192796"/>
            <a:ext cx="363196" cy="264920"/>
            <a:chOff x="2649196" y="3743058"/>
            <a:chExt cx="363196" cy="264920"/>
          </a:xfrm>
        </p:grpSpPr>
        <p:sp>
          <p:nvSpPr>
            <p:cNvPr id="12" name="椭圆 11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 12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6019" y="3729505"/>
            <a:ext cx="363196" cy="264920"/>
            <a:chOff x="2649196" y="3743058"/>
            <a:chExt cx="363196" cy="264920"/>
          </a:xfrm>
        </p:grpSpPr>
        <p:sp>
          <p:nvSpPr>
            <p:cNvPr id="15" name="椭圆 14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箭头: 右 15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019" y="4266214"/>
            <a:ext cx="363196" cy="264920"/>
            <a:chOff x="2649196" y="3743058"/>
            <a:chExt cx="363196" cy="264920"/>
          </a:xfrm>
        </p:grpSpPr>
        <p:sp>
          <p:nvSpPr>
            <p:cNvPr id="18" name="椭圆 17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右 18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019" y="4802923"/>
            <a:ext cx="363196" cy="264920"/>
            <a:chOff x="2649196" y="3743058"/>
            <a:chExt cx="363196" cy="264920"/>
          </a:xfrm>
        </p:grpSpPr>
        <p:sp>
          <p:nvSpPr>
            <p:cNvPr id="21" name="椭圆 20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箭头: 右 21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6019" y="5339632"/>
            <a:ext cx="363196" cy="264920"/>
            <a:chOff x="2649196" y="3743058"/>
            <a:chExt cx="363196" cy="264920"/>
          </a:xfrm>
        </p:grpSpPr>
        <p:sp>
          <p:nvSpPr>
            <p:cNvPr id="24" name="椭圆 23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箭头: 右 24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6019" y="5876341"/>
            <a:ext cx="363196" cy="264920"/>
            <a:chOff x="2649196" y="3743058"/>
            <a:chExt cx="363196" cy="264920"/>
          </a:xfrm>
        </p:grpSpPr>
        <p:sp>
          <p:nvSpPr>
            <p:cNvPr id="27" name="椭圆 26"/>
            <p:cNvSpPr/>
            <p:nvPr/>
          </p:nvSpPr>
          <p:spPr>
            <a:xfrm>
              <a:off x="2649196" y="3743058"/>
              <a:ext cx="264920" cy="264920"/>
            </a:xfrm>
            <a:prstGeom prst="ellipse">
              <a:avLst/>
            </a:prstGeom>
            <a:gradFill flip="none" rotWithShape="1">
              <a:gsLst>
                <a:gs pos="0">
                  <a:srgbClr val="009999">
                    <a:shade val="30000"/>
                    <a:satMod val="115000"/>
                  </a:srgbClr>
                </a:gs>
                <a:gs pos="50000">
                  <a:srgbClr val="009999">
                    <a:shade val="67500"/>
                    <a:satMod val="115000"/>
                  </a:srgbClr>
                </a:gs>
                <a:gs pos="100000">
                  <a:srgbClr val="009999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箭头: 右 27"/>
            <p:cNvSpPr/>
            <p:nvPr/>
          </p:nvSpPr>
          <p:spPr>
            <a:xfrm>
              <a:off x="2815839" y="3743058"/>
              <a:ext cx="196553" cy="147415"/>
            </a:xfrm>
            <a:prstGeom prst="rightArrow">
              <a:avLst/>
            </a:prstGeom>
            <a:solidFill>
              <a:srgbClr val="183C5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237490" y="2519045"/>
            <a:ext cx="8907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double</a:t>
            </a:r>
            <a:r>
              <a:rPr lang="zh-CN" altLang="zh-CN" dirty="0"/>
              <a:t>：用来将字符型转换成以</a:t>
            </a:r>
            <a:r>
              <a:rPr lang="en-US" altLang="zh-CN" dirty="0"/>
              <a:t>ASCII</a:t>
            </a:r>
            <a:r>
              <a:rPr lang="zh-CN" altLang="zh-CN" dirty="0"/>
              <a:t>码为数值的</a:t>
            </a:r>
            <a:r>
              <a:rPr lang="en-US" altLang="zh-CN" dirty="0"/>
              <a:t>double</a:t>
            </a:r>
            <a:r>
              <a:rPr lang="zh-CN" altLang="zh-CN" dirty="0"/>
              <a:t>型</a:t>
            </a:r>
            <a:r>
              <a:rPr lang="zh-CN" altLang="en-US" dirty="0"/>
              <a:t>，</a:t>
            </a:r>
            <a:r>
              <a:rPr lang="zh-CN" altLang="zh-CN" dirty="0"/>
              <a:t>包括空格</a:t>
            </a:r>
            <a:r>
              <a:rPr lang="en-US" altLang="zh-CN" dirty="0"/>
              <a:t>(ASCII</a:t>
            </a:r>
            <a:r>
              <a:rPr lang="zh-CN" altLang="zh-CN" dirty="0"/>
              <a:t>码为</a:t>
            </a:r>
            <a:r>
              <a:rPr lang="en-US" altLang="zh-CN" dirty="0"/>
              <a:t>32)</a:t>
            </a:r>
            <a:endParaRPr lang="zh-CN" altLang="zh-CN" dirty="0"/>
          </a:p>
        </p:txBody>
      </p:sp>
      <p:sp>
        <p:nvSpPr>
          <p:cNvPr id="30" name="文本框 29"/>
          <p:cNvSpPr txBox="1"/>
          <p:nvPr/>
        </p:nvSpPr>
        <p:spPr>
          <a:xfrm>
            <a:off x="237617" y="3056247"/>
            <a:ext cx="938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en-US" altLang="zh-CN" dirty="0"/>
              <a:t>char</a:t>
            </a:r>
            <a:r>
              <a:rPr lang="zh-CN" altLang="zh-CN" dirty="0"/>
              <a:t>：用来将数值型按照</a:t>
            </a:r>
            <a:r>
              <a:rPr lang="en-US" altLang="zh-CN" dirty="0"/>
              <a:t>ASCII</a:t>
            </a:r>
            <a:r>
              <a:rPr lang="zh-CN" altLang="zh-CN" dirty="0"/>
              <a:t>码转换成字符型，省略小数点后的数据。</a:t>
            </a:r>
            <a:endParaRPr lang="zh-CN" altLang="zh-CN" dirty="0"/>
          </a:p>
        </p:txBody>
      </p:sp>
      <p:sp>
        <p:nvSpPr>
          <p:cNvPr id="31" name="文本框 30"/>
          <p:cNvSpPr txBox="1"/>
          <p:nvPr/>
        </p:nvSpPr>
        <p:spPr>
          <a:xfrm>
            <a:off x="237617" y="3592473"/>
            <a:ext cx="10437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</a:t>
            </a:r>
            <a:r>
              <a:rPr lang="en-US" altLang="zh-CN" dirty="0"/>
              <a:t>class</a:t>
            </a:r>
            <a:r>
              <a:rPr lang="zh-CN" altLang="zh-CN" dirty="0"/>
              <a:t>或</a:t>
            </a:r>
            <a:r>
              <a:rPr lang="en-US" altLang="zh-CN" dirty="0" err="1"/>
              <a:t>ischar</a:t>
            </a:r>
            <a:r>
              <a:rPr lang="zh-CN" altLang="zh-CN" dirty="0"/>
              <a:t>：用来判断某一个变量的类型。</a:t>
            </a:r>
            <a:r>
              <a:rPr lang="en-US" altLang="zh-CN" dirty="0"/>
              <a:t>class</a:t>
            </a:r>
            <a:r>
              <a:rPr lang="zh-CN" altLang="zh-CN" dirty="0"/>
              <a:t>函数返回</a:t>
            </a:r>
            <a:r>
              <a:rPr lang="en-US" altLang="zh-CN" dirty="0"/>
              <a:t>char</a:t>
            </a:r>
            <a:r>
              <a:rPr lang="zh-CN" altLang="zh-CN" dirty="0"/>
              <a:t>则表示为字符串，</a:t>
            </a:r>
            <a:endParaRPr lang="en-US" altLang="zh-CN" dirty="0"/>
          </a:p>
          <a:p>
            <a:r>
              <a:rPr lang="zh-CN" altLang="zh-CN" dirty="0"/>
              <a:t>而</a:t>
            </a:r>
            <a:r>
              <a:rPr lang="en-US" altLang="zh-CN" dirty="0" err="1"/>
              <a:t>ischar</a:t>
            </a:r>
            <a:r>
              <a:rPr lang="zh-CN" altLang="zh-CN" dirty="0"/>
              <a:t>函数返回</a:t>
            </a:r>
            <a:r>
              <a:rPr lang="en-US" altLang="zh-CN" dirty="0"/>
              <a:t>1</a:t>
            </a:r>
            <a:r>
              <a:rPr lang="zh-CN" altLang="zh-CN" dirty="0"/>
              <a:t>表示为字符串。</a:t>
            </a:r>
            <a:endParaRPr lang="zh-CN" altLang="zh-CN" dirty="0"/>
          </a:p>
        </p:txBody>
      </p:sp>
      <p:sp>
        <p:nvSpPr>
          <p:cNvPr id="32" name="文本框 31"/>
          <p:cNvSpPr txBox="1"/>
          <p:nvPr/>
        </p:nvSpPr>
        <p:spPr>
          <a:xfrm>
            <a:off x="237617" y="4145789"/>
            <a:ext cx="1043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</a:t>
            </a:r>
            <a:r>
              <a:rPr lang="en-US" altLang="zh-CN" dirty="0" err="1"/>
              <a:t>strcmp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zh-CN" dirty="0"/>
              <a:t>：比较字符串</a:t>
            </a:r>
            <a:r>
              <a:rPr lang="en-US" altLang="zh-CN" dirty="0"/>
              <a:t>x</a:t>
            </a:r>
            <a:r>
              <a:rPr lang="zh-CN" altLang="zh-CN" dirty="0"/>
              <a:t>和</a:t>
            </a:r>
            <a:r>
              <a:rPr lang="en-US" altLang="zh-CN" dirty="0"/>
              <a:t>y</a:t>
            </a:r>
            <a:r>
              <a:rPr lang="zh-CN" altLang="zh-CN" dirty="0"/>
              <a:t>的内容是否相同。返回值如果为</a:t>
            </a:r>
            <a:r>
              <a:rPr lang="en-US" altLang="zh-CN" dirty="0"/>
              <a:t>1</a:t>
            </a:r>
            <a:r>
              <a:rPr lang="zh-CN" altLang="zh-CN" dirty="0"/>
              <a:t>则相同，为</a:t>
            </a:r>
            <a:r>
              <a:rPr lang="en-US" altLang="zh-CN" dirty="0"/>
              <a:t>0</a:t>
            </a:r>
            <a:r>
              <a:rPr lang="zh-CN" altLang="zh-CN" dirty="0"/>
              <a:t>则不同。</a:t>
            </a:r>
            <a:endParaRPr lang="zh-CN" altLang="zh-CN" dirty="0"/>
          </a:p>
        </p:txBody>
      </p:sp>
      <p:sp>
        <p:nvSpPr>
          <p:cNvPr id="33" name="文本框 32"/>
          <p:cNvSpPr txBox="1"/>
          <p:nvPr/>
        </p:nvSpPr>
        <p:spPr>
          <a:xfrm>
            <a:off x="237617" y="4682014"/>
            <a:ext cx="1043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</a:t>
            </a:r>
            <a:r>
              <a:rPr lang="en-US" altLang="zh-CN" dirty="0" err="1"/>
              <a:t>findstr</a:t>
            </a:r>
            <a:r>
              <a:rPr lang="en-US" altLang="zh-CN" dirty="0"/>
              <a:t>(x,x1)</a:t>
            </a:r>
            <a:r>
              <a:rPr lang="zh-CN" altLang="zh-CN" dirty="0"/>
              <a:t>：寻找在某个长字符串</a:t>
            </a:r>
            <a:r>
              <a:rPr lang="en-US" altLang="zh-CN" dirty="0"/>
              <a:t>x</a:t>
            </a:r>
            <a:r>
              <a:rPr lang="zh-CN" altLang="zh-CN" dirty="0"/>
              <a:t>中的子字符串</a:t>
            </a:r>
            <a:r>
              <a:rPr lang="en-US" altLang="zh-CN" dirty="0"/>
              <a:t>x1</a:t>
            </a:r>
            <a:r>
              <a:rPr lang="zh-CN" altLang="zh-CN" dirty="0"/>
              <a:t>，返回其起始位置。</a:t>
            </a:r>
            <a:endParaRPr lang="zh-CN" altLang="zh-CN" dirty="0"/>
          </a:p>
        </p:txBody>
      </p:sp>
      <p:sp>
        <p:nvSpPr>
          <p:cNvPr id="34" name="文本框 33"/>
          <p:cNvSpPr txBox="1"/>
          <p:nvPr/>
        </p:nvSpPr>
        <p:spPr>
          <a:xfrm>
            <a:off x="237617" y="5218239"/>
            <a:ext cx="1043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（</a:t>
            </a:r>
            <a:r>
              <a:rPr lang="en-US" altLang="zh-CN"/>
              <a:t>7</a:t>
            </a:r>
            <a:r>
              <a:rPr lang="zh-CN" altLang="zh-CN"/>
              <a:t>）</a:t>
            </a:r>
            <a:r>
              <a:rPr lang="en-US" altLang="zh-CN"/>
              <a:t>deblank(x )</a:t>
            </a:r>
            <a:r>
              <a:rPr lang="zh-CN" altLang="zh-CN"/>
              <a:t>：删除字符串尾部的空格。</a:t>
            </a:r>
            <a:endParaRPr lang="zh-CN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237617" y="5771929"/>
            <a:ext cx="1043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（</a:t>
            </a:r>
            <a:r>
              <a:rPr lang="en-US" altLang="zh-CN"/>
              <a:t>8</a:t>
            </a:r>
            <a:r>
              <a:rPr lang="zh-CN" altLang="zh-CN"/>
              <a:t>）</a:t>
            </a:r>
            <a:r>
              <a:rPr lang="en-US" altLang="zh-CN"/>
              <a:t>eval(x)</a:t>
            </a:r>
            <a:r>
              <a:rPr lang="zh-CN" altLang="zh-CN"/>
              <a:t>：执行字符串，可以将字符串型转换成为数值型。</a:t>
            </a:r>
            <a:endParaRPr lang="zh-CN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9009" y="1426189"/>
            <a:ext cx="349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（</a:t>
            </a:r>
            <a:r>
              <a:rPr lang="en-US" altLang="zh-CN" b="1" dirty="0"/>
              <a:t>4</a:t>
            </a:r>
            <a:r>
              <a:rPr lang="zh-CN" altLang="zh-CN" b="1" dirty="0"/>
              <a:t>）添加文字注释</a:t>
            </a:r>
            <a:r>
              <a:rPr lang="zh-CN" altLang="zh-CN" dirty="0"/>
              <a:t>。</a:t>
            </a:r>
            <a:endParaRPr lang="zh-CN" altLang="zh-CN" dirty="0"/>
          </a:p>
          <a:p>
            <a:r>
              <a:rPr lang="zh-CN" altLang="zh-CN" dirty="0"/>
              <a:t>语法：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602490" y="2063365"/>
            <a:ext cx="7785934" cy="369332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text(</a:t>
            </a:r>
            <a:r>
              <a:rPr lang="en-US" altLang="zh-CN" dirty="0" err="1"/>
              <a:t>xt,yt,s</a:t>
            </a:r>
            <a:r>
              <a:rPr lang="en-US" altLang="zh-CN" dirty="0"/>
              <a:t>)		</a:t>
            </a:r>
            <a:r>
              <a:rPr lang="en-US" altLang="zh-CN" dirty="0" smtClean="0"/>
              <a:t>%</a:t>
            </a:r>
            <a:r>
              <a:rPr lang="zh-CN" altLang="zh-CN" dirty="0"/>
              <a:t>在图形的</a:t>
            </a:r>
            <a:r>
              <a:rPr lang="en-US" altLang="zh-CN" dirty="0"/>
              <a:t>(</a:t>
            </a:r>
            <a:r>
              <a:rPr lang="en-US" altLang="zh-CN" i="1" dirty="0" err="1"/>
              <a:t>xt</a:t>
            </a:r>
            <a:r>
              <a:rPr lang="en-US" altLang="zh-CN" dirty="0" err="1"/>
              <a:t>,</a:t>
            </a:r>
            <a:r>
              <a:rPr lang="en-US" altLang="zh-CN" i="1" dirty="0" err="1"/>
              <a:t>yt</a:t>
            </a:r>
            <a:r>
              <a:rPr lang="en-US" altLang="zh-CN" dirty="0"/>
              <a:t>)</a:t>
            </a:r>
            <a:r>
              <a:rPr lang="zh-CN" altLang="zh-CN" dirty="0"/>
              <a:t>坐标处书写文字注释</a:t>
            </a:r>
            <a:endParaRPr lang="zh-CN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37014" y="2884231"/>
            <a:ext cx="6877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【</a:t>
            </a:r>
            <a:r>
              <a:rPr lang="zh-CN" altLang="zh-CN" b="1" dirty="0"/>
              <a:t>例</a:t>
            </a:r>
            <a:r>
              <a:rPr lang="en-US" altLang="zh-CN" b="1" dirty="0" smtClean="0"/>
              <a:t>4.9</a:t>
            </a:r>
            <a:r>
              <a:rPr lang="zh-CN" altLang="zh-CN" dirty="0" smtClean="0"/>
              <a:t>】</a:t>
            </a:r>
            <a:r>
              <a:rPr lang="en-US" altLang="zh-CN" dirty="0" smtClean="0"/>
              <a:t>  </a:t>
            </a:r>
            <a:r>
              <a:rPr lang="zh-CN" altLang="zh-CN" dirty="0"/>
              <a:t>在图形窗口中添加文字注释，如图</a:t>
            </a:r>
            <a:r>
              <a:rPr lang="en-US" altLang="zh-CN" dirty="0" smtClean="0"/>
              <a:t>4.10</a:t>
            </a:r>
            <a:r>
              <a:rPr lang="zh-CN" altLang="zh-CN" dirty="0" smtClean="0"/>
              <a:t>所</a:t>
            </a:r>
            <a:r>
              <a:rPr lang="zh-CN" altLang="zh-CN" dirty="0"/>
              <a:t>示。</a:t>
            </a:r>
            <a:endParaRPr lang="zh-CN" altLang="zh-CN" dirty="0"/>
          </a:p>
        </p:txBody>
      </p:sp>
      <p:sp>
        <p:nvSpPr>
          <p:cNvPr id="8" name="文本框 6"/>
          <p:cNvSpPr txBox="1"/>
          <p:nvPr/>
        </p:nvSpPr>
        <p:spPr>
          <a:xfrm>
            <a:off x="179512" y="3286642"/>
            <a:ext cx="4968552" cy="3139321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&gt;&gt; x=0:0.1:2*pi;</a:t>
            </a:r>
            <a:endParaRPr lang="zh-CN" altLang="zh-CN" dirty="0"/>
          </a:p>
          <a:p>
            <a:r>
              <a:rPr lang="en-US" altLang="zh-CN" dirty="0"/>
              <a:t>&gt;&gt; plot(</a:t>
            </a:r>
            <a:r>
              <a:rPr lang="en-US" altLang="zh-CN" dirty="0" err="1"/>
              <a:t>x,sin</a:t>
            </a:r>
            <a:r>
              <a:rPr lang="en-US" altLang="zh-CN" dirty="0"/>
              <a:t>(x))</a:t>
            </a:r>
            <a:endParaRPr lang="zh-CN" altLang="zh-CN" dirty="0"/>
          </a:p>
          <a:p>
            <a:r>
              <a:rPr lang="en-US" altLang="zh-CN" dirty="0"/>
              <a:t>&gt;&gt; hold on</a:t>
            </a:r>
            <a:endParaRPr lang="zh-CN" altLang="zh-CN" dirty="0"/>
          </a:p>
          <a:p>
            <a:r>
              <a:rPr lang="en-US" altLang="zh-CN" dirty="0"/>
              <a:t>&gt;&gt; plot(</a:t>
            </a:r>
            <a:r>
              <a:rPr lang="en-US" altLang="zh-CN" dirty="0" err="1"/>
              <a:t>x,cos</a:t>
            </a:r>
            <a:r>
              <a:rPr lang="en-US" altLang="zh-CN" dirty="0"/>
              <a:t>(x),'</a:t>
            </a:r>
            <a:r>
              <a:rPr lang="en-US" altLang="zh-CN" dirty="0" err="1"/>
              <a:t>ro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/>
              <a:t>&gt;&gt; title('y1=sin(x),y2=cos(x)')  </a:t>
            </a:r>
            <a:r>
              <a:rPr lang="en-US" altLang="zh-CN" dirty="0" smtClean="0"/>
              <a:t>%</a:t>
            </a:r>
            <a:r>
              <a:rPr lang="zh-CN" altLang="zh-CN" dirty="0"/>
              <a:t>添加标题</a:t>
            </a:r>
            <a:endParaRPr lang="zh-CN" altLang="zh-CN" dirty="0"/>
          </a:p>
          <a:p>
            <a:r>
              <a:rPr lang="en-US" altLang="zh-CN" dirty="0"/>
              <a:t>&gt;&gt; </a:t>
            </a:r>
            <a:r>
              <a:rPr lang="en-US" altLang="zh-CN" dirty="0" err="1"/>
              <a:t>xlabel</a:t>
            </a:r>
            <a:r>
              <a:rPr lang="en-US" altLang="zh-CN" dirty="0"/>
              <a:t>('x')  		</a:t>
            </a:r>
            <a:r>
              <a:rPr lang="en-US" altLang="zh-CN" dirty="0" smtClean="0"/>
              <a:t>%</a:t>
            </a:r>
            <a:r>
              <a:rPr lang="zh-CN" altLang="zh-CN" dirty="0"/>
              <a:t>添加横坐标名</a:t>
            </a:r>
            <a:endParaRPr lang="zh-CN" altLang="zh-CN" dirty="0"/>
          </a:p>
          <a:p>
            <a:r>
              <a:rPr lang="en-US" altLang="zh-CN" dirty="0"/>
              <a:t>&gt;&gt; legend('sin(x)','</a:t>
            </a:r>
            <a:r>
              <a:rPr lang="en-US" altLang="zh-CN" dirty="0" err="1"/>
              <a:t>cos</a:t>
            </a:r>
            <a:r>
              <a:rPr lang="en-US" altLang="zh-CN" dirty="0"/>
              <a:t>(x</a:t>
            </a:r>
            <a:r>
              <a:rPr lang="en-US" altLang="zh-CN" dirty="0" smtClean="0"/>
              <a:t>)')  </a:t>
            </a:r>
            <a:r>
              <a:rPr lang="en-US" altLang="zh-CN" dirty="0"/>
              <a:t>	</a:t>
            </a:r>
            <a:r>
              <a:rPr lang="en-US" altLang="zh-CN" dirty="0" smtClean="0"/>
              <a:t>%</a:t>
            </a:r>
            <a:r>
              <a:rPr lang="zh-CN" altLang="zh-CN" dirty="0" smtClean="0"/>
              <a:t>添加图例</a:t>
            </a:r>
            <a:endParaRPr lang="en-US" altLang="zh-CN" dirty="0" smtClean="0"/>
          </a:p>
          <a:p>
            <a:r>
              <a:rPr lang="en-US" altLang="zh-CN" dirty="0"/>
              <a:t>&gt;&gt; </a:t>
            </a:r>
            <a:r>
              <a:rPr lang="en-US" altLang="zh-CN" dirty="0" smtClean="0"/>
              <a:t>legend</a:t>
            </a:r>
            <a:r>
              <a:rPr lang="en-US" altLang="zh-CN" dirty="0"/>
              <a:t>({'sin(x)','</a:t>
            </a:r>
            <a:r>
              <a:rPr lang="en-US" altLang="zh-CN" dirty="0" err="1"/>
              <a:t>cos</a:t>
            </a:r>
            <a:r>
              <a:rPr lang="en-US" altLang="zh-CN" dirty="0"/>
              <a:t>(x)'},'</a:t>
            </a:r>
            <a:r>
              <a:rPr lang="en-US" altLang="zh-CN" dirty="0" err="1"/>
              <a:t>Location','southeast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 smtClean="0"/>
              <a:t>%</a:t>
            </a:r>
            <a:r>
              <a:rPr lang="zh-CN" altLang="en-US" dirty="0" smtClean="0"/>
              <a:t>添加图例到右下角</a:t>
            </a:r>
            <a:endParaRPr lang="zh-CN" altLang="zh-CN" dirty="0"/>
          </a:p>
          <a:p>
            <a:r>
              <a:rPr lang="en-US" altLang="zh-CN" dirty="0"/>
              <a:t>&gt;&gt; text(</a:t>
            </a:r>
            <a:r>
              <a:rPr lang="en-US" altLang="zh-CN" dirty="0" err="1"/>
              <a:t>pi,sin</a:t>
            </a:r>
            <a:r>
              <a:rPr lang="en-US" altLang="zh-CN" dirty="0"/>
              <a:t>(pi),'x=\pi')  </a:t>
            </a:r>
            <a:r>
              <a:rPr lang="en-US" altLang="zh-CN" dirty="0" smtClean="0"/>
              <a:t>        %</a:t>
            </a:r>
            <a:r>
              <a:rPr lang="zh-CN" altLang="zh-CN" dirty="0"/>
              <a:t>在</a:t>
            </a:r>
            <a:r>
              <a:rPr lang="en-US" altLang="zh-CN" dirty="0" err="1"/>
              <a:t>pi,sin</a:t>
            </a:r>
            <a:r>
              <a:rPr lang="en-US" altLang="zh-CN" dirty="0"/>
              <a:t>(pi)</a:t>
            </a:r>
            <a:r>
              <a:rPr lang="zh-CN" altLang="zh-CN" dirty="0" smtClean="0"/>
              <a:t>处</a:t>
            </a:r>
            <a:endParaRPr lang="en-US" altLang="zh-CN" dirty="0" smtClean="0"/>
          </a:p>
          <a:p>
            <a:r>
              <a:rPr lang="zh-CN" altLang="zh-CN" dirty="0" smtClean="0"/>
              <a:t>添加</a:t>
            </a:r>
            <a:r>
              <a:rPr lang="zh-CN" altLang="zh-CN" dirty="0"/>
              <a:t>文字注释</a:t>
            </a:r>
            <a:endParaRPr lang="zh-CN" altLang="zh-CN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811" y="3286642"/>
            <a:ext cx="4007680" cy="356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99592" y="620688"/>
            <a:ext cx="7329488" cy="662779"/>
          </a:xfrm>
        </p:spPr>
        <p:txBody>
          <a:bodyPr>
            <a:noAutofit/>
          </a:bodyPr>
          <a:lstStyle/>
          <a:p>
            <a:r>
              <a:rPr lang="en-US" altLang="zh-CN" sz="4000" dirty="0" smtClean="0"/>
              <a:t>4.1.5 </a:t>
            </a:r>
            <a:r>
              <a:rPr lang="zh-CN" altLang="en-US" sz="4000" dirty="0" smtClean="0"/>
              <a:t>设置坐标轴和文字标注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4150" y="1268730"/>
            <a:ext cx="8519795" cy="2226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b="1" dirty="0">
                <a:solidFill>
                  <a:srgbClr val="008080"/>
                </a:solidFill>
              </a:rPr>
              <a:t>4</a:t>
            </a:r>
            <a:r>
              <a:rPr lang="zh-CN" altLang="zh-CN" b="1" dirty="0">
                <a:solidFill>
                  <a:srgbClr val="008080"/>
                </a:solidFill>
              </a:rPr>
              <a:t>．坐标刻度</a:t>
            </a:r>
            <a:endParaRPr lang="zh-CN" altLang="zh-CN" b="1" dirty="0">
              <a:solidFill>
                <a:srgbClr val="008080"/>
              </a:solidFill>
            </a:endParaRPr>
          </a:p>
          <a:p>
            <a:r>
              <a:rPr lang="zh-CN" altLang="zh-CN" dirty="0"/>
              <a:t>在坐标轴上默认的刻度是自动等距离分隔的，但有些刻度需要特别标注出来，因此需要使用坐标刻度专门标注。</a:t>
            </a:r>
            <a:endParaRPr lang="zh-CN" altLang="zh-CN" dirty="0"/>
          </a:p>
          <a:p>
            <a:r>
              <a:rPr lang="zh-CN" altLang="zh-CN" dirty="0"/>
              <a:t>通过设置</a:t>
            </a:r>
            <a:r>
              <a:rPr lang="en-US" altLang="zh-CN" dirty="0" err="1"/>
              <a:t>xtick</a:t>
            </a:r>
            <a:r>
              <a:rPr lang="zh-CN" altLang="zh-CN" dirty="0"/>
              <a:t>和</a:t>
            </a:r>
            <a:r>
              <a:rPr lang="en-US" altLang="zh-CN" dirty="0" err="1"/>
              <a:t>ytick</a:t>
            </a:r>
            <a:r>
              <a:rPr lang="zh-CN" altLang="zh-CN" dirty="0"/>
              <a:t>属性可以划分坐标刻度。通过设置</a:t>
            </a:r>
            <a:r>
              <a:rPr lang="en-US" altLang="zh-CN" dirty="0" err="1"/>
              <a:t>xticklabel</a:t>
            </a:r>
            <a:r>
              <a:rPr lang="zh-CN" altLang="zh-CN" dirty="0"/>
              <a:t>和</a:t>
            </a:r>
            <a:r>
              <a:rPr lang="en-US" altLang="zh-CN" dirty="0" err="1"/>
              <a:t>yticklabel</a:t>
            </a:r>
            <a:r>
              <a:rPr lang="zh-CN" altLang="zh-CN" dirty="0"/>
              <a:t>属性可以标注坐标刻度。</a:t>
            </a:r>
            <a:endParaRPr lang="zh-CN" altLang="zh-CN" dirty="0"/>
          </a:p>
          <a:p>
            <a:endParaRPr lang="zh-CN" altLang="zh-CN" dirty="0"/>
          </a:p>
          <a:p>
            <a:r>
              <a:rPr lang="zh-CN" altLang="zh-CN" dirty="0"/>
              <a:t>【例</a:t>
            </a:r>
            <a:r>
              <a:rPr lang="en-US" altLang="zh-CN" dirty="0" smtClean="0"/>
              <a:t>4.9</a:t>
            </a:r>
            <a:r>
              <a:rPr lang="zh-CN" altLang="zh-CN" dirty="0" smtClean="0"/>
              <a:t>续</a:t>
            </a:r>
            <a:r>
              <a:rPr lang="zh-CN" altLang="zh-CN" dirty="0"/>
              <a:t>】</a:t>
            </a:r>
            <a:r>
              <a:rPr lang="en-US" altLang="zh-CN" dirty="0"/>
              <a:t>  </a:t>
            </a:r>
            <a:r>
              <a:rPr lang="zh-CN" altLang="zh-CN" dirty="0"/>
              <a:t>在图</a:t>
            </a:r>
            <a:r>
              <a:rPr lang="en-US" altLang="zh-CN" dirty="0" smtClean="0"/>
              <a:t>4.10</a:t>
            </a:r>
            <a:r>
              <a:rPr lang="zh-CN" altLang="zh-CN" dirty="0" smtClean="0"/>
              <a:t>中将</a:t>
            </a:r>
            <a:r>
              <a:rPr lang="zh-CN" altLang="zh-CN" dirty="0"/>
              <a:t>横坐标按照每隔</a:t>
            </a:r>
            <a:r>
              <a:rPr lang="en-US" altLang="zh-CN" dirty="0">
                <a:sym typeface="Symbol" panose="05050102010706020507" pitchFamily="18" charset="2"/>
              </a:rPr>
              <a:t></a:t>
            </a:r>
            <a:r>
              <a:rPr lang="en-US" altLang="zh-CN" dirty="0"/>
              <a:t>/2</a:t>
            </a:r>
            <a:r>
              <a:rPr lang="zh-CN" altLang="zh-CN" dirty="0"/>
              <a:t>进行标识，则图形显示如图</a:t>
            </a:r>
            <a:r>
              <a:rPr lang="en-US" altLang="zh-CN" dirty="0" smtClean="0"/>
              <a:t>4.11</a:t>
            </a:r>
            <a:r>
              <a:rPr lang="zh-CN" altLang="zh-CN" dirty="0" smtClean="0"/>
              <a:t>所</a:t>
            </a:r>
            <a:r>
              <a:rPr lang="zh-CN" altLang="zh-CN" dirty="0"/>
              <a:t>示。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7504" y="3501514"/>
            <a:ext cx="5435126" cy="1200329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&gt;&gt;axis([0,2*pi,-2,2])</a:t>
            </a:r>
            <a:endParaRPr lang="zh-CN" altLang="zh-CN" dirty="0"/>
          </a:p>
          <a:p>
            <a:r>
              <a:rPr lang="en-US" altLang="zh-CN" dirty="0"/>
              <a:t>&gt;&gt;set(gca,'XTick',0:pi/2:2*pi)		%</a:t>
            </a:r>
            <a:r>
              <a:rPr lang="zh-CN" altLang="zh-CN" dirty="0"/>
              <a:t>横坐标刻度</a:t>
            </a:r>
            <a:endParaRPr lang="zh-CN" altLang="zh-CN" dirty="0"/>
          </a:p>
          <a:p>
            <a:r>
              <a:rPr lang="en-US" altLang="zh-CN" dirty="0"/>
              <a:t>&gt;&gt;set(</a:t>
            </a:r>
            <a:r>
              <a:rPr lang="en-US" altLang="zh-CN" dirty="0" err="1"/>
              <a:t>gca</a:t>
            </a:r>
            <a:r>
              <a:rPr lang="en-US" altLang="zh-CN" dirty="0"/>
              <a:t>,'</a:t>
            </a:r>
            <a:r>
              <a:rPr lang="en-US" altLang="zh-CN" dirty="0" err="1"/>
              <a:t>XTickLabel</a:t>
            </a:r>
            <a:r>
              <a:rPr lang="en-US" altLang="zh-CN" dirty="0"/>
              <a:t>',{'0','pi/2','pi','pi3/2','2pi'})	%</a:t>
            </a:r>
            <a:r>
              <a:rPr lang="zh-CN" altLang="zh-CN" dirty="0"/>
              <a:t>横坐标标识</a:t>
            </a:r>
            <a:endParaRPr lang="zh-CN" altLang="zh-CN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355" y="3501390"/>
            <a:ext cx="3634105" cy="3228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99592" y="620688"/>
            <a:ext cx="7329488" cy="662779"/>
          </a:xfrm>
        </p:spPr>
        <p:txBody>
          <a:bodyPr>
            <a:noAutofit/>
          </a:bodyPr>
          <a:lstStyle/>
          <a:p>
            <a:r>
              <a:rPr lang="en-US" altLang="zh-CN" sz="4000" dirty="0" smtClean="0"/>
              <a:t>4.1.5 </a:t>
            </a:r>
            <a:r>
              <a:rPr lang="zh-CN" altLang="en-US" sz="4000" dirty="0" smtClean="0"/>
              <a:t>设置坐标轴和文字标注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537970" y="2420620"/>
            <a:ext cx="63842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+mn-ea"/>
                <a:cs typeface="+mn-ea"/>
              </a:rPr>
              <a:t>5.1.2 while</a:t>
            </a:r>
            <a:r>
              <a:rPr lang="en-US" altLang="zh-CN" sz="4000" dirty="0" smtClean="0">
                <a:solidFill>
                  <a:srgbClr val="FF0000"/>
                </a:solidFill>
                <a:latin typeface="+mn-ea"/>
                <a:cs typeface="+mn-ea"/>
              </a:rPr>
              <a:t>…end</a:t>
            </a:r>
            <a:r>
              <a:rPr lang="zh-CN" altLang="en-US" sz="4000" dirty="0" smtClean="0">
                <a:solidFill>
                  <a:srgbClr val="FF0000"/>
                </a:solidFill>
                <a:latin typeface="+mn-ea"/>
                <a:cs typeface="+mn-ea"/>
              </a:rPr>
              <a:t>循环结构</a:t>
            </a:r>
            <a:endParaRPr lang="zh-CN" altLang="en-US" sz="4000" dirty="0" smtClean="0">
              <a:solidFill>
                <a:srgbClr val="FF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528" y="1681447"/>
            <a:ext cx="776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for</a:t>
            </a:r>
            <a:r>
              <a:rPr lang="zh-CN" altLang="zh-CN" dirty="0">
                <a:solidFill>
                  <a:srgbClr val="FF0000"/>
                </a:solidFill>
              </a:rPr>
              <a:t>…</a:t>
            </a:r>
            <a:r>
              <a:rPr lang="en-US" altLang="zh-CN" dirty="0">
                <a:solidFill>
                  <a:srgbClr val="FF0000"/>
                </a:solidFill>
              </a:rPr>
              <a:t>end</a:t>
            </a:r>
            <a:r>
              <a:rPr lang="zh-CN" altLang="zh-CN" dirty="0">
                <a:solidFill>
                  <a:srgbClr val="FF0000"/>
                </a:solidFill>
              </a:rPr>
              <a:t>循环的循环次数确定，而</a:t>
            </a: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zh-CN" dirty="0">
                <a:solidFill>
                  <a:srgbClr val="FF0000"/>
                </a:solidFill>
              </a:rPr>
              <a:t>…</a:t>
            </a:r>
            <a:r>
              <a:rPr lang="en-US" altLang="zh-CN" dirty="0">
                <a:solidFill>
                  <a:srgbClr val="FF0000"/>
                </a:solidFill>
              </a:rPr>
              <a:t>end</a:t>
            </a:r>
            <a:r>
              <a:rPr lang="zh-CN" altLang="zh-CN" dirty="0">
                <a:solidFill>
                  <a:srgbClr val="FF0000"/>
                </a:solidFill>
              </a:rPr>
              <a:t>循环的循环次数不确定。</a:t>
            </a:r>
            <a:endParaRPr lang="zh-CN" altLang="zh-CN" dirty="0"/>
          </a:p>
          <a:p>
            <a:r>
              <a:rPr lang="zh-CN" altLang="zh-CN" dirty="0"/>
              <a:t>语法：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460261" y="2459115"/>
            <a:ext cx="8432219" cy="923330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while</a:t>
            </a:r>
            <a:r>
              <a:rPr lang="zh-CN" altLang="zh-CN" dirty="0"/>
              <a:t>表达式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 smtClean="0"/>
              <a:t>循环体</a:t>
            </a:r>
            <a:endParaRPr lang="zh-CN" altLang="zh-CN" dirty="0"/>
          </a:p>
          <a:p>
            <a:r>
              <a:rPr lang="en-US" altLang="zh-CN" dirty="0" smtClean="0"/>
              <a:t>end</a:t>
            </a:r>
            <a:endParaRPr lang="zh-CN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460261" y="3513782"/>
            <a:ext cx="843221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说明：</a:t>
            </a:r>
            <a:r>
              <a:rPr lang="zh-CN" altLang="zh-CN" dirty="0"/>
              <a:t>只要表达式为逻辑真，就执行循环体；一旦表达式为逻辑假，就结束循环。</a:t>
            </a:r>
            <a:endParaRPr lang="zh-CN" altLang="zh-CN" dirty="0"/>
          </a:p>
          <a:p>
            <a:endParaRPr lang="zh-CN" altLang="zh-CN" dirty="0"/>
          </a:p>
          <a:p>
            <a:r>
              <a:rPr lang="zh-CN" altLang="zh-CN" dirty="0"/>
              <a:t>表达式可以是向量也可以是矩阵。如果表达式为矩阵则当所有的元素都为真时才执行循环体，如果表达式为</a:t>
            </a:r>
            <a:r>
              <a:rPr lang="en-US" altLang="zh-CN" dirty="0"/>
              <a:t>nan</a:t>
            </a:r>
            <a:r>
              <a:rPr lang="zh-CN" altLang="zh-CN" dirty="0"/>
              <a:t>，</a:t>
            </a:r>
            <a:r>
              <a:rPr lang="en-US" altLang="zh-CN" dirty="0"/>
              <a:t>MATLAB</a:t>
            </a:r>
            <a:r>
              <a:rPr lang="zh-CN" altLang="zh-CN" dirty="0"/>
              <a:t>认为是假，就不执行循环体。</a:t>
            </a:r>
            <a:endParaRPr lang="zh-CN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1187450" y="332740"/>
            <a:ext cx="63842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>
                <a:latin typeface="+mn-ea"/>
                <a:cs typeface="+mn-ea"/>
              </a:rPr>
              <a:t>5.1.2 while</a:t>
            </a:r>
            <a:r>
              <a:rPr lang="en-US" altLang="zh-CN" sz="4000" dirty="0" smtClean="0">
                <a:latin typeface="+mn-ea"/>
                <a:cs typeface="+mn-ea"/>
              </a:rPr>
              <a:t>…end</a:t>
            </a:r>
            <a:r>
              <a:rPr lang="zh-CN" altLang="en-US" sz="4000" dirty="0" smtClean="0">
                <a:latin typeface="+mn-ea"/>
                <a:cs typeface="+mn-ea"/>
              </a:rPr>
              <a:t>循环结构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6"/>
          <p:cNvSpPr txBox="1"/>
          <p:nvPr/>
        </p:nvSpPr>
        <p:spPr>
          <a:xfrm>
            <a:off x="0" y="1196975"/>
            <a:ext cx="9027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5.3】</a:t>
            </a:r>
            <a:r>
              <a:rPr lang="zh-CN" altLang="en-US" dirty="0"/>
              <a:t>根据 </a:t>
            </a:r>
            <a:r>
              <a:rPr lang="en-US" altLang="zh-CN" dirty="0"/>
              <a:t>		                (n</a:t>
            </a:r>
            <a:r>
              <a:rPr lang="zh-CN" altLang="en-US" dirty="0"/>
              <a:t>为正整数且</a:t>
            </a:r>
            <a:r>
              <a:rPr lang="en-US" altLang="zh-CN" dirty="0"/>
              <a:t>n</a:t>
            </a:r>
            <a:r>
              <a:rPr lang="zh-CN" altLang="en-US" dirty="0"/>
              <a:t>大于等于</a:t>
            </a:r>
            <a:r>
              <a:rPr lang="en-US" altLang="zh-CN" dirty="0"/>
              <a:t>1)</a:t>
            </a:r>
            <a:r>
              <a:rPr lang="zh-CN" altLang="en-US" dirty="0"/>
              <a:t>，求</a:t>
            </a:r>
            <a:r>
              <a:rPr lang="en-US" altLang="zh-CN" dirty="0"/>
              <a:t>y&lt;3</a:t>
            </a:r>
            <a:r>
              <a:rPr lang="zh-CN" altLang="en-US" dirty="0"/>
              <a:t>时的最大</a:t>
            </a:r>
            <a:r>
              <a:rPr lang="en-US" altLang="zh-CN" dirty="0"/>
              <a:t>n</a:t>
            </a:r>
            <a:r>
              <a:rPr lang="zh-CN" altLang="en-US" dirty="0"/>
              <a:t>值和</a:t>
            </a:r>
            <a:r>
              <a:rPr lang="en-US" altLang="zh-CN" dirty="0"/>
              <a:t>y</a:t>
            </a:r>
            <a:r>
              <a:rPr lang="zh-CN" altLang="en-US" dirty="0"/>
              <a:t>值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54495" y="1126282"/>
          <a:ext cx="1999716" cy="51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2" name="" r:id="rId1" imgW="1383665" imgH="355600" progId="Equation.DSMT4">
                  <p:embed/>
                </p:oleObj>
              </mc:Choice>
              <mc:Fallback>
                <p:oleObj name="" r:id="rId1" imgW="1383665" imgH="355600" progId="Equation.DSMT4">
                  <p:embed/>
                  <p:pic>
                    <p:nvPicPr>
                      <p:cNvPr id="0" name="图片 399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495" y="1126282"/>
                        <a:ext cx="1999716" cy="510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12"/>
          <p:cNvSpPr txBox="1"/>
          <p:nvPr/>
        </p:nvSpPr>
        <p:spPr>
          <a:xfrm>
            <a:off x="213645" y="1636554"/>
            <a:ext cx="8534819" cy="2306955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s-ES" altLang="zh-CN" sz="1600" dirty="0"/>
              <a:t>y=0;</a:t>
            </a:r>
            <a:r>
              <a:rPr lang="en-US" altLang="es-ES" sz="1600" dirty="0"/>
              <a:t>                                                  </a:t>
            </a:r>
            <a:r>
              <a:rPr lang="es-ES" altLang="zh-CN" sz="1600" dirty="0">
                <a:sym typeface="+mn-ea"/>
              </a:rPr>
              <a:t>%y</a:t>
            </a:r>
            <a:r>
              <a:rPr lang="zh-CN" altLang="es-ES" sz="1600" dirty="0">
                <a:sym typeface="+mn-ea"/>
              </a:rPr>
              <a:t>的初始值赋值为</a:t>
            </a:r>
            <a:r>
              <a:rPr lang="en-US" altLang="zh-CN" sz="1600" dirty="0">
                <a:sym typeface="+mn-ea"/>
              </a:rPr>
              <a:t>0</a:t>
            </a:r>
            <a:endParaRPr lang="zh-CN" altLang="zh-CN" sz="1600" dirty="0"/>
          </a:p>
          <a:p>
            <a:r>
              <a:rPr lang="es-ES" altLang="zh-CN" sz="1600" dirty="0"/>
              <a:t>n=1;</a:t>
            </a:r>
            <a:r>
              <a:rPr lang="en-US" altLang="es-ES" sz="1600" dirty="0"/>
              <a:t>                                                  </a:t>
            </a:r>
            <a:r>
              <a:rPr lang="es-ES" altLang="zh-CN" sz="1600" dirty="0">
                <a:sym typeface="+mn-ea"/>
              </a:rPr>
              <a:t>%</a:t>
            </a:r>
            <a:r>
              <a:rPr lang="en-US" altLang="es-ES" sz="1600" dirty="0">
                <a:sym typeface="+mn-ea"/>
              </a:rPr>
              <a:t>n</a:t>
            </a:r>
            <a:r>
              <a:rPr lang="zh-CN" altLang="en-US" sz="1600" dirty="0">
                <a:sym typeface="+mn-ea"/>
              </a:rPr>
              <a:t>为正整数，将</a:t>
            </a:r>
            <a:r>
              <a:rPr lang="en-US" altLang="zh-CN" sz="1600" dirty="0">
                <a:sym typeface="+mn-ea"/>
              </a:rPr>
              <a:t>n</a:t>
            </a:r>
            <a:r>
              <a:rPr lang="zh-CN" altLang="es-ES" sz="1600" dirty="0">
                <a:sym typeface="+mn-ea"/>
              </a:rPr>
              <a:t>的初始值赋值为</a:t>
            </a:r>
            <a:r>
              <a:rPr lang="en-US" altLang="zh-CN" sz="1600" dirty="0">
                <a:sym typeface="+mn-ea"/>
              </a:rPr>
              <a:t>1</a:t>
            </a:r>
            <a:endParaRPr lang="zh-CN" altLang="zh-CN" sz="1600" dirty="0"/>
          </a:p>
          <a:p>
            <a:r>
              <a:rPr lang="es-ES" altLang="zh-CN" sz="1600" dirty="0"/>
              <a:t>while y&lt;3</a:t>
            </a:r>
            <a:endParaRPr lang="zh-CN" altLang="zh-CN" sz="1600" dirty="0"/>
          </a:p>
          <a:p>
            <a:r>
              <a:rPr lang="es-ES" altLang="zh-CN" sz="1600" dirty="0"/>
              <a:t>    y=y+1/(2*n-1);</a:t>
            </a:r>
            <a:endParaRPr lang="zh-CN" altLang="zh-CN" sz="1600" dirty="0"/>
          </a:p>
          <a:p>
            <a:r>
              <a:rPr lang="es-ES" altLang="zh-CN" sz="1600" dirty="0"/>
              <a:t>    n=n+1;</a:t>
            </a:r>
            <a:endParaRPr lang="zh-CN" altLang="zh-CN" sz="1600" dirty="0"/>
          </a:p>
          <a:p>
            <a:r>
              <a:rPr lang="es-ES" altLang="zh-CN" sz="1600" dirty="0"/>
              <a:t>    z(n)=y;</a:t>
            </a:r>
            <a:r>
              <a:rPr lang="en-US" altLang="es-ES" sz="1600" dirty="0"/>
              <a:t>                                         </a:t>
            </a:r>
            <a:r>
              <a:rPr lang="es-ES" altLang="zh-CN" sz="1600" dirty="0">
                <a:sym typeface="+mn-ea"/>
              </a:rPr>
              <a:t>%y</a:t>
            </a:r>
            <a:r>
              <a:rPr lang="zh-CN" altLang="es-ES" sz="1600" dirty="0">
                <a:sym typeface="+mn-ea"/>
              </a:rPr>
              <a:t>赋值给</a:t>
            </a:r>
            <a:r>
              <a:rPr lang="es-ES" altLang="zh-CN" sz="1600" dirty="0">
                <a:sym typeface="+mn-ea"/>
              </a:rPr>
              <a:t>z(n)</a:t>
            </a:r>
            <a:endParaRPr lang="zh-CN" altLang="zh-CN" sz="1600" dirty="0"/>
          </a:p>
          <a:p>
            <a:r>
              <a:rPr lang="es-ES" altLang="zh-CN" sz="1600" dirty="0"/>
              <a:t>end</a:t>
            </a:r>
            <a:endParaRPr lang="zh-CN" altLang="zh-CN" sz="1600" dirty="0"/>
          </a:p>
          <a:p>
            <a:r>
              <a:rPr lang="es-ES" altLang="zh-CN" sz="1600" dirty="0"/>
              <a:t>mn=n-2		</a:t>
            </a:r>
            <a:r>
              <a:rPr lang="en-US" altLang="es-ES" sz="1600" dirty="0"/>
              <a:t>                 </a:t>
            </a:r>
            <a:r>
              <a:rPr lang="es-ES" altLang="zh-CN" sz="1600" dirty="0"/>
              <a:t>%y&lt;3</a:t>
            </a:r>
            <a:r>
              <a:rPr lang="zh-CN" altLang="zh-CN" sz="1600" dirty="0"/>
              <a:t>之前的</a:t>
            </a:r>
            <a:r>
              <a:rPr lang="es-ES" altLang="zh-CN" sz="1600" dirty="0"/>
              <a:t>n</a:t>
            </a:r>
            <a:endParaRPr lang="zh-CN" altLang="zh-CN" sz="1600" dirty="0"/>
          </a:p>
          <a:p>
            <a:r>
              <a:rPr lang="es-ES" altLang="zh-CN" sz="1600" dirty="0"/>
              <a:t>my=z(n-1)				</a:t>
            </a:r>
            <a:endParaRPr lang="zh-CN" altLang="zh-CN" sz="1600" dirty="0"/>
          </a:p>
        </p:txBody>
      </p:sp>
      <p:sp>
        <p:nvSpPr>
          <p:cNvPr id="7" name="文本框 13"/>
          <p:cNvSpPr txBox="1"/>
          <p:nvPr/>
        </p:nvSpPr>
        <p:spPr>
          <a:xfrm>
            <a:off x="213645" y="4046126"/>
            <a:ext cx="310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计算结果如下。</a:t>
            </a:r>
            <a:endParaRPr lang="zh-CN" altLang="zh-CN" dirty="0"/>
          </a:p>
        </p:txBody>
      </p:sp>
      <p:sp>
        <p:nvSpPr>
          <p:cNvPr id="8" name="文本框 14"/>
          <p:cNvSpPr txBox="1"/>
          <p:nvPr/>
        </p:nvSpPr>
        <p:spPr>
          <a:xfrm>
            <a:off x="213645" y="4415458"/>
            <a:ext cx="8534819" cy="1200329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s-ES" altLang="zh-CN"/>
              <a:t>mn =</a:t>
            </a:r>
            <a:endParaRPr lang="zh-CN" altLang="zh-CN"/>
          </a:p>
          <a:p>
            <a:r>
              <a:rPr lang="es-ES" altLang="zh-CN"/>
              <a:t>    56</a:t>
            </a:r>
            <a:endParaRPr lang="zh-CN" altLang="zh-CN"/>
          </a:p>
          <a:p>
            <a:r>
              <a:rPr lang="es-ES" altLang="zh-CN"/>
              <a:t>my =</a:t>
            </a:r>
            <a:endParaRPr lang="zh-CN" altLang="zh-CN"/>
          </a:p>
          <a:p>
            <a:r>
              <a:rPr lang="es-ES" altLang="zh-CN"/>
              <a:t>    2.9944</a:t>
            </a:r>
            <a:endParaRPr lang="zh-CN" altLang="zh-CN"/>
          </a:p>
        </p:txBody>
      </p:sp>
      <p:sp>
        <p:nvSpPr>
          <p:cNvPr id="10" name="文本框 15"/>
          <p:cNvSpPr txBox="1"/>
          <p:nvPr/>
        </p:nvSpPr>
        <p:spPr>
          <a:xfrm>
            <a:off x="85458" y="5708931"/>
            <a:ext cx="866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程序分析：</a:t>
            </a:r>
            <a:r>
              <a:rPr lang="zh-CN" altLang="zh-CN" dirty="0"/>
              <a:t>可以看出</a:t>
            </a:r>
            <a:r>
              <a:rPr lang="es-ES" altLang="zh-CN" dirty="0"/>
              <a:t>while</a:t>
            </a:r>
            <a:r>
              <a:rPr lang="zh-CN" altLang="zh-CN" dirty="0"/>
              <a:t>…</a:t>
            </a:r>
            <a:r>
              <a:rPr lang="es-ES" altLang="zh-CN" dirty="0"/>
              <a:t>end</a:t>
            </a:r>
            <a:r>
              <a:rPr lang="zh-CN" altLang="zh-CN" dirty="0"/>
              <a:t>循环的循环次数由表达式决定，当</a:t>
            </a:r>
            <a:r>
              <a:rPr lang="es-ES" altLang="zh-CN" i="1" dirty="0"/>
              <a:t>y</a:t>
            </a:r>
            <a:r>
              <a:rPr lang="es-ES" altLang="zh-CN" dirty="0"/>
              <a:t>&gt;=3</a:t>
            </a:r>
            <a:r>
              <a:rPr lang="zh-CN" altLang="zh-CN" dirty="0"/>
              <a:t>时就停止循环。</a:t>
            </a:r>
            <a:endParaRPr lang="zh-CN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1475740" y="260985"/>
            <a:ext cx="63842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>
                <a:latin typeface="+mn-ea"/>
                <a:cs typeface="+mn-ea"/>
              </a:rPr>
              <a:t>5.1.2 while</a:t>
            </a:r>
            <a:r>
              <a:rPr lang="en-US" altLang="zh-CN" sz="4000" dirty="0" smtClean="0">
                <a:latin typeface="+mn-ea"/>
                <a:cs typeface="+mn-ea"/>
              </a:rPr>
              <a:t>…end</a:t>
            </a:r>
            <a:r>
              <a:rPr lang="zh-CN" altLang="en-US" sz="4000" dirty="0" smtClean="0">
                <a:latin typeface="+mn-ea"/>
                <a:cs typeface="+mn-ea"/>
              </a:rPr>
              <a:t>循环结构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899160" y="2564765"/>
            <a:ext cx="7044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FF0000"/>
                </a:solidFill>
                <a:latin typeface="+mn-ea"/>
                <a:cs typeface="+mn-ea"/>
              </a:rPr>
              <a:t>5.1.3 If…else…end</a:t>
            </a:r>
            <a:r>
              <a:rPr lang="zh-CN" altLang="en-US" sz="4000" dirty="0" smtClean="0">
                <a:solidFill>
                  <a:srgbClr val="FF0000"/>
                </a:solidFill>
                <a:latin typeface="+mn-ea"/>
                <a:cs typeface="+mn-ea"/>
              </a:rPr>
              <a:t>循环结构</a:t>
            </a:r>
            <a:endParaRPr lang="zh-CN" altLang="en-US" sz="4000" dirty="0" smtClean="0">
              <a:solidFill>
                <a:srgbClr val="FF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6"/>
          <p:cNvSpPr txBox="1"/>
          <p:nvPr/>
        </p:nvSpPr>
        <p:spPr>
          <a:xfrm>
            <a:off x="107504" y="1412776"/>
            <a:ext cx="8272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zh-CN" dirty="0" smtClean="0"/>
              <a:t>if</a:t>
            </a:r>
            <a:r>
              <a:rPr lang="zh-CN" altLang="zh-CN" dirty="0"/>
              <a:t>…</a:t>
            </a:r>
            <a:r>
              <a:rPr lang="es-ES" altLang="zh-CN" dirty="0"/>
              <a:t>else</a:t>
            </a:r>
            <a:r>
              <a:rPr lang="zh-CN" altLang="zh-CN" dirty="0"/>
              <a:t>…</a:t>
            </a:r>
            <a:r>
              <a:rPr lang="es-ES" altLang="zh-CN" dirty="0"/>
              <a:t>end</a:t>
            </a:r>
            <a:r>
              <a:rPr lang="zh-CN" altLang="zh-CN" dirty="0"/>
              <a:t>结构是最常见的条件转移结构。</a:t>
            </a:r>
            <a:endParaRPr lang="zh-CN" altLang="zh-CN" dirty="0"/>
          </a:p>
          <a:p>
            <a:r>
              <a:rPr lang="zh-CN" altLang="zh-CN" dirty="0"/>
              <a:t>语法：</a:t>
            </a:r>
            <a:endParaRPr lang="zh-CN" altLang="zh-CN" dirty="0"/>
          </a:p>
        </p:txBody>
      </p:sp>
      <p:sp>
        <p:nvSpPr>
          <p:cNvPr id="4" name="文本框 17"/>
          <p:cNvSpPr txBox="1"/>
          <p:nvPr/>
        </p:nvSpPr>
        <p:spPr>
          <a:xfrm>
            <a:off x="201507" y="2059107"/>
            <a:ext cx="8368453" cy="2308324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if</a:t>
            </a:r>
            <a:r>
              <a:rPr lang="zh-CN" altLang="zh-CN" dirty="0"/>
              <a:t>条件式</a:t>
            </a:r>
            <a:r>
              <a:rPr lang="en-US" altLang="zh-CN" dirty="0"/>
              <a:t>1</a:t>
            </a:r>
            <a:endParaRPr lang="zh-CN" altLang="zh-CN" dirty="0"/>
          </a:p>
          <a:p>
            <a:r>
              <a:rPr lang="zh-CN" altLang="zh-CN" dirty="0"/>
              <a:t>语句段</a:t>
            </a:r>
            <a:r>
              <a:rPr lang="en-US" altLang="zh-CN" dirty="0"/>
              <a:t>1</a:t>
            </a:r>
            <a:endParaRPr lang="zh-CN" altLang="zh-CN" dirty="0"/>
          </a:p>
          <a:p>
            <a:r>
              <a:rPr lang="en-US" altLang="zh-CN" dirty="0"/>
              <a:t>elseif</a:t>
            </a:r>
            <a:r>
              <a:rPr lang="zh-CN" altLang="zh-CN" dirty="0"/>
              <a:t>条件式</a:t>
            </a:r>
            <a:r>
              <a:rPr lang="en-US" altLang="zh-CN" dirty="0"/>
              <a:t>2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语句段</a:t>
            </a:r>
            <a:r>
              <a:rPr lang="en-US" altLang="zh-CN" dirty="0"/>
              <a:t>2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…</a:t>
            </a:r>
            <a:endParaRPr lang="zh-CN" altLang="zh-CN" dirty="0"/>
          </a:p>
          <a:p>
            <a:r>
              <a:rPr lang="en-US" altLang="zh-CN" dirty="0"/>
              <a:t>else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语句段</a:t>
            </a:r>
            <a:r>
              <a:rPr lang="en-US" altLang="zh-CN" dirty="0"/>
              <a:t>n+1</a:t>
            </a:r>
            <a:endParaRPr lang="zh-CN" altLang="zh-CN" dirty="0"/>
          </a:p>
          <a:p>
            <a:r>
              <a:rPr lang="en-US" altLang="zh-CN" dirty="0"/>
              <a:t>end</a:t>
            </a:r>
            <a:endParaRPr lang="zh-CN" altLang="zh-CN" dirty="0"/>
          </a:p>
        </p:txBody>
      </p:sp>
      <p:sp>
        <p:nvSpPr>
          <p:cNvPr id="5" name="文本框 18"/>
          <p:cNvSpPr txBox="1"/>
          <p:nvPr/>
        </p:nvSpPr>
        <p:spPr>
          <a:xfrm>
            <a:off x="107504" y="4455079"/>
            <a:ext cx="8462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说明：</a:t>
            </a:r>
            <a:r>
              <a:rPr lang="zh-CN" altLang="zh-CN" dirty="0"/>
              <a:t>当有多个条件时，条件式</a:t>
            </a:r>
            <a:r>
              <a:rPr lang="en-US" altLang="zh-CN" dirty="0"/>
              <a:t>1</a:t>
            </a:r>
            <a:r>
              <a:rPr lang="zh-CN" altLang="zh-CN" dirty="0"/>
              <a:t>为假再判断</a:t>
            </a:r>
            <a:r>
              <a:rPr lang="en-US" altLang="zh-CN" dirty="0"/>
              <a:t>elseif</a:t>
            </a:r>
            <a:r>
              <a:rPr lang="zh-CN" altLang="zh-CN" dirty="0"/>
              <a:t>的条件式</a:t>
            </a:r>
            <a:r>
              <a:rPr lang="en-US" altLang="zh-CN" dirty="0"/>
              <a:t>2</a:t>
            </a:r>
            <a:r>
              <a:rPr lang="zh-CN" altLang="zh-CN" dirty="0"/>
              <a:t>，如果所有的条件式都不满足，则执行</a:t>
            </a:r>
            <a:r>
              <a:rPr lang="en-US" altLang="zh-CN" dirty="0"/>
              <a:t>else</a:t>
            </a:r>
            <a:r>
              <a:rPr lang="zh-CN" altLang="zh-CN" dirty="0"/>
              <a:t>的语句段</a:t>
            </a:r>
            <a:r>
              <a:rPr lang="en-US" altLang="zh-CN" i="1" dirty="0"/>
              <a:t>n</a:t>
            </a:r>
            <a:r>
              <a:rPr lang="en-US" altLang="zh-CN" dirty="0"/>
              <a:t>+1</a:t>
            </a:r>
            <a:r>
              <a:rPr lang="zh-CN" altLang="zh-CN" dirty="0"/>
              <a:t>；当某个条件式为真时则执行相应的语句段；</a:t>
            </a:r>
            <a:r>
              <a:rPr lang="en-US" altLang="zh-CN" dirty="0"/>
              <a:t>if</a:t>
            </a:r>
            <a:r>
              <a:rPr lang="zh-CN" altLang="zh-CN" dirty="0"/>
              <a:t>…</a:t>
            </a:r>
            <a:r>
              <a:rPr lang="en-US" altLang="zh-CN" dirty="0"/>
              <a:t>else</a:t>
            </a:r>
            <a:r>
              <a:rPr lang="zh-CN" altLang="zh-CN" dirty="0"/>
              <a:t>…</a:t>
            </a:r>
            <a:r>
              <a:rPr lang="en-US" altLang="zh-CN" dirty="0"/>
              <a:t>end</a:t>
            </a:r>
            <a:r>
              <a:rPr lang="zh-CN" altLang="zh-CN" dirty="0"/>
              <a:t>结构也可以是没有</a:t>
            </a:r>
            <a:r>
              <a:rPr lang="en-US" altLang="zh-CN" dirty="0"/>
              <a:t>elseif</a:t>
            </a:r>
            <a:r>
              <a:rPr lang="zh-CN" altLang="zh-CN" dirty="0"/>
              <a:t>和</a:t>
            </a:r>
            <a:r>
              <a:rPr lang="en-US" altLang="zh-CN" dirty="0"/>
              <a:t>else</a:t>
            </a:r>
            <a:r>
              <a:rPr lang="zh-CN" altLang="zh-CN" dirty="0"/>
              <a:t>的简单结构。</a:t>
            </a:r>
            <a:endParaRPr lang="zh-CN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1043305" y="260985"/>
            <a:ext cx="7044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 smtClean="0">
                <a:latin typeface="+mn-ea"/>
                <a:cs typeface="+mn-ea"/>
              </a:rPr>
              <a:t>5.1.3 If…else…end</a:t>
            </a:r>
            <a:r>
              <a:rPr lang="zh-CN" altLang="en-US" sz="4000" dirty="0" smtClean="0">
                <a:latin typeface="+mn-ea"/>
                <a:cs typeface="+mn-ea"/>
              </a:rPr>
              <a:t>循环结构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27940" y="1781175"/>
            <a:ext cx="9100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5.4】</a:t>
            </a:r>
            <a:r>
              <a:rPr lang="zh-CN" altLang="en-US" dirty="0"/>
              <a:t>根据不同的分段表达式</a:t>
            </a:r>
            <a:r>
              <a:rPr lang="en-US" altLang="zh-CN" dirty="0"/>
              <a:t>		               </a:t>
            </a:r>
            <a:r>
              <a:rPr lang="zh-CN" altLang="en-US" dirty="0"/>
              <a:t>绘制分段函数曲线，曲线</a:t>
            </a:r>
            <a:r>
              <a:rPr lang="zh-CN" altLang="en-US" dirty="0" smtClean="0"/>
              <a:t>如图</a:t>
            </a:r>
            <a:r>
              <a:rPr lang="zh-CN" altLang="en-US" dirty="0"/>
              <a:t>所示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76767" y="1394986"/>
          <a:ext cx="2008261" cy="1153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9" name="" r:id="rId1" imgW="1473200" imgH="850900" progId="Equation.DSMT4">
                  <p:embed/>
                </p:oleObj>
              </mc:Choice>
              <mc:Fallback>
                <p:oleObj name="" r:id="rId1" imgW="1473200" imgH="850900" progId="Equation.DSMT4">
                  <p:embed/>
                  <p:pic>
                    <p:nvPicPr>
                      <p:cNvPr id="0" name="图片 389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767" y="1394986"/>
                        <a:ext cx="2008261" cy="11531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706490"/>
            <a:ext cx="4627091" cy="410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文本框 19"/>
          <p:cNvSpPr txBox="1"/>
          <p:nvPr/>
        </p:nvSpPr>
        <p:spPr>
          <a:xfrm>
            <a:off x="1043305" y="260985"/>
            <a:ext cx="7044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 smtClean="0">
                <a:latin typeface="+mn-ea"/>
                <a:cs typeface="+mn-ea"/>
              </a:rPr>
              <a:t>5.1.3 If…else…end</a:t>
            </a:r>
            <a:r>
              <a:rPr lang="zh-CN" altLang="en-US" sz="4000" dirty="0" smtClean="0">
                <a:latin typeface="+mn-ea"/>
                <a:cs typeface="+mn-ea"/>
              </a:rPr>
              <a:t>循环结构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5536" y="1196752"/>
            <a:ext cx="8280920" cy="4246245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x=0:0.5:10;</a:t>
            </a:r>
            <a:endParaRPr lang="zh-CN" altLang="zh-CN" dirty="0"/>
          </a:p>
          <a:p>
            <a:r>
              <a:rPr lang="en-US" altLang="zh-CN" dirty="0"/>
              <a:t>y=zeros(1,length(x));			%</a:t>
            </a:r>
            <a:r>
              <a:rPr lang="zh-CN" altLang="zh-CN" dirty="0"/>
              <a:t>产生</a:t>
            </a:r>
            <a:r>
              <a:rPr lang="en-US" altLang="zh-CN" dirty="0"/>
              <a:t>0</a:t>
            </a:r>
            <a:r>
              <a:rPr lang="zh-CN" altLang="zh-CN" dirty="0"/>
              <a:t>行向量，</a:t>
            </a:r>
            <a:r>
              <a:rPr lang="en-US" altLang="zh-CN" dirty="0"/>
              <a:t>y</a:t>
            </a:r>
            <a:r>
              <a:rPr lang="zh-CN" altLang="zh-CN" dirty="0"/>
              <a:t>的初始值为</a:t>
            </a:r>
            <a:r>
              <a:rPr lang="en-US" altLang="zh-CN" dirty="0"/>
              <a:t>0</a:t>
            </a:r>
            <a:endParaRPr lang="zh-CN" altLang="zh-CN" dirty="0"/>
          </a:p>
          <a:p>
            <a:r>
              <a:rPr lang="en-US" altLang="zh-CN" dirty="0"/>
              <a:t>for n=1:length(x)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s-ES" altLang="zh-CN" dirty="0"/>
              <a:t>if x(n)&gt;=8</a:t>
            </a:r>
            <a:endParaRPr lang="zh-CN" altLang="zh-CN" dirty="0"/>
          </a:p>
          <a:p>
            <a:r>
              <a:rPr lang="es-ES" altLang="zh-CN" dirty="0"/>
              <a:t>        </a:t>
            </a:r>
            <a:r>
              <a:rPr lang="pt-BR" altLang="zh-CN" dirty="0"/>
              <a:t>y(n)=1;</a:t>
            </a:r>
            <a:endParaRPr lang="zh-CN" altLang="zh-CN" dirty="0"/>
          </a:p>
          <a:p>
            <a:r>
              <a:rPr lang="pt-BR" altLang="zh-CN" dirty="0"/>
              <a:t>    elseif x(n)&gt;=6</a:t>
            </a:r>
            <a:endParaRPr lang="zh-CN" altLang="zh-CN" dirty="0"/>
          </a:p>
          <a:p>
            <a:r>
              <a:rPr lang="pt-BR" altLang="zh-CN" dirty="0"/>
              <a:t>        y(n)=5-x(n)/2;</a:t>
            </a:r>
            <a:endParaRPr lang="zh-CN" altLang="zh-CN" dirty="0"/>
          </a:p>
          <a:p>
            <a:r>
              <a:rPr lang="pt-BR" altLang="zh-CN" dirty="0"/>
              <a:t>    elseif x(n)&gt;=4</a:t>
            </a:r>
            <a:endParaRPr lang="zh-CN" altLang="zh-CN" dirty="0"/>
          </a:p>
          <a:p>
            <a:r>
              <a:rPr lang="pt-BR" altLang="zh-CN" dirty="0"/>
              <a:t>        </a:t>
            </a:r>
            <a:r>
              <a:rPr lang="en-US" altLang="zh-CN" dirty="0"/>
              <a:t>y(n)=2;</a:t>
            </a:r>
            <a:endParaRPr lang="zh-CN" altLang="zh-CN" dirty="0"/>
          </a:p>
          <a:p>
            <a:r>
              <a:rPr lang="en-US" altLang="zh-CN" dirty="0"/>
              <a:t>    else</a:t>
            </a:r>
            <a:endParaRPr lang="zh-CN" altLang="zh-CN" dirty="0"/>
          </a:p>
          <a:p>
            <a:r>
              <a:rPr lang="en-US" altLang="zh-CN" dirty="0"/>
              <a:t>        y(n)=sqrt(x(n));</a:t>
            </a:r>
            <a:endParaRPr lang="zh-CN" altLang="zh-CN" dirty="0"/>
          </a:p>
          <a:p>
            <a:r>
              <a:rPr lang="en-US" altLang="zh-CN" dirty="0"/>
              <a:t>    end</a:t>
            </a:r>
            <a:endParaRPr lang="zh-CN" altLang="zh-CN" dirty="0"/>
          </a:p>
          <a:p>
            <a:r>
              <a:rPr lang="en-US" altLang="zh-CN" dirty="0"/>
              <a:t>end</a:t>
            </a:r>
            <a:endParaRPr lang="zh-CN" altLang="zh-CN" dirty="0"/>
          </a:p>
          <a:p>
            <a:r>
              <a:rPr lang="en-US" altLang="zh-CN" dirty="0"/>
              <a:t>plot(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axis([0 10 0 2.5]);</a:t>
            </a:r>
            <a:endParaRPr lang="zh-CN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1043305" y="260985"/>
            <a:ext cx="7044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 smtClean="0">
                <a:latin typeface="+mn-ea"/>
                <a:cs typeface="+mn-ea"/>
              </a:rPr>
              <a:t>5.1.3 If…else…end</a:t>
            </a:r>
            <a:r>
              <a:rPr lang="zh-CN" altLang="en-US" sz="4000" dirty="0" smtClean="0">
                <a:latin typeface="+mn-ea"/>
                <a:cs typeface="+mn-ea"/>
              </a:rPr>
              <a:t>循环结构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930400" y="452120"/>
            <a:ext cx="48456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FF0000"/>
                </a:solidFill>
                <a:latin typeface="+mn-ea"/>
                <a:cs typeface="+mn-ea"/>
              </a:rPr>
              <a:t>5.1.6 </a:t>
            </a:r>
            <a:r>
              <a:rPr lang="zh-CN" altLang="en-US" sz="4000" dirty="0" smtClean="0">
                <a:solidFill>
                  <a:srgbClr val="FF0000"/>
                </a:solidFill>
                <a:latin typeface="+mn-ea"/>
                <a:cs typeface="+mn-ea"/>
              </a:rPr>
              <a:t>流程控制语句</a:t>
            </a:r>
            <a:endParaRPr lang="zh-CN" altLang="en-US" sz="4000" dirty="0" smtClean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2189262" y="1700808"/>
            <a:ext cx="448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zh-CN" sz="3200" dirty="0"/>
              <a:t>．</a:t>
            </a:r>
            <a:r>
              <a:rPr lang="en-US" altLang="zh-CN" sz="3200" dirty="0"/>
              <a:t>break</a:t>
            </a:r>
            <a:r>
              <a:rPr lang="zh-CN" altLang="zh-CN" sz="3200" dirty="0"/>
              <a:t>命令</a:t>
            </a:r>
            <a:endParaRPr lang="zh-CN" altLang="zh-CN" sz="3200" dirty="0"/>
          </a:p>
        </p:txBody>
      </p:sp>
      <p:sp>
        <p:nvSpPr>
          <p:cNvPr id="14" name="文本框 12"/>
          <p:cNvSpPr txBox="1"/>
          <p:nvPr/>
        </p:nvSpPr>
        <p:spPr>
          <a:xfrm>
            <a:off x="2189262" y="2484185"/>
            <a:ext cx="481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2</a:t>
            </a:r>
            <a:r>
              <a:rPr lang="zh-CN" altLang="zh-CN" sz="3200" dirty="0"/>
              <a:t>．</a:t>
            </a:r>
            <a:r>
              <a:rPr lang="en-US" altLang="zh-CN" sz="3200" dirty="0"/>
              <a:t>continue</a:t>
            </a:r>
            <a:r>
              <a:rPr lang="zh-CN" altLang="zh-CN" sz="3200" dirty="0"/>
              <a:t>命令</a:t>
            </a:r>
            <a:endParaRPr lang="zh-CN" altLang="zh-CN" sz="3200" dirty="0"/>
          </a:p>
        </p:txBody>
      </p:sp>
      <p:sp>
        <p:nvSpPr>
          <p:cNvPr id="16" name="文本框 11"/>
          <p:cNvSpPr txBox="1"/>
          <p:nvPr/>
        </p:nvSpPr>
        <p:spPr>
          <a:xfrm>
            <a:off x="2189262" y="3204265"/>
            <a:ext cx="448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3</a:t>
            </a:r>
            <a:r>
              <a:rPr lang="zh-CN" altLang="zh-CN" sz="3200" dirty="0"/>
              <a:t>．</a:t>
            </a:r>
            <a:r>
              <a:rPr lang="en-US" altLang="zh-CN" sz="3200" dirty="0"/>
              <a:t>return</a:t>
            </a:r>
            <a:r>
              <a:rPr lang="zh-CN" altLang="zh-CN" sz="3200" dirty="0"/>
              <a:t>命令</a:t>
            </a:r>
            <a:endParaRPr lang="zh-CN" altLang="zh-CN" sz="3200" dirty="0"/>
          </a:p>
        </p:txBody>
      </p:sp>
      <p:sp>
        <p:nvSpPr>
          <p:cNvPr id="18" name="文本框 14"/>
          <p:cNvSpPr txBox="1"/>
          <p:nvPr/>
        </p:nvSpPr>
        <p:spPr>
          <a:xfrm>
            <a:off x="2189262" y="3924345"/>
            <a:ext cx="481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4</a:t>
            </a:r>
            <a:r>
              <a:rPr lang="zh-CN" altLang="zh-CN" sz="3200" dirty="0"/>
              <a:t>．</a:t>
            </a:r>
            <a:r>
              <a:rPr lang="en-US" altLang="zh-CN" sz="3200" dirty="0"/>
              <a:t>pause</a:t>
            </a:r>
            <a:r>
              <a:rPr lang="zh-CN" altLang="zh-CN" sz="3200" dirty="0"/>
              <a:t>命令</a:t>
            </a:r>
            <a:endParaRPr lang="zh-CN" altLang="zh-CN" sz="3200" dirty="0"/>
          </a:p>
        </p:txBody>
      </p:sp>
      <p:sp>
        <p:nvSpPr>
          <p:cNvPr id="21" name="文本框 16"/>
          <p:cNvSpPr txBox="1"/>
          <p:nvPr/>
        </p:nvSpPr>
        <p:spPr>
          <a:xfrm>
            <a:off x="2189262" y="4644425"/>
            <a:ext cx="448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5</a:t>
            </a:r>
            <a:r>
              <a:rPr lang="zh-CN" altLang="zh-CN" sz="3200" dirty="0"/>
              <a:t>．</a:t>
            </a:r>
            <a:r>
              <a:rPr lang="en-US" altLang="zh-CN" sz="3200" dirty="0"/>
              <a:t>keyboard</a:t>
            </a:r>
            <a:r>
              <a:rPr lang="zh-CN" altLang="zh-CN" sz="3200" dirty="0"/>
              <a:t>命令</a:t>
            </a:r>
            <a:endParaRPr lang="zh-CN" altLang="zh-CN" sz="3200" dirty="0"/>
          </a:p>
        </p:txBody>
      </p:sp>
      <p:sp>
        <p:nvSpPr>
          <p:cNvPr id="23" name="文本框 18"/>
          <p:cNvSpPr txBox="1"/>
          <p:nvPr/>
        </p:nvSpPr>
        <p:spPr>
          <a:xfrm>
            <a:off x="2189262" y="5364505"/>
            <a:ext cx="481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6</a:t>
            </a:r>
            <a:r>
              <a:rPr lang="zh-CN" altLang="zh-CN" sz="3200" dirty="0"/>
              <a:t>．</a:t>
            </a:r>
            <a:r>
              <a:rPr lang="en-US" altLang="zh-CN" sz="3200" dirty="0"/>
              <a:t>input</a:t>
            </a:r>
            <a:r>
              <a:rPr lang="zh-CN" altLang="zh-CN" sz="3200" dirty="0"/>
              <a:t>命令</a:t>
            </a:r>
            <a:endParaRPr lang="zh-CN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520" y="1281869"/>
            <a:ext cx="8496944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solidFill>
                  <a:srgbClr val="008080"/>
                </a:solidFill>
              </a:rPr>
              <a:t>1</a:t>
            </a:r>
            <a:r>
              <a:rPr lang="zh-CN" altLang="en-US" b="1" dirty="0">
                <a:solidFill>
                  <a:srgbClr val="008080"/>
                </a:solidFill>
              </a:rPr>
              <a:t>．</a:t>
            </a:r>
            <a:r>
              <a:rPr lang="en-US" altLang="zh-CN" b="1" dirty="0">
                <a:solidFill>
                  <a:srgbClr val="008080"/>
                </a:solidFill>
              </a:rPr>
              <a:t>break</a:t>
            </a:r>
            <a:r>
              <a:rPr lang="zh-CN" altLang="en-US" b="1" dirty="0">
                <a:solidFill>
                  <a:srgbClr val="008080"/>
                </a:solidFill>
              </a:rPr>
              <a:t>命令</a:t>
            </a:r>
            <a:endParaRPr lang="zh-CN" altLang="en-US" b="1" dirty="0">
              <a:solidFill>
                <a:srgbClr val="008080"/>
              </a:solidFill>
            </a:endParaRPr>
          </a:p>
          <a:p>
            <a:r>
              <a:rPr lang="en-US" altLang="zh-CN" dirty="0"/>
              <a:t>break</a:t>
            </a:r>
            <a:r>
              <a:rPr lang="zh-CN" altLang="en-US" dirty="0"/>
              <a:t>命令可以使包含</a:t>
            </a:r>
            <a:r>
              <a:rPr lang="en-US" altLang="zh-CN" dirty="0"/>
              <a:t>break</a:t>
            </a:r>
            <a:r>
              <a:rPr lang="zh-CN" altLang="en-US" dirty="0"/>
              <a:t>的最内层的</a:t>
            </a:r>
            <a:r>
              <a:rPr lang="en-US" altLang="zh-CN" dirty="0"/>
              <a:t>for</a:t>
            </a:r>
            <a:r>
              <a:rPr lang="zh-CN" altLang="en-US" dirty="0"/>
              <a:t>或</a:t>
            </a:r>
            <a:r>
              <a:rPr lang="en-US" altLang="zh-CN" dirty="0"/>
              <a:t>while</a:t>
            </a:r>
            <a:r>
              <a:rPr lang="zh-CN" altLang="en-US" dirty="0"/>
              <a:t>语句强制终止，立即跳出该结构，执行</a:t>
            </a:r>
            <a:r>
              <a:rPr lang="en-US" altLang="zh-CN" dirty="0"/>
              <a:t>end</a:t>
            </a:r>
            <a:r>
              <a:rPr lang="zh-CN" altLang="en-US" dirty="0"/>
              <a:t>后面的命令，</a:t>
            </a:r>
            <a:r>
              <a:rPr lang="en-US" altLang="zh-CN" dirty="0"/>
              <a:t>break</a:t>
            </a:r>
            <a:r>
              <a:rPr lang="zh-CN" altLang="en-US" dirty="0"/>
              <a:t>命令一般和</a:t>
            </a:r>
            <a:r>
              <a:rPr lang="en-US" altLang="zh-CN" dirty="0"/>
              <a:t>if</a:t>
            </a:r>
            <a:r>
              <a:rPr lang="zh-CN" altLang="en-US" dirty="0"/>
              <a:t>结构结合使用。</a:t>
            </a:r>
            <a:endParaRPr lang="zh-CN" altLang="en-US" dirty="0"/>
          </a:p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5.7】  </a:t>
            </a:r>
            <a:r>
              <a:rPr lang="zh-CN" altLang="en-US" dirty="0"/>
              <a:t>将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5.3】</a:t>
            </a:r>
            <a:r>
              <a:rPr lang="zh-CN" altLang="en-US" dirty="0"/>
              <a:t>增加条件，用</a:t>
            </a:r>
            <a:r>
              <a:rPr lang="en-US" altLang="zh-CN" dirty="0"/>
              <a:t>if</a:t>
            </a:r>
            <a:r>
              <a:rPr lang="zh-CN" altLang="en-US" dirty="0"/>
              <a:t>与</a:t>
            </a:r>
            <a:r>
              <a:rPr lang="en-US" altLang="zh-CN" dirty="0"/>
              <a:t>break</a:t>
            </a:r>
            <a:r>
              <a:rPr lang="zh-CN" altLang="en-US" dirty="0"/>
              <a:t>命令结合，停止</a:t>
            </a:r>
            <a:r>
              <a:rPr lang="en-US" altLang="zh-CN" dirty="0"/>
              <a:t>while</a:t>
            </a:r>
            <a:r>
              <a:rPr lang="zh-CN" altLang="en-US" dirty="0"/>
              <a:t>循环。计算</a:t>
            </a:r>
            <a:r>
              <a:rPr lang="en-US" altLang="zh-CN" dirty="0"/>
              <a:t>		       </a:t>
            </a:r>
            <a:r>
              <a:rPr lang="zh-CN" altLang="en-US" dirty="0"/>
              <a:t>    </a:t>
            </a:r>
            <a:r>
              <a:rPr lang="zh-CN" altLang="en-US" dirty="0" smtClean="0"/>
              <a:t>               的值</a:t>
            </a:r>
            <a:r>
              <a:rPr lang="zh-CN" altLang="en-US" dirty="0"/>
              <a:t>，当</a:t>
            </a:r>
            <a:r>
              <a:rPr lang="en-US" altLang="zh-CN" dirty="0"/>
              <a:t>y&gt;=3</a:t>
            </a:r>
            <a:r>
              <a:rPr lang="zh-CN" altLang="en-US" dirty="0"/>
              <a:t>时终止计算。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8664" y="2581250"/>
          <a:ext cx="2016805" cy="514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" r:id="rId1" imgW="1383665" imgH="355600" progId="Equation.DSMT4">
                  <p:embed/>
                </p:oleObj>
              </mc:Choice>
              <mc:Fallback>
                <p:oleObj name="" r:id="rId1" imgW="1383665" imgH="355600" progId="Equation.DSMT4">
                  <p:embed/>
                  <p:pic>
                    <p:nvPicPr>
                      <p:cNvPr id="0" name="图片 409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64" y="2581250"/>
                        <a:ext cx="2016805" cy="514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5"/>
          <p:cNvSpPr txBox="1"/>
          <p:nvPr/>
        </p:nvSpPr>
        <p:spPr>
          <a:xfrm>
            <a:off x="413000" y="3211810"/>
            <a:ext cx="8335464" cy="3291840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y=0;</a:t>
            </a:r>
            <a:endParaRPr lang="zh-CN" altLang="zh-CN" sz="1600" dirty="0"/>
          </a:p>
          <a:p>
            <a:r>
              <a:rPr lang="en-US" altLang="zh-CN" sz="1600" dirty="0"/>
              <a:t>n=1;</a:t>
            </a:r>
            <a:endParaRPr lang="zh-CN" altLang="zh-CN" sz="1600" dirty="0"/>
          </a:p>
          <a:p>
            <a:r>
              <a:rPr lang="en-US" altLang="zh-CN" sz="1600" dirty="0"/>
              <a:t>while n&lt;=100</a:t>
            </a:r>
            <a:endParaRPr lang="zh-CN" altLang="zh-CN" sz="1600" dirty="0"/>
          </a:p>
          <a:p>
            <a:r>
              <a:rPr lang="en-US" altLang="zh-CN" sz="1600" dirty="0"/>
              <a:t>           if y&lt;3</a:t>
            </a:r>
            <a:endParaRPr lang="zh-CN" altLang="zh-CN" sz="1600" dirty="0"/>
          </a:p>
          <a:p>
            <a:r>
              <a:rPr lang="en-US" altLang="zh-CN" sz="1600" dirty="0"/>
              <a:t>    	  y=y+1/(2*n-1);</a:t>
            </a:r>
            <a:endParaRPr lang="zh-CN" altLang="zh-CN" sz="1600" dirty="0"/>
          </a:p>
          <a:p>
            <a:r>
              <a:rPr lang="en-US" altLang="zh-CN" sz="1600" dirty="0"/>
              <a:t>    	  n=n+1;</a:t>
            </a:r>
            <a:endParaRPr lang="zh-CN" altLang="zh-CN" sz="1600" dirty="0"/>
          </a:p>
          <a:p>
            <a:r>
              <a:rPr lang="en-US" altLang="zh-CN" sz="1600" dirty="0"/>
              <a:t>                      z(n)=y;</a:t>
            </a:r>
            <a:endParaRPr lang="zh-CN" altLang="zh-CN" sz="1600" dirty="0"/>
          </a:p>
          <a:p>
            <a:r>
              <a:rPr lang="en-US" altLang="zh-CN" sz="1600" dirty="0"/>
              <a:t>           else</a:t>
            </a:r>
            <a:endParaRPr lang="zh-CN" altLang="zh-CN" sz="1600" dirty="0"/>
          </a:p>
          <a:p>
            <a:r>
              <a:rPr lang="en-US" altLang="zh-CN" sz="1600" dirty="0"/>
              <a:t>	  break</a:t>
            </a:r>
            <a:endParaRPr lang="zh-CN" altLang="zh-CN" sz="1600" dirty="0"/>
          </a:p>
          <a:p>
            <a:r>
              <a:rPr lang="en-US" altLang="zh-CN" sz="1600" dirty="0"/>
              <a:t>           end</a:t>
            </a:r>
            <a:endParaRPr lang="zh-CN" altLang="zh-CN" sz="1600" dirty="0"/>
          </a:p>
          <a:p>
            <a:r>
              <a:rPr lang="en-US" altLang="zh-CN" sz="1600" dirty="0"/>
              <a:t>end</a:t>
            </a:r>
            <a:endParaRPr lang="zh-CN" altLang="zh-CN" sz="1600" dirty="0"/>
          </a:p>
          <a:p>
            <a:r>
              <a:rPr lang="en-US" altLang="zh-CN" sz="1600" dirty="0" err="1"/>
              <a:t>mn</a:t>
            </a:r>
            <a:r>
              <a:rPr lang="en-US" altLang="zh-CN" sz="1600" dirty="0"/>
              <a:t>=n-2			        %y&lt;3</a:t>
            </a:r>
            <a:r>
              <a:rPr lang="zh-CN" altLang="zh-CN" sz="1600" dirty="0"/>
              <a:t>之前的</a:t>
            </a:r>
            <a:r>
              <a:rPr lang="en-US" altLang="zh-CN" sz="1600" dirty="0"/>
              <a:t>n</a:t>
            </a:r>
            <a:endParaRPr lang="zh-CN" altLang="zh-CN" sz="1600" dirty="0"/>
          </a:p>
          <a:p>
            <a:r>
              <a:rPr lang="en-US" altLang="zh-CN" sz="1600" dirty="0"/>
              <a:t>my=z(n-1)		</a:t>
            </a:r>
            <a:endParaRPr lang="zh-CN" altLang="zh-CN" sz="16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930400" y="452120"/>
            <a:ext cx="48456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 smtClean="0">
                <a:latin typeface="+mn-ea"/>
                <a:cs typeface="+mn-ea"/>
              </a:rPr>
              <a:t>5.1.6 </a:t>
            </a:r>
            <a:r>
              <a:rPr lang="zh-CN" altLang="en-US" sz="4000" dirty="0" smtClean="0">
                <a:latin typeface="+mn-ea"/>
                <a:cs typeface="+mn-ea"/>
              </a:rPr>
              <a:t>流程控制语句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7926" y="1628929"/>
            <a:ext cx="291411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计算结果如下：</a:t>
            </a:r>
            <a:endParaRPr lang="zh-CN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523723" y="2132856"/>
            <a:ext cx="8080725" cy="1198880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mn</a:t>
            </a:r>
            <a:r>
              <a:rPr lang="en-US" altLang="zh-CN" dirty="0"/>
              <a:t> =</a:t>
            </a:r>
            <a:endParaRPr lang="zh-CN" altLang="zh-CN" dirty="0"/>
          </a:p>
          <a:p>
            <a:r>
              <a:rPr lang="en-US" altLang="zh-CN" dirty="0"/>
              <a:t>    56</a:t>
            </a:r>
            <a:endParaRPr lang="zh-CN" altLang="zh-CN" dirty="0"/>
          </a:p>
          <a:p>
            <a:r>
              <a:rPr lang="en-US" altLang="zh-CN" dirty="0"/>
              <a:t>my =</a:t>
            </a:r>
            <a:endParaRPr lang="zh-CN" altLang="zh-CN" dirty="0"/>
          </a:p>
          <a:p>
            <a:r>
              <a:rPr lang="en-US" altLang="zh-CN" dirty="0"/>
              <a:t>    2.9944</a:t>
            </a:r>
            <a:endParaRPr lang="zh-CN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467927" y="3860661"/>
            <a:ext cx="83529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程序分析：</a:t>
            </a:r>
            <a:r>
              <a:rPr lang="en-US" altLang="zh-CN" sz="2000" dirty="0"/>
              <a:t>while</a:t>
            </a:r>
            <a:r>
              <a:rPr lang="zh-CN" altLang="zh-CN" sz="2000" dirty="0"/>
              <a:t>…</a:t>
            </a:r>
            <a:r>
              <a:rPr lang="en-US" altLang="zh-CN" sz="2000" dirty="0"/>
              <a:t>end</a:t>
            </a:r>
            <a:r>
              <a:rPr lang="zh-CN" altLang="zh-CN" sz="2000" dirty="0"/>
              <a:t>循环结构嵌套</a:t>
            </a:r>
            <a:r>
              <a:rPr lang="en-US" altLang="zh-CN" sz="2000" dirty="0"/>
              <a:t>if</a:t>
            </a:r>
            <a:r>
              <a:rPr lang="zh-CN" altLang="zh-CN" sz="2000" dirty="0"/>
              <a:t>…</a:t>
            </a:r>
            <a:r>
              <a:rPr lang="en-US" altLang="zh-CN" sz="2000" dirty="0"/>
              <a:t>else</a:t>
            </a:r>
            <a:r>
              <a:rPr lang="zh-CN" altLang="zh-CN" sz="2000" dirty="0"/>
              <a:t>…</a:t>
            </a:r>
            <a:r>
              <a:rPr lang="en-US" altLang="zh-CN" sz="2000" dirty="0"/>
              <a:t>end</a:t>
            </a:r>
            <a:r>
              <a:rPr lang="zh-CN" altLang="zh-CN" sz="2000" dirty="0"/>
              <a:t>分支结构，当</a:t>
            </a:r>
            <a:r>
              <a:rPr lang="en-US" altLang="zh-CN" sz="2000" dirty="0"/>
              <a:t>y&gt;=3</a:t>
            </a:r>
            <a:r>
              <a:rPr lang="zh-CN" altLang="zh-CN" sz="2000" dirty="0"/>
              <a:t>时跳出</a:t>
            </a:r>
            <a:r>
              <a:rPr lang="en-US" altLang="zh-CN" sz="2000" dirty="0"/>
              <a:t>while</a:t>
            </a:r>
            <a:r>
              <a:rPr lang="zh-CN" altLang="zh-CN" sz="2000" dirty="0"/>
              <a:t>循环结构，终止循环。</a:t>
            </a:r>
            <a:endParaRPr lang="zh-CN" altLang="zh-CN" sz="2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930400" y="452120"/>
            <a:ext cx="48456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latin typeface="+mn-ea"/>
                <a:cs typeface="+mn-ea"/>
              </a:rPr>
              <a:t>5.1.6 </a:t>
            </a:r>
            <a:r>
              <a:rPr lang="zh-CN" altLang="en-US" sz="4000" dirty="0" smtClean="0">
                <a:latin typeface="+mn-ea"/>
                <a:cs typeface="+mn-ea"/>
              </a:rPr>
              <a:t>流程控制语句</a:t>
            </a:r>
            <a:endParaRPr lang="zh-CN" altLang="zh-CN" sz="400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spAutoFit/>
          </a:bodyPr>
          <a:lstStyle/>
          <a:p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2195830" y="2420620"/>
            <a:ext cx="45008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>
                <a:solidFill>
                  <a:srgbClr val="FF0000"/>
                </a:solidFill>
                <a:latin typeface="+mn-ea"/>
                <a:cs typeface="+mn-ea"/>
              </a:rPr>
              <a:t>5.2.3 </a:t>
            </a:r>
            <a:r>
              <a:rPr lang="en-US" altLang="zh-CN" sz="4000" dirty="0">
                <a:solidFill>
                  <a:srgbClr val="FF0000"/>
                </a:solidFill>
                <a:effectLst/>
                <a:sym typeface="+mn-ea"/>
              </a:rPr>
              <a:t>M</a:t>
            </a:r>
            <a:r>
              <a:rPr lang="zh-CN" altLang="zh-CN" sz="4000" dirty="0">
                <a:solidFill>
                  <a:srgbClr val="FF0000"/>
                </a:solidFill>
                <a:effectLst/>
                <a:sym typeface="+mn-ea"/>
              </a:rPr>
              <a:t>函数</a:t>
            </a:r>
            <a:r>
              <a:rPr lang="zh-CN" altLang="zh-CN" sz="4000" dirty="0">
                <a:solidFill>
                  <a:srgbClr val="FF0000"/>
                </a:solidFill>
                <a:effectLst/>
                <a:sym typeface="+mn-ea"/>
              </a:rPr>
              <a:t>文件</a:t>
            </a:r>
            <a:endParaRPr lang="zh-CN" altLang="zh-CN" sz="4000" dirty="0" smtClean="0">
              <a:solidFill>
                <a:srgbClr val="FF0000"/>
              </a:solidFill>
              <a:effectLst/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80176" y="2324455"/>
            <a:ext cx="700757" cy="2845750"/>
            <a:chOff x="2221905" y="2324456"/>
            <a:chExt cx="700757" cy="2845750"/>
          </a:xfrm>
        </p:grpSpPr>
        <p:sp>
          <p:nvSpPr>
            <p:cNvPr id="15" name="椭圆 14"/>
            <p:cNvSpPr/>
            <p:nvPr/>
          </p:nvSpPr>
          <p:spPr>
            <a:xfrm>
              <a:off x="2521009" y="4768553"/>
              <a:ext cx="401653" cy="401653"/>
            </a:xfrm>
            <a:prstGeom prst="ellipse">
              <a:avLst/>
            </a:pr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7"/>
            <p:cNvSpPr/>
            <p:nvPr/>
          </p:nvSpPr>
          <p:spPr>
            <a:xfrm>
              <a:off x="2230452" y="2333002"/>
              <a:ext cx="299103" cy="2538101"/>
            </a:xfrm>
            <a:custGeom>
              <a:avLst/>
              <a:gdLst>
                <a:gd name="connsiteX0" fmla="*/ 299103 w 299103"/>
                <a:gd name="connsiteY0" fmla="*/ 2538101 h 2538101"/>
                <a:gd name="connsiteX1" fmla="*/ 0 w 299103"/>
                <a:gd name="connsiteY1" fmla="*/ 2333002 h 2538101"/>
                <a:gd name="connsiteX2" fmla="*/ 0 w 299103"/>
                <a:gd name="connsiteY2" fmla="*/ 0 h 25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103" h="2538101">
                  <a:moveTo>
                    <a:pt x="299103" y="2538101"/>
                  </a:moveTo>
                  <a:lnTo>
                    <a:pt x="0" y="2333002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5400000" flipH="1">
              <a:off x="2230451" y="2315910"/>
              <a:ext cx="162370" cy="179461"/>
            </a:xfrm>
            <a:prstGeom prst="triangl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51803" y="1540287"/>
            <a:ext cx="68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说明：</a:t>
            </a:r>
            <a:endParaRPr lang="zh-CN" altLang="zh-CN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367183" y="2868620"/>
            <a:ext cx="700757" cy="2845750"/>
            <a:chOff x="2221905" y="2324456"/>
            <a:chExt cx="700757" cy="2845750"/>
          </a:xfrm>
        </p:grpSpPr>
        <p:sp>
          <p:nvSpPr>
            <p:cNvPr id="20" name="椭圆 19"/>
            <p:cNvSpPr/>
            <p:nvPr/>
          </p:nvSpPr>
          <p:spPr>
            <a:xfrm>
              <a:off x="2521009" y="4768553"/>
              <a:ext cx="401653" cy="401653"/>
            </a:xfrm>
            <a:prstGeom prst="ellipse">
              <a:avLst/>
            </a:pr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14"/>
            <p:cNvSpPr/>
            <p:nvPr/>
          </p:nvSpPr>
          <p:spPr>
            <a:xfrm>
              <a:off x="2230452" y="2333002"/>
              <a:ext cx="299103" cy="2538101"/>
            </a:xfrm>
            <a:custGeom>
              <a:avLst/>
              <a:gdLst>
                <a:gd name="connsiteX0" fmla="*/ 299103 w 299103"/>
                <a:gd name="connsiteY0" fmla="*/ 2538101 h 2538101"/>
                <a:gd name="connsiteX1" fmla="*/ 0 w 299103"/>
                <a:gd name="connsiteY1" fmla="*/ 2333002 h 2538101"/>
                <a:gd name="connsiteX2" fmla="*/ 0 w 299103"/>
                <a:gd name="connsiteY2" fmla="*/ 0 h 25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103" h="2538101">
                  <a:moveTo>
                    <a:pt x="299103" y="2538101"/>
                  </a:moveTo>
                  <a:lnTo>
                    <a:pt x="0" y="2333002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5400000" flipH="1">
              <a:off x="2230451" y="2315910"/>
              <a:ext cx="162370" cy="179461"/>
            </a:xfrm>
            <a:prstGeom prst="triangl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32868" y="2380922"/>
            <a:ext cx="20367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（</a:t>
            </a:r>
            <a:r>
              <a:rPr lang="en-US" altLang="zh-CN" sz="1600" dirty="0"/>
              <a:t>1</a:t>
            </a:r>
            <a:r>
              <a:rPr lang="zh-CN" altLang="zh-CN" sz="1600" dirty="0"/>
              <a:t>）函数声明行以“</a:t>
            </a:r>
            <a:r>
              <a:rPr lang="en-US" altLang="zh-CN" sz="1600" dirty="0"/>
              <a:t>function</a:t>
            </a:r>
            <a:r>
              <a:rPr lang="zh-CN" altLang="zh-CN" sz="1600" dirty="0"/>
              <a:t>”引导，是</a:t>
            </a:r>
            <a:r>
              <a:rPr lang="en-US" altLang="zh-CN" sz="1600" dirty="0"/>
              <a:t>M</a:t>
            </a:r>
            <a:r>
              <a:rPr lang="zh-CN" altLang="zh-CN" sz="1600" dirty="0"/>
              <a:t>函数文件必须有的，</a:t>
            </a:r>
            <a:r>
              <a:rPr lang="en-US" altLang="zh-CN" sz="1600" dirty="0"/>
              <a:t>M</a:t>
            </a:r>
            <a:r>
              <a:rPr lang="zh-CN" altLang="zh-CN" sz="1600" dirty="0"/>
              <a:t>脚本文件没有；函数名和文件名一致，当不一致时，</a:t>
            </a:r>
            <a:r>
              <a:rPr lang="en-US" altLang="zh-CN" sz="1600" dirty="0"/>
              <a:t>MATLAB</a:t>
            </a:r>
            <a:r>
              <a:rPr lang="zh-CN" altLang="zh-CN" sz="1600" dirty="0"/>
              <a:t>以文件名为准</a:t>
            </a:r>
            <a:r>
              <a:rPr lang="zh-CN" altLang="en-US" sz="1600" dirty="0"/>
              <a:t>，例如</a:t>
            </a:r>
            <a:r>
              <a:rPr lang="en-US" altLang="zh-CN" sz="1600" dirty="0"/>
              <a:t>Ex0502</a:t>
            </a:r>
            <a:r>
              <a:rPr lang="zh-CN" altLang="zh-CN" sz="1600" dirty="0"/>
              <a:t>函数保存在</a:t>
            </a:r>
            <a:r>
              <a:rPr lang="en-US" altLang="zh-CN" sz="1600" dirty="0"/>
              <a:t>Ex0502.m</a:t>
            </a:r>
            <a:r>
              <a:rPr lang="zh-CN" altLang="zh-CN" sz="1600" dirty="0"/>
              <a:t>文件中。</a:t>
            </a:r>
            <a:endParaRPr lang="zh-CN" altLang="zh-CN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975361" y="1338220"/>
            <a:ext cx="1710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/>
              <a:t>函数声明行的格式：</a:t>
            </a:r>
            <a:endParaRPr lang="zh-CN" altLang="zh-CN" sz="1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067942" y="1590752"/>
            <a:ext cx="3953852" cy="307777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function [</a:t>
            </a:r>
            <a:r>
              <a:rPr lang="zh-CN" altLang="zh-CN" sz="1400" dirty="0"/>
              <a:t>输出变量列表</a:t>
            </a:r>
            <a:r>
              <a:rPr lang="en-US" altLang="zh-CN" sz="1400" dirty="0"/>
              <a:t>]=</a:t>
            </a:r>
            <a:r>
              <a:rPr lang="zh-CN" altLang="zh-CN" sz="1400" dirty="0"/>
              <a:t>函数名（输入变量列表）</a:t>
            </a:r>
            <a:endParaRPr lang="zh-CN" altLang="zh-CN" sz="1400" dirty="0"/>
          </a:p>
        </p:txBody>
      </p:sp>
      <p:sp>
        <p:nvSpPr>
          <p:cNvPr id="26" name="矩形: 圆角 19"/>
          <p:cNvSpPr/>
          <p:nvPr/>
        </p:nvSpPr>
        <p:spPr>
          <a:xfrm>
            <a:off x="2975362" y="1338220"/>
            <a:ext cx="4157529" cy="662779"/>
          </a:xfrm>
          <a:prstGeom prst="roundRect">
            <a:avLst/>
          </a:prstGeom>
          <a:noFill/>
          <a:ln>
            <a:solidFill>
              <a:srgbClr val="183C5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上 20"/>
          <p:cNvSpPr/>
          <p:nvPr/>
        </p:nvSpPr>
        <p:spPr>
          <a:xfrm rot="3180209">
            <a:off x="2424540" y="1899054"/>
            <a:ext cx="299103" cy="504849"/>
          </a:xfrm>
          <a:prstGeom prst="upArrow">
            <a:avLst>
              <a:gd name="adj1" fmla="val 36270"/>
              <a:gd name="adj2" fmla="val 49438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350097" y="3119587"/>
            <a:ext cx="18715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（</a:t>
            </a:r>
            <a:r>
              <a:rPr lang="en-US" altLang="zh-CN" sz="1600" dirty="0"/>
              <a:t>2</a:t>
            </a:r>
            <a:r>
              <a:rPr lang="zh-CN" altLang="zh-CN" sz="1600" dirty="0"/>
              <a:t>）</a:t>
            </a:r>
            <a:r>
              <a:rPr lang="en-US" altLang="zh-CN" sz="1600" dirty="0"/>
              <a:t>H1</a:t>
            </a:r>
            <a:r>
              <a:rPr lang="zh-CN" altLang="zh-CN" sz="1600" dirty="0"/>
              <a:t>行通常包含大写的函数文件名，可以提供</a:t>
            </a:r>
            <a:r>
              <a:rPr lang="en-US" altLang="zh-CN" sz="1600" dirty="0"/>
              <a:t>help</a:t>
            </a:r>
            <a:r>
              <a:rPr lang="zh-CN" altLang="zh-CN" sz="1600" dirty="0"/>
              <a:t>和</a:t>
            </a:r>
            <a:r>
              <a:rPr lang="en-US" altLang="zh-CN" sz="1600" dirty="0"/>
              <a:t>look for</a:t>
            </a:r>
            <a:r>
              <a:rPr lang="zh-CN" altLang="zh-CN" sz="1600" dirty="0"/>
              <a:t>关键词用于查询。</a:t>
            </a:r>
            <a:endParaRPr lang="zh-CN" altLang="zh-CN" sz="16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4297111" y="2370122"/>
            <a:ext cx="700757" cy="2845750"/>
            <a:chOff x="2221905" y="2324456"/>
            <a:chExt cx="700757" cy="2845750"/>
          </a:xfrm>
        </p:grpSpPr>
        <p:sp>
          <p:nvSpPr>
            <p:cNvPr id="30" name="椭圆 29"/>
            <p:cNvSpPr/>
            <p:nvPr/>
          </p:nvSpPr>
          <p:spPr>
            <a:xfrm>
              <a:off x="2521009" y="4768553"/>
              <a:ext cx="401653" cy="401653"/>
            </a:xfrm>
            <a:prstGeom prst="ellipse">
              <a:avLst/>
            </a:pr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24"/>
            <p:cNvSpPr/>
            <p:nvPr/>
          </p:nvSpPr>
          <p:spPr>
            <a:xfrm>
              <a:off x="2230452" y="2333002"/>
              <a:ext cx="299103" cy="2538101"/>
            </a:xfrm>
            <a:custGeom>
              <a:avLst/>
              <a:gdLst>
                <a:gd name="connsiteX0" fmla="*/ 299103 w 299103"/>
                <a:gd name="connsiteY0" fmla="*/ 2538101 h 2538101"/>
                <a:gd name="connsiteX1" fmla="*/ 0 w 299103"/>
                <a:gd name="connsiteY1" fmla="*/ 2333002 h 2538101"/>
                <a:gd name="connsiteX2" fmla="*/ 0 w 299103"/>
                <a:gd name="connsiteY2" fmla="*/ 0 h 25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103" h="2538101">
                  <a:moveTo>
                    <a:pt x="299103" y="2538101"/>
                  </a:moveTo>
                  <a:lnTo>
                    <a:pt x="0" y="2333002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 flipH="1">
              <a:off x="2230451" y="2315910"/>
              <a:ext cx="162370" cy="179461"/>
            </a:xfrm>
            <a:prstGeom prst="triangl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964959" y="2832641"/>
            <a:ext cx="700757" cy="2845750"/>
            <a:chOff x="2221905" y="2324456"/>
            <a:chExt cx="700757" cy="2845750"/>
          </a:xfrm>
        </p:grpSpPr>
        <p:sp>
          <p:nvSpPr>
            <p:cNvPr id="34" name="椭圆 33"/>
            <p:cNvSpPr/>
            <p:nvPr/>
          </p:nvSpPr>
          <p:spPr>
            <a:xfrm>
              <a:off x="2521009" y="4768553"/>
              <a:ext cx="401653" cy="401653"/>
            </a:xfrm>
            <a:prstGeom prst="ellipse">
              <a:avLst/>
            </a:pr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28"/>
            <p:cNvSpPr/>
            <p:nvPr/>
          </p:nvSpPr>
          <p:spPr>
            <a:xfrm>
              <a:off x="2230452" y="2333002"/>
              <a:ext cx="299103" cy="2538101"/>
            </a:xfrm>
            <a:custGeom>
              <a:avLst/>
              <a:gdLst>
                <a:gd name="connsiteX0" fmla="*/ 299103 w 299103"/>
                <a:gd name="connsiteY0" fmla="*/ 2538101 h 2538101"/>
                <a:gd name="connsiteX1" fmla="*/ 0 w 299103"/>
                <a:gd name="connsiteY1" fmla="*/ 2333002 h 2538101"/>
                <a:gd name="connsiteX2" fmla="*/ 0 w 299103"/>
                <a:gd name="connsiteY2" fmla="*/ 0 h 25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103" h="2538101">
                  <a:moveTo>
                    <a:pt x="299103" y="2538101"/>
                  </a:moveTo>
                  <a:lnTo>
                    <a:pt x="0" y="2333002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5400000" flipH="1">
              <a:off x="2230451" y="2315910"/>
              <a:ext cx="162370" cy="179461"/>
            </a:xfrm>
            <a:prstGeom prst="triangl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692378" y="2324454"/>
            <a:ext cx="700757" cy="2845750"/>
            <a:chOff x="2221905" y="2324456"/>
            <a:chExt cx="700757" cy="2845750"/>
          </a:xfrm>
        </p:grpSpPr>
        <p:sp>
          <p:nvSpPr>
            <p:cNvPr id="38" name="椭圆 37"/>
            <p:cNvSpPr/>
            <p:nvPr/>
          </p:nvSpPr>
          <p:spPr>
            <a:xfrm>
              <a:off x="2521009" y="4768553"/>
              <a:ext cx="401653" cy="401653"/>
            </a:xfrm>
            <a:prstGeom prst="ellipse">
              <a:avLst/>
            </a:pr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2"/>
            <p:cNvSpPr/>
            <p:nvPr/>
          </p:nvSpPr>
          <p:spPr>
            <a:xfrm>
              <a:off x="2230452" y="2333002"/>
              <a:ext cx="299103" cy="2538101"/>
            </a:xfrm>
            <a:custGeom>
              <a:avLst/>
              <a:gdLst>
                <a:gd name="connsiteX0" fmla="*/ 299103 w 299103"/>
                <a:gd name="connsiteY0" fmla="*/ 2538101 h 2538101"/>
                <a:gd name="connsiteX1" fmla="*/ 0 w 299103"/>
                <a:gd name="connsiteY1" fmla="*/ 2333002 h 2538101"/>
                <a:gd name="connsiteX2" fmla="*/ 0 w 299103"/>
                <a:gd name="connsiteY2" fmla="*/ 0 h 25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103" h="2538101">
                  <a:moveTo>
                    <a:pt x="299103" y="2538101"/>
                  </a:moveTo>
                  <a:lnTo>
                    <a:pt x="0" y="2333002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 flipH="1">
              <a:off x="2230451" y="2315910"/>
              <a:ext cx="162370" cy="179461"/>
            </a:xfrm>
            <a:prstGeom prst="triangle">
              <a:avLst/>
            </a:prstGeom>
            <a:solidFill>
              <a:srgbClr val="00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4309932" y="2653355"/>
            <a:ext cx="1656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（</a:t>
            </a:r>
            <a:r>
              <a:rPr lang="en-US" altLang="zh-CN" sz="1600" dirty="0"/>
              <a:t>3</a:t>
            </a:r>
            <a:r>
              <a:rPr lang="zh-CN" altLang="zh-CN" sz="1600" dirty="0"/>
              <a:t>）在线帮助文本通常包含函数输入、输出变量的含义和格式说明。</a:t>
            </a:r>
            <a:endParaRPr lang="zh-CN" altLang="zh-CN" sz="1600" dirty="0"/>
          </a:p>
        </p:txBody>
      </p:sp>
      <p:sp>
        <p:nvSpPr>
          <p:cNvPr id="42" name="文本框 41"/>
          <p:cNvSpPr txBox="1"/>
          <p:nvPr/>
        </p:nvSpPr>
        <p:spPr>
          <a:xfrm>
            <a:off x="5974938" y="3030990"/>
            <a:ext cx="1753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（</a:t>
            </a:r>
            <a:r>
              <a:rPr lang="en-US" altLang="zh-CN" sz="1600" dirty="0"/>
              <a:t>4</a:t>
            </a:r>
            <a:r>
              <a:rPr lang="zh-CN" altLang="zh-CN" sz="1600" dirty="0"/>
              <a:t>）编写和修改记录一般在空</a:t>
            </a:r>
            <a:r>
              <a:rPr lang="en-US" altLang="zh-CN" sz="1600" dirty="0"/>
              <a:t>1</a:t>
            </a:r>
            <a:r>
              <a:rPr lang="zh-CN" altLang="zh-CN" sz="1600" dirty="0"/>
              <a:t>行后，记录作者、日期和版本记录，用于软件档案管理。</a:t>
            </a:r>
            <a:endParaRPr lang="zh-CN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698075" y="2495371"/>
            <a:ext cx="15467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（</a:t>
            </a:r>
            <a:r>
              <a:rPr lang="en-US" altLang="zh-CN" sz="1600" dirty="0"/>
              <a:t>5</a:t>
            </a:r>
            <a:r>
              <a:rPr lang="zh-CN" altLang="zh-CN" sz="1600" dirty="0"/>
              <a:t>）函数体由</a:t>
            </a:r>
            <a:r>
              <a:rPr lang="en-US" altLang="zh-CN" sz="1600" dirty="0"/>
              <a:t>MATLAB</a:t>
            </a:r>
            <a:r>
              <a:rPr lang="zh-CN" altLang="zh-CN" sz="1600" dirty="0"/>
              <a:t>的命令或者通过流程控制结构组织的命令组成。通过函数体实现函数的功能。</a:t>
            </a:r>
            <a:endParaRPr lang="zh-CN" altLang="zh-CN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2164715" y="211455"/>
            <a:ext cx="45008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>
                <a:solidFill>
                  <a:schemeClr val="tx1"/>
                </a:solidFill>
                <a:latin typeface="+mn-ea"/>
                <a:cs typeface="+mn-ea"/>
              </a:rPr>
              <a:t>5.2.3 </a:t>
            </a:r>
            <a:r>
              <a:rPr lang="en-US" altLang="zh-CN" sz="4000" dirty="0">
                <a:solidFill>
                  <a:schemeClr val="tx1"/>
                </a:solidFill>
                <a:effectLst/>
                <a:sym typeface="+mn-ea"/>
              </a:rPr>
              <a:t>M</a:t>
            </a:r>
            <a:r>
              <a:rPr lang="zh-CN" altLang="zh-CN" sz="4000" dirty="0">
                <a:solidFill>
                  <a:schemeClr val="tx1"/>
                </a:solidFill>
                <a:effectLst/>
                <a:sym typeface="+mn-ea"/>
              </a:rPr>
              <a:t>函数文件</a:t>
            </a:r>
            <a:endParaRPr lang="zh-CN" altLang="zh-CN" sz="4000" dirty="0" smtClean="0">
              <a:solidFill>
                <a:schemeClr val="tx1"/>
              </a:solidFill>
              <a:effectLst/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7504" y="1268760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</a:t>
            </a:r>
            <a:r>
              <a:rPr lang="zh-CN" altLang="zh-CN" dirty="0"/>
              <a:t>在</a:t>
            </a:r>
            <a:r>
              <a:rPr lang="en-US" altLang="zh-CN" dirty="0"/>
              <a:t>MATLAB</a:t>
            </a:r>
            <a:r>
              <a:rPr lang="zh-CN" altLang="zh-CN" dirty="0"/>
              <a:t>界面中选择菜单“</a:t>
            </a:r>
            <a:r>
              <a:rPr lang="en-US" altLang="zh-CN" dirty="0"/>
              <a:t>File</a:t>
            </a:r>
            <a:r>
              <a:rPr lang="zh-CN" altLang="zh-CN" dirty="0"/>
              <a:t>”→“</a:t>
            </a:r>
            <a:r>
              <a:rPr lang="en-US" altLang="zh-CN" dirty="0"/>
              <a:t>New</a:t>
            </a:r>
            <a:r>
              <a:rPr lang="zh-CN" altLang="zh-CN" dirty="0"/>
              <a:t>”→“</a:t>
            </a:r>
            <a:r>
              <a:rPr lang="en-US" altLang="zh-CN" dirty="0"/>
              <a:t>Function</a:t>
            </a:r>
            <a:r>
              <a:rPr lang="zh-CN" altLang="zh-CN" dirty="0"/>
              <a:t>”命令，则会创建一个新的函数文件并自动生成函数语句，函数文件内容如下：</a:t>
            </a:r>
            <a:endParaRPr lang="zh-CN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467544" y="2132856"/>
            <a:ext cx="8361346" cy="2031325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function [outputArg1,outputArg2] = untitled4(inputArg1,inputArg2)</a:t>
            </a:r>
            <a:endParaRPr lang="en-US" altLang="zh-CN" dirty="0"/>
          </a:p>
          <a:p>
            <a:r>
              <a:rPr lang="en-US" altLang="zh-CN" dirty="0"/>
              <a:t>%UNTITLED4 </a:t>
            </a:r>
            <a:r>
              <a:rPr lang="zh-CN" altLang="en-US" dirty="0"/>
              <a:t>此处显示有关此函数的摘要</a:t>
            </a:r>
            <a:endParaRPr lang="en-US" altLang="zh-CN" dirty="0"/>
          </a:p>
          <a:p>
            <a:r>
              <a:rPr lang="en-US" altLang="zh-CN" dirty="0"/>
              <a:t>%</a:t>
            </a:r>
            <a:r>
              <a:rPr lang="zh-CN" altLang="en-US" dirty="0"/>
              <a:t>此处显示详细说明</a:t>
            </a:r>
            <a:endParaRPr lang="en-US" altLang="zh-CN" dirty="0"/>
          </a:p>
          <a:p>
            <a:r>
              <a:rPr lang="en-US" altLang="zh-CN" dirty="0"/>
              <a:t>outputArg1 = inputArg1;</a:t>
            </a:r>
            <a:endParaRPr lang="en-US" altLang="zh-CN" dirty="0"/>
          </a:p>
          <a:p>
            <a:r>
              <a:rPr lang="en-US" altLang="zh-CN" dirty="0"/>
              <a:t>outputArg2 = inputArg2;</a:t>
            </a:r>
            <a:endParaRPr lang="en-US" altLang="zh-CN" dirty="0"/>
          </a:p>
          <a:p>
            <a:r>
              <a:rPr lang="en-US" altLang="zh-CN" dirty="0"/>
              <a:t>end</a:t>
            </a:r>
            <a:endParaRPr lang="en-US" altLang="zh-CN" dirty="0"/>
          </a:p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67544" y="4725144"/>
            <a:ext cx="8361346" cy="1477328"/>
          </a:xfrm>
          <a:prstGeom prst="rect">
            <a:avLst/>
          </a:prstGeom>
          <a:solidFill>
            <a:srgbClr val="CCE8CF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函数声明行</a:t>
            </a:r>
            <a:endParaRPr lang="en-US" altLang="zh-CN" dirty="0"/>
          </a:p>
          <a:p>
            <a:r>
              <a:rPr lang="en-US" altLang="zh-CN" dirty="0"/>
              <a:t>H1</a:t>
            </a:r>
            <a:r>
              <a:rPr lang="zh-CN" altLang="en-US" dirty="0"/>
              <a:t>行（用</a:t>
            </a:r>
            <a:r>
              <a:rPr lang="en-US" altLang="zh-CN" dirty="0"/>
              <a:t>%</a:t>
            </a:r>
            <a:r>
              <a:rPr lang="zh-CN" altLang="en-US" dirty="0"/>
              <a:t>开头的注释行）</a:t>
            </a:r>
            <a:endParaRPr lang="en-US" altLang="zh-CN" dirty="0"/>
          </a:p>
          <a:p>
            <a:r>
              <a:rPr lang="zh-CN" altLang="en-US" dirty="0"/>
              <a:t>在线帮助文本，编写和修改记录（用</a:t>
            </a:r>
            <a:r>
              <a:rPr lang="en-US" altLang="zh-CN" dirty="0"/>
              <a:t>%</a:t>
            </a:r>
            <a:r>
              <a:rPr lang="zh-CN" altLang="en-US" dirty="0"/>
              <a:t>开头）</a:t>
            </a:r>
            <a:endParaRPr lang="en-US" altLang="zh-CN" dirty="0"/>
          </a:p>
          <a:p>
            <a:r>
              <a:rPr lang="zh-CN" altLang="en-US" dirty="0"/>
              <a:t>函数体</a:t>
            </a:r>
            <a:endParaRPr lang="en-US" altLang="zh-CN" dirty="0"/>
          </a:p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58441" y="4334767"/>
            <a:ext cx="3613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</a:t>
            </a:r>
            <a:r>
              <a:rPr lang="zh-CN" altLang="en-US" dirty="0"/>
              <a:t>函数文件的基本格式解释如下：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164715" y="211455"/>
            <a:ext cx="45008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>
                <a:solidFill>
                  <a:schemeClr val="tx1"/>
                </a:solidFill>
                <a:latin typeface="+mn-ea"/>
                <a:cs typeface="+mn-ea"/>
              </a:rPr>
              <a:t>5.2.3 </a:t>
            </a:r>
            <a:r>
              <a:rPr lang="en-US" altLang="zh-CN" sz="4000" dirty="0">
                <a:solidFill>
                  <a:schemeClr val="tx1"/>
                </a:solidFill>
                <a:effectLst/>
                <a:sym typeface="+mn-ea"/>
              </a:rPr>
              <a:t>M</a:t>
            </a:r>
            <a:r>
              <a:rPr lang="zh-CN" altLang="zh-CN" sz="4000" dirty="0">
                <a:solidFill>
                  <a:schemeClr val="tx1"/>
                </a:solidFill>
                <a:effectLst/>
                <a:sym typeface="+mn-ea"/>
              </a:rPr>
              <a:t>函数文件</a:t>
            </a:r>
            <a:endParaRPr lang="zh-CN" altLang="zh-CN" sz="4000" dirty="0" smtClean="0">
              <a:solidFill>
                <a:schemeClr val="tx1"/>
              </a:solidFill>
              <a:effectLst/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83895" y="548640"/>
                <a:ext cx="7630795" cy="119761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en-US"/>
                  <a:t>1</a:t>
                </a:r>
                <a:r>
                  <a:rPr lang="zh-CN" altLang="en-US"/>
                  <a:t>、设计一个</a:t>
                </a:r>
                <a:r>
                  <a:rPr lang="en-US" altLang="zh-CN"/>
                  <a:t>PID</a:t>
                </a:r>
                <a:r>
                  <a:rPr lang="zh-CN" altLang="en-US"/>
                  <a:t>控制器，实现对系统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𝐺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en-US"/>
                  <a:t>构成单位反馈的控制，当输入为正弦信号（参数值默认），且</a:t>
                </a:r>
                <a:r>
                  <a:rPr lang="en-US" altLang="zh-CN"/>
                  <a:t>PID</a:t>
                </a:r>
                <a:r>
                  <a:rPr lang="zh-CN" altLang="en-US"/>
                  <a:t>参数分别为</a:t>
                </a:r>
                <a:r>
                  <a:rPr lang="en-US" altLang="zh-CN"/>
                  <a:t>1</a:t>
                </a:r>
                <a:r>
                  <a:rPr lang="zh-CN" altLang="en-US"/>
                  <a:t>、</a:t>
                </a:r>
                <a:r>
                  <a:rPr lang="en-US" altLang="zh-CN"/>
                  <a:t>1</a:t>
                </a:r>
                <a:r>
                  <a:rPr lang="zh-CN" altLang="en-US"/>
                  <a:t>、</a:t>
                </a:r>
                <a:r>
                  <a:rPr lang="en-US" altLang="zh-CN"/>
                  <a:t>0.8</a:t>
                </a:r>
                <a:r>
                  <a:rPr lang="zh-CN" altLang="en-US"/>
                  <a:t>时，显示输出效果图。</a:t>
                </a:r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5" y="548640"/>
                <a:ext cx="7630795" cy="11976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-2147482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836295"/>
            <a:ext cx="5273040" cy="1266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2276475"/>
            <a:ext cx="4495800" cy="40055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-21474826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836295"/>
            <a:ext cx="4574540" cy="40792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04495"/>
            <a:ext cx="8879840" cy="768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60033"/>
            <a:ext cx="5200650" cy="2403475"/>
          </a:xfrm>
          <a:prstGeom prst="rect">
            <a:avLst/>
          </a:prstGeom>
        </p:spPr>
      </p:pic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85" y="2730500"/>
            <a:ext cx="4600575" cy="40963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NiMmVjNTBmMzk5YTllNTc5ODZiN2QxNmUzODYyOTcifQ=="/>
  <p:tag name="commondata" val="eyJoZGlkIjoiZDM3MWM2NzA1MzllNTgzMzFhZmEyMDdhYjU5N2Zj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5350</Words>
  <Application>WPS 演示</Application>
  <PresentationFormat>全屏显示(4:3)</PresentationFormat>
  <Paragraphs>393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楷体</vt:lpstr>
      <vt:lpstr>Times New Roman</vt:lpstr>
      <vt:lpstr>Symbol</vt:lpstr>
      <vt:lpstr>黑体</vt:lpstr>
      <vt:lpstr>Arial Unicode MS</vt:lpstr>
      <vt:lpstr>Calibri</vt:lpstr>
      <vt:lpstr>等线</vt:lpstr>
      <vt:lpstr>Cambria Math</vt:lpstr>
      <vt:lpstr>Office 主题</vt:lpstr>
      <vt:lpstr>Equation.DSMT4</vt:lpstr>
      <vt:lpstr>Equation.DSMT4</vt:lpstr>
      <vt:lpstr>Equation.DSMT4</vt:lpstr>
      <vt:lpstr>PowerPoint 演示文稿</vt:lpstr>
      <vt:lpstr>2.1.3 变  量</vt:lpstr>
      <vt:lpstr>矩阵输入</vt:lpstr>
      <vt:lpstr>矩阵输入</vt:lpstr>
      <vt:lpstr>矩阵输入</vt:lpstr>
      <vt:lpstr>矩阵输入</vt:lpstr>
      <vt:lpstr>字 符 串</vt:lpstr>
      <vt:lpstr>4.1.5 设置坐标轴和文字标注</vt:lpstr>
      <vt:lpstr>4.1.5 设置坐标轴和文字标注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Z</cp:lastModifiedBy>
  <cp:revision>580</cp:revision>
  <dcterms:created xsi:type="dcterms:W3CDTF">2017-08-30T06:26:00Z</dcterms:created>
  <dcterms:modified xsi:type="dcterms:W3CDTF">2025-12-23T23:18:19Z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4D9121644E0F4E8894A65F8D00304C92</vt:lpwstr>
  </property>
</Properties>
</file>