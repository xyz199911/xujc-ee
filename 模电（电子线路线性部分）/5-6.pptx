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2" r:id="rId12"/>
    <p:sldId id="266" r:id="rId13"/>
    <p:sldId id="267" r:id="rId14"/>
    <p:sldId id="268" r:id="rId15"/>
    <p:sldId id="269" r:id="rId16"/>
    <p:sldId id="270" r:id="rId17"/>
    <p:sldId id="271" r:id="rId18"/>
    <p:sldId id="274" r:id="rId19"/>
    <p:sldId id="275" r:id="rId20"/>
    <p:sldId id="265" r:id="rId21"/>
    <p:sldId id="277" r:id="rId22"/>
    <p:sldId id="278" r:id="rId23"/>
    <p:sldId id="279" r:id="rId24"/>
    <p:sldId id="280" r:id="rId25"/>
    <p:sldId id="282" r:id="rId26"/>
    <p:sldId id="283" r:id="rId27"/>
    <p:sldId id="287" r:id="rId28"/>
    <p:sldId id="284" r:id="rId29"/>
    <p:sldId id="285" r:id="rId30"/>
    <p:sldId id="286" r:id="rId31"/>
    <p:sldId id="293" r:id="rId32"/>
    <p:sldId id="294" r:id="rId33"/>
    <p:sldId id="295" r:id="rId34"/>
    <p:sldId id="298" r:id="rId35"/>
    <p:sldId id="299" r:id="rId36"/>
  </p:sldIdLst>
  <p:sldSz cx="9144000" cy="6858000" type="screen4x3"/>
  <p:notesSz cx="6858000" cy="9144000"/>
  <p:custDataLst>
    <p:tags r:id="rId40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gs" Target="tags/tag1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2.vml.rels><?xml version="1.0" encoding="UTF-8" standalone="yes"?>
<Relationships xmlns="http://schemas.openxmlformats.org/package/2006/relationships"><Relationship Id="rId5" Type="http://schemas.openxmlformats.org/officeDocument/2006/relationships/image" Target="../media/image28.wmf"/><Relationship Id="rId4" Type="http://schemas.openxmlformats.org/officeDocument/2006/relationships/image" Target="../media/image27.wmf"/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36.wmf"/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47.wmf"/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5.vml.rels><?xml version="1.0" encoding="UTF-8" standalone="yes"?>
<Relationships xmlns="http://schemas.openxmlformats.org/package/2006/relationships"><Relationship Id="rId5" Type="http://schemas.openxmlformats.org/officeDocument/2006/relationships/image" Target="../media/image54.wmf"/><Relationship Id="rId4" Type="http://schemas.openxmlformats.org/officeDocument/2006/relationships/image" Target="../media/image53.w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F9F7A4-FAF1-4DED-B1EE-9CBBE3BD9959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F9F7A4-FAF1-4DED-B1EE-9CBBE3BD9959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F9F7A4-FAF1-4DED-B1EE-9CBBE3BD9959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F9F7A4-FAF1-4DED-B1EE-9CBBE3BD9959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F9F7A4-FAF1-4DED-B1EE-9CBBE3BD9959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F9F7A4-FAF1-4DED-B1EE-9CBBE3BD9959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F9F7A4-FAF1-4DED-B1EE-9CBBE3BD9959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F9F7A4-FAF1-4DED-B1EE-9CBBE3BD9959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F9F7A4-FAF1-4DED-B1EE-9CBBE3BD9959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F9F7A4-FAF1-4DED-B1EE-9CBBE3BD9959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F9F7A4-FAF1-4DED-B1EE-9CBBE3BD9959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F9F7A4-FAF1-4DED-B1EE-9CBBE3BD9959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F9F7A4-FAF1-4DED-B1EE-9CBBE3BD9959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wmf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22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21.emf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image" Target="../media/image27.w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2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24.wmf"/><Relationship Id="rId13" Type="http://schemas.openxmlformats.org/officeDocument/2006/relationships/vmlDrawing" Target="../drawings/vmlDrawing2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29.emf"/><Relationship Id="rId10" Type="http://schemas.openxmlformats.org/officeDocument/2006/relationships/image" Target="../media/image28.wmf"/><Relationship Id="rId1" Type="http://schemas.openxmlformats.org/officeDocument/2006/relationships/oleObject" Target="../embeddings/oleObject3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36.w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35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34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33.wmf"/><Relationship Id="rId10" Type="http://schemas.openxmlformats.org/officeDocument/2006/relationships/vmlDrawing" Target="../drawings/vmlDrawing3.vml"/><Relationship Id="rId1" Type="http://schemas.openxmlformats.org/officeDocument/2006/relationships/oleObject" Target="../embeddings/oleObject8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43.emf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wmf"/><Relationship Id="rId8" Type="http://schemas.openxmlformats.org/officeDocument/2006/relationships/image" Target="../media/image47.wmf"/><Relationship Id="rId7" Type="http://schemas.openxmlformats.org/officeDocument/2006/relationships/oleObject" Target="../embeddings/oleObject15.bin"/><Relationship Id="rId6" Type="http://schemas.openxmlformats.org/officeDocument/2006/relationships/image" Target="../media/image46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44.wmf"/><Relationship Id="rId11" Type="http://schemas.openxmlformats.org/officeDocument/2006/relationships/vmlDrawing" Target="../drawings/vmlDrawing4.vml"/><Relationship Id="rId10" Type="http://schemas.openxmlformats.org/officeDocument/2006/relationships/slideLayout" Target="../slideLayouts/slideLayout6.xml"/><Relationship Id="rId1" Type="http://schemas.openxmlformats.org/officeDocument/2006/relationships/oleObject" Target="../embeddings/oleObject12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wmf"/><Relationship Id="rId8" Type="http://schemas.openxmlformats.org/officeDocument/2006/relationships/oleObject" Target="../embeddings/oleObject19.bin"/><Relationship Id="rId7" Type="http://schemas.openxmlformats.org/officeDocument/2006/relationships/image" Target="../media/image52.wmf"/><Relationship Id="rId6" Type="http://schemas.openxmlformats.org/officeDocument/2006/relationships/oleObject" Target="../embeddings/oleObject18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17.bin"/><Relationship Id="rId3" Type="http://schemas.openxmlformats.org/officeDocument/2006/relationships/image" Target="../media/image50.wmf"/><Relationship Id="rId2" Type="http://schemas.openxmlformats.org/officeDocument/2006/relationships/oleObject" Target="../embeddings/oleObject16.bin"/><Relationship Id="rId13" Type="http://schemas.openxmlformats.org/officeDocument/2006/relationships/vmlDrawing" Target="../drawings/vmlDrawing5.vml"/><Relationship Id="rId12" Type="http://schemas.openxmlformats.org/officeDocument/2006/relationships/slideLayout" Target="../slideLayouts/slideLayout6.xml"/><Relationship Id="rId11" Type="http://schemas.openxmlformats.org/officeDocument/2006/relationships/image" Target="../media/image54.wmf"/><Relationship Id="rId10" Type="http://schemas.openxmlformats.org/officeDocument/2006/relationships/oleObject" Target="../embeddings/oleObject20.bin"/><Relationship Id="rId1" Type="http://schemas.openxmlformats.org/officeDocument/2006/relationships/image" Target="../media/image49.emf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6.v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58.wmf"/><Relationship Id="rId6" Type="http://schemas.openxmlformats.org/officeDocument/2006/relationships/oleObject" Target="../embeddings/oleObject23.bin"/><Relationship Id="rId5" Type="http://schemas.openxmlformats.org/officeDocument/2006/relationships/image" Target="../media/image57.wmf"/><Relationship Id="rId4" Type="http://schemas.openxmlformats.org/officeDocument/2006/relationships/oleObject" Target="../embeddings/oleObject22.bin"/><Relationship Id="rId3" Type="http://schemas.openxmlformats.org/officeDocument/2006/relationships/image" Target="../media/image56.wmf"/><Relationship Id="rId2" Type="http://schemas.openxmlformats.org/officeDocument/2006/relationships/oleObject" Target="../embeddings/oleObject21.bin"/><Relationship Id="rId1" Type="http://schemas.openxmlformats.org/officeDocument/2006/relationships/image" Target="../media/image55.emf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3.wmf"/><Relationship Id="rId8" Type="http://schemas.openxmlformats.org/officeDocument/2006/relationships/oleObject" Target="../embeddings/oleObject27.bin"/><Relationship Id="rId7" Type="http://schemas.openxmlformats.org/officeDocument/2006/relationships/image" Target="../media/image62.wmf"/><Relationship Id="rId6" Type="http://schemas.openxmlformats.org/officeDocument/2006/relationships/oleObject" Target="../embeddings/oleObject26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25.bin"/><Relationship Id="rId3" Type="http://schemas.openxmlformats.org/officeDocument/2006/relationships/image" Target="../media/image60.wmf"/><Relationship Id="rId2" Type="http://schemas.openxmlformats.org/officeDocument/2006/relationships/oleObject" Target="../embeddings/oleObject24.bin"/><Relationship Id="rId15" Type="http://schemas.openxmlformats.org/officeDocument/2006/relationships/vmlDrawing" Target="../drawings/vmlDrawing7.vml"/><Relationship Id="rId14" Type="http://schemas.openxmlformats.org/officeDocument/2006/relationships/slideLayout" Target="../slideLayouts/slideLayout6.xml"/><Relationship Id="rId13" Type="http://schemas.openxmlformats.org/officeDocument/2006/relationships/image" Target="../media/image65.wmf"/><Relationship Id="rId12" Type="http://schemas.openxmlformats.org/officeDocument/2006/relationships/oleObject" Target="../embeddings/oleObject29.bin"/><Relationship Id="rId11" Type="http://schemas.openxmlformats.org/officeDocument/2006/relationships/image" Target="../media/image64.wmf"/><Relationship Id="rId10" Type="http://schemas.openxmlformats.org/officeDocument/2006/relationships/oleObject" Target="../embeddings/oleObject28.bin"/><Relationship Id="rId1" Type="http://schemas.openxmlformats.org/officeDocument/2006/relationships/image" Target="../media/image5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ctr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dirty="0"/>
              <a:t>习题解答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5-2(a)</a:t>
            </a:r>
            <a:endParaRPr lang="en-US" altLang="zh-CN" dirty="0"/>
          </a:p>
        </p:txBody>
      </p:sp>
      <p:pic>
        <p:nvPicPr>
          <p:cNvPr id="307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4625" y="1428750"/>
            <a:ext cx="3143250" cy="38528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5-2(b)</a:t>
            </a:r>
            <a:endParaRPr lang="en-US" altLang="zh-CN" dirty="0"/>
          </a:p>
        </p:txBody>
      </p:sp>
      <p:pic>
        <p:nvPicPr>
          <p:cNvPr id="4099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38" y="1571625"/>
            <a:ext cx="3786187" cy="40465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5-2(c)</a:t>
            </a:r>
            <a:endParaRPr lang="en-US" altLang="zh-CN" dirty="0"/>
          </a:p>
        </p:txBody>
      </p:sp>
      <p:pic>
        <p:nvPicPr>
          <p:cNvPr id="5123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500188"/>
            <a:ext cx="3643313" cy="46656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5-2(d)</a:t>
            </a:r>
            <a:endParaRPr lang="en-US" altLang="zh-CN" dirty="0"/>
          </a:p>
        </p:txBody>
      </p:sp>
      <p:pic>
        <p:nvPicPr>
          <p:cNvPr id="614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38" y="1357313"/>
            <a:ext cx="3714750" cy="4105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5-2(e)</a:t>
            </a:r>
            <a:endParaRPr lang="en-US" altLang="zh-CN" dirty="0"/>
          </a:p>
        </p:txBody>
      </p:sp>
      <p:pic>
        <p:nvPicPr>
          <p:cNvPr id="7171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0" y="1357313"/>
            <a:ext cx="3429000" cy="44211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5-2(f)</a:t>
            </a:r>
            <a:endParaRPr lang="en-US" altLang="zh-CN" dirty="0"/>
          </a:p>
        </p:txBody>
      </p:sp>
      <p:pic>
        <p:nvPicPr>
          <p:cNvPr id="819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38" y="1428750"/>
            <a:ext cx="3857625" cy="46529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5-2(g)</a:t>
            </a:r>
            <a:endParaRPr lang="en-US" altLang="zh-CN" dirty="0"/>
          </a:p>
        </p:txBody>
      </p:sp>
      <p:pic>
        <p:nvPicPr>
          <p:cNvPr id="9219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688" y="1428750"/>
            <a:ext cx="3929062" cy="41306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5-2(h)</a:t>
            </a:r>
            <a:endParaRPr lang="en-US" altLang="zh-CN" dirty="0"/>
          </a:p>
        </p:txBody>
      </p:sp>
      <p:pic>
        <p:nvPicPr>
          <p:cNvPr id="10243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38" y="1643063"/>
            <a:ext cx="4171950" cy="3714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3"/>
          <p:cNvSpPr>
            <a:spLocks noGrp="1"/>
          </p:cNvSpPr>
          <p:nvPr>
            <p:ph idx="1"/>
          </p:nvPr>
        </p:nvSpPr>
        <p:spPr>
          <a:xfrm>
            <a:off x="457200" y="2565400"/>
            <a:ext cx="8229600" cy="3560763"/>
          </a:xfrm>
          <a:ln/>
        </p:spPr>
        <p:txBody>
          <a:bodyPr vert="horz" wrap="square" lIns="91440" tIns="45720" rIns="91440" bIns="45720" anchor="t" anchorCtr="0"/>
          <a:p>
            <a:pPr algn="ctr" eaLnBrk="1" hangingPunct="1">
              <a:buNone/>
            </a:pPr>
            <a:r>
              <a:rPr lang="en-US" altLang="zh-CN" sz="7200" dirty="0"/>
              <a:t>5-3</a:t>
            </a:r>
            <a:endParaRPr lang="en-US" altLang="zh-CN" sz="7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b="1" dirty="0"/>
              <a:t>负反馈对信号源内阻的要求（目的：提高反馈效果 ）</a:t>
            </a:r>
            <a:endParaRPr lang="zh-CN" altLang="en-US" sz="4000" b="1" dirty="0"/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rgbClr val="FF3300"/>
                </a:solidFill>
              </a:rPr>
              <a:t>串联</a:t>
            </a:r>
            <a:r>
              <a:rPr lang="zh-CN" altLang="en-US" b="1" dirty="0"/>
              <a:t>负反馈要求信号源内阻</a:t>
            </a:r>
            <a:r>
              <a:rPr lang="en-US" altLang="zh-CN" b="1" dirty="0">
                <a:solidFill>
                  <a:srgbClr val="FF3300"/>
                </a:solidFill>
              </a:rPr>
              <a:t>Rs</a:t>
            </a:r>
            <a:r>
              <a:rPr lang="zh-CN" altLang="en-US" b="1" dirty="0">
                <a:solidFill>
                  <a:srgbClr val="FF3300"/>
                </a:solidFill>
              </a:rPr>
              <a:t>尽量小</a:t>
            </a:r>
            <a:endParaRPr lang="zh-CN" altLang="en-US" b="1" dirty="0">
              <a:solidFill>
                <a:srgbClr val="FF3300"/>
              </a:solidFill>
            </a:endParaRPr>
          </a:p>
          <a:p>
            <a:pPr eaLnBrk="1" hangingPunct="1"/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rgbClr val="0000FF"/>
                </a:solidFill>
              </a:rPr>
              <a:t>并联</a:t>
            </a:r>
            <a:r>
              <a:rPr lang="zh-CN" altLang="en-US" b="1" dirty="0"/>
              <a:t>负反馈要求信号源内阻</a:t>
            </a:r>
            <a:r>
              <a:rPr lang="en-US" altLang="zh-CN" b="1" dirty="0">
                <a:solidFill>
                  <a:srgbClr val="0000FF"/>
                </a:solidFill>
              </a:rPr>
              <a:t>Rs</a:t>
            </a:r>
            <a:r>
              <a:rPr lang="zh-CN" altLang="en-US" b="1" dirty="0">
                <a:solidFill>
                  <a:srgbClr val="0000FF"/>
                </a:solidFill>
              </a:rPr>
              <a:t>尽量大</a:t>
            </a:r>
            <a:endParaRPr lang="zh-CN" altLang="en-US" b="1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CN" b="1" dirty="0"/>
              <a:t>3</a:t>
            </a:r>
            <a:r>
              <a:rPr lang="zh-CN" altLang="en-US" b="1" dirty="0"/>
              <a:t>、负反馈放大器级联时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如果后级是串联负反馈（要求 </a:t>
            </a:r>
            <a:r>
              <a:rPr lang="en-US" altLang="zh-CN" b="1" dirty="0"/>
              <a:t>Rs</a:t>
            </a:r>
            <a:r>
              <a:rPr lang="zh-CN" altLang="en-US" b="1" dirty="0"/>
              <a:t>小），则前级应是电压负反馈（</a:t>
            </a:r>
            <a:r>
              <a:rPr lang="en-US" altLang="zh-CN" b="1" dirty="0"/>
              <a:t>R</a:t>
            </a:r>
            <a:r>
              <a:rPr lang="en-US" altLang="zh-CN" b="1" baseline="-25000" dirty="0"/>
              <a:t>of</a:t>
            </a:r>
            <a:r>
              <a:rPr lang="zh-CN" altLang="en-US" b="1" dirty="0"/>
              <a:t>小）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如果后级是并联负反馈（要求</a:t>
            </a:r>
            <a:r>
              <a:rPr lang="en-US" altLang="zh-CN" b="1" dirty="0"/>
              <a:t>Rs</a:t>
            </a:r>
            <a:r>
              <a:rPr lang="zh-CN" altLang="en-US" b="1" dirty="0"/>
              <a:t>大），则前级应是电流负反馈（ </a:t>
            </a:r>
            <a:r>
              <a:rPr lang="en-US" altLang="zh-CN" b="1" dirty="0"/>
              <a:t>R</a:t>
            </a:r>
            <a:r>
              <a:rPr lang="en-US" altLang="zh-CN" b="1" baseline="-25000" dirty="0"/>
              <a:t>of</a:t>
            </a:r>
            <a:r>
              <a:rPr lang="zh-CN" altLang="en-US" b="1" dirty="0"/>
              <a:t>大）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31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908050"/>
            <a:ext cx="8820150" cy="2060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5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75" y="3933825"/>
            <a:ext cx="4248150" cy="19478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5-3(a)</a:t>
            </a:r>
            <a:endParaRPr lang="en-US" altLang="zh-CN" dirty="0"/>
          </a:p>
        </p:txBody>
      </p:sp>
      <p:pic>
        <p:nvPicPr>
          <p:cNvPr id="14339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3125" y="1714500"/>
            <a:ext cx="4879975" cy="3714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idx="1"/>
          </p:nvPr>
        </p:nvSpPr>
        <p:spPr>
          <a:xfrm>
            <a:off x="457200" y="333375"/>
            <a:ext cx="8229600" cy="5792788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4400" b="1" dirty="0"/>
              <a:t>(a)</a:t>
            </a:r>
            <a:r>
              <a:rPr lang="zh-CN" altLang="en-US" sz="4400" b="1" dirty="0"/>
              <a:t>不合理。</a:t>
            </a:r>
            <a:endParaRPr lang="zh-CN" altLang="en-US" sz="4400" b="1" dirty="0"/>
          </a:p>
          <a:p>
            <a:pPr eaLnBrk="1" hangingPunct="1"/>
            <a:r>
              <a:rPr lang="zh-CN" altLang="en-US" sz="4400" b="1" dirty="0"/>
              <a:t>①第二级是并联反馈要求信号源内阻</a:t>
            </a:r>
            <a:r>
              <a:rPr lang="en-US" altLang="zh-CN" sz="4400" b="1" dirty="0"/>
              <a:t>R</a:t>
            </a:r>
            <a:r>
              <a:rPr lang="en-US" altLang="zh-CN" sz="4400" b="1" baseline="-25000" dirty="0"/>
              <a:t>s2</a:t>
            </a:r>
            <a:r>
              <a:rPr lang="zh-CN" altLang="en-US" sz="4400" b="1" dirty="0"/>
              <a:t>（即第一级输出电阻</a:t>
            </a:r>
            <a:r>
              <a:rPr lang="en-US" altLang="zh-CN" sz="4400" b="1" dirty="0"/>
              <a:t>R</a:t>
            </a:r>
            <a:r>
              <a:rPr lang="en-US" altLang="zh-CN" sz="4400" b="1" baseline="-25000" dirty="0"/>
              <a:t>of1</a:t>
            </a:r>
            <a:r>
              <a:rPr lang="zh-CN" altLang="en-US" sz="4400" b="1" dirty="0"/>
              <a:t>）尽量大，而第一级为电压反馈，输出电阻</a:t>
            </a:r>
            <a:r>
              <a:rPr lang="en-US" altLang="zh-CN" sz="4400" b="1" dirty="0"/>
              <a:t>R</a:t>
            </a:r>
            <a:r>
              <a:rPr lang="en-US" altLang="zh-CN" sz="4400" b="1" baseline="-25000" dirty="0"/>
              <a:t>of1</a:t>
            </a:r>
            <a:r>
              <a:rPr lang="zh-CN" altLang="en-US" sz="4400" b="1" dirty="0"/>
              <a:t>很小，所以不合理；</a:t>
            </a:r>
            <a:endParaRPr lang="zh-CN" altLang="en-US" sz="4400" b="1" dirty="0"/>
          </a:p>
          <a:p>
            <a:pPr eaLnBrk="1" hangingPunct="1"/>
            <a:r>
              <a:rPr lang="zh-CN" altLang="en-US" sz="4400" b="1" dirty="0"/>
              <a:t>②第一级并联反馈，要求信号源内阻</a:t>
            </a:r>
            <a:r>
              <a:rPr lang="en-US" altLang="zh-CN" sz="4400" b="1" dirty="0"/>
              <a:t>R</a:t>
            </a:r>
            <a:r>
              <a:rPr lang="en-US" altLang="zh-CN" sz="4400" b="1" baseline="-25000" dirty="0"/>
              <a:t>s</a:t>
            </a:r>
            <a:r>
              <a:rPr lang="zh-CN" altLang="en-US" sz="4400" b="1" dirty="0"/>
              <a:t>尽量大，而</a:t>
            </a:r>
            <a:r>
              <a:rPr lang="en-US" altLang="zh-CN" sz="4400" b="1" dirty="0"/>
              <a:t>R</a:t>
            </a:r>
            <a:r>
              <a:rPr lang="en-US" altLang="zh-CN" sz="4400" b="1" baseline="-25000" dirty="0"/>
              <a:t>s</a:t>
            </a:r>
            <a:r>
              <a:rPr lang="zh-CN" altLang="en-US" sz="4400" b="1" dirty="0"/>
              <a:t>很小，所以也不合理。</a:t>
            </a:r>
            <a:endParaRPr lang="zh-CN" altLang="en-US" sz="44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5-3(b)</a:t>
            </a:r>
            <a:endParaRPr lang="en-US" altLang="zh-CN" dirty="0"/>
          </a:p>
        </p:txBody>
      </p:sp>
      <p:pic>
        <p:nvPicPr>
          <p:cNvPr id="16387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1413" y="1268413"/>
            <a:ext cx="4330700" cy="48244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idx="1"/>
          </p:nvPr>
        </p:nvSpPr>
        <p:spPr>
          <a:xfrm>
            <a:off x="457200" y="333375"/>
            <a:ext cx="8229600" cy="5792788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4000" b="1" dirty="0"/>
              <a:t>（</a:t>
            </a:r>
            <a:r>
              <a:rPr lang="en-US" altLang="zh-CN" sz="4000" b="1" dirty="0"/>
              <a:t>b</a:t>
            </a:r>
            <a:r>
              <a:rPr lang="zh-CN" altLang="en-US" sz="4000" b="1" dirty="0"/>
              <a:t>）合理。</a:t>
            </a:r>
            <a:endParaRPr lang="zh-CN" altLang="en-US" sz="4000" b="1" dirty="0"/>
          </a:p>
          <a:p>
            <a:pPr eaLnBrk="1" hangingPunct="1"/>
            <a:r>
              <a:rPr lang="zh-CN" altLang="en-US" sz="4000" b="1" dirty="0"/>
              <a:t>①第二级是并联反馈要求信号源内阻</a:t>
            </a:r>
            <a:r>
              <a:rPr lang="en-US" altLang="zh-CN" sz="4000" b="1" dirty="0"/>
              <a:t>R</a:t>
            </a:r>
            <a:r>
              <a:rPr lang="en-US" altLang="zh-CN" sz="4000" b="1" baseline="-25000" dirty="0"/>
              <a:t>s2</a:t>
            </a:r>
            <a:r>
              <a:rPr lang="zh-CN" altLang="en-US" sz="4000" b="1" dirty="0"/>
              <a:t>（即第一级输出电阻</a:t>
            </a:r>
            <a:r>
              <a:rPr lang="en-US" altLang="zh-CN" sz="4000" b="1" dirty="0"/>
              <a:t>R</a:t>
            </a:r>
            <a:r>
              <a:rPr lang="en-US" altLang="zh-CN" sz="4000" b="1" baseline="-25000" dirty="0"/>
              <a:t>of1</a:t>
            </a:r>
            <a:r>
              <a:rPr lang="zh-CN" altLang="en-US" sz="4000" b="1" dirty="0"/>
              <a:t>）尽量大，而第一级为电流反馈（反馈元件为</a:t>
            </a:r>
            <a:r>
              <a:rPr lang="en-US" altLang="zh-CN" sz="4000" b="1" dirty="0"/>
              <a:t>R</a:t>
            </a:r>
            <a:r>
              <a:rPr lang="en-US" altLang="zh-CN" sz="4000" b="1" baseline="-25000" dirty="0"/>
              <a:t>E1</a:t>
            </a:r>
            <a:r>
              <a:rPr lang="zh-CN" altLang="en-US" sz="4000" b="1" dirty="0"/>
              <a:t>。</a:t>
            </a:r>
            <a:r>
              <a:rPr lang="en-US" altLang="zh-CN" sz="4000" b="1" dirty="0"/>
              <a:t>R</a:t>
            </a:r>
            <a:r>
              <a:rPr lang="en-US" altLang="zh-CN" sz="4000" b="1" baseline="-25000" dirty="0"/>
              <a:t>f1</a:t>
            </a:r>
            <a:r>
              <a:rPr lang="zh-CN" altLang="en-US" sz="4000" b="1" dirty="0"/>
              <a:t>没有交流负反馈），输出电阻</a:t>
            </a:r>
            <a:r>
              <a:rPr lang="en-US" altLang="zh-CN" sz="4000" b="1" dirty="0"/>
              <a:t>R</a:t>
            </a:r>
            <a:r>
              <a:rPr lang="en-US" altLang="zh-CN" sz="4000" b="1" baseline="-25000" dirty="0"/>
              <a:t>of1</a:t>
            </a:r>
            <a:r>
              <a:rPr lang="zh-CN" altLang="en-US" sz="4000" b="1" dirty="0"/>
              <a:t>很大，所以合理；。</a:t>
            </a:r>
            <a:endParaRPr lang="zh-CN" altLang="en-US" sz="4000" b="1" dirty="0"/>
          </a:p>
          <a:p>
            <a:pPr eaLnBrk="1" hangingPunct="1"/>
            <a:r>
              <a:rPr lang="zh-CN" altLang="en-US" sz="4000" b="1" dirty="0"/>
              <a:t>②第一级为串联负反馈，要求</a:t>
            </a:r>
            <a:r>
              <a:rPr lang="en-US" altLang="zh-CN" sz="4000" b="1" dirty="0"/>
              <a:t>R</a:t>
            </a:r>
            <a:r>
              <a:rPr lang="en-US" altLang="zh-CN" sz="4000" b="1" baseline="-25000" dirty="0"/>
              <a:t>s1</a:t>
            </a:r>
            <a:r>
              <a:rPr lang="zh-CN" altLang="en-US" sz="4000" b="1" dirty="0"/>
              <a:t>小，所以合理。</a:t>
            </a:r>
            <a:endParaRPr lang="zh-CN" altLang="en-US" sz="40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90762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5-9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）电路参数变化时 </a:t>
            </a:r>
            <a:r>
              <a:rPr lang="en-US" altLang="zh-CN" dirty="0"/>
              <a:t>v</a:t>
            </a:r>
            <a:r>
              <a:rPr lang="en-US" altLang="zh-CN" baseline="-25000" dirty="0"/>
              <a:t>o</a:t>
            </a:r>
            <a:r>
              <a:rPr lang="zh-CN" altLang="en-US" dirty="0"/>
              <a:t>的变化不大，较小的输入电阻。 </a:t>
            </a:r>
            <a:br>
              <a:rPr lang="zh-CN" altLang="en-US" dirty="0"/>
            </a:br>
            <a:r>
              <a:rPr lang="zh-CN" altLang="en-US" dirty="0">
                <a:solidFill>
                  <a:srgbClr val="FF3300"/>
                </a:solidFill>
              </a:rPr>
              <a:t>电压并联负反馈</a:t>
            </a:r>
            <a:r>
              <a:rPr lang="zh-CN" altLang="en-US" dirty="0"/>
              <a:t>  </a:t>
            </a:r>
            <a:endParaRPr lang="zh-CN" altLang="en-US" dirty="0"/>
          </a:p>
        </p:txBody>
      </p:sp>
      <p:pic>
        <p:nvPicPr>
          <p:cNvPr id="18435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013" y="2636838"/>
            <a:ext cx="6480175" cy="37480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01837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5-9</a:t>
            </a:r>
            <a:r>
              <a:rPr lang="zh-CN" altLang="en-US" sz="4000" b="1" dirty="0"/>
              <a:t>（</a:t>
            </a:r>
            <a:r>
              <a:rPr lang="en-US" altLang="zh-CN" sz="4000" b="1" dirty="0"/>
              <a:t>2</a:t>
            </a:r>
            <a:r>
              <a:rPr lang="zh-CN" altLang="en-US" sz="4000" b="1" dirty="0"/>
              <a:t>）负载变化时， </a:t>
            </a:r>
            <a:r>
              <a:rPr lang="en-US" altLang="zh-CN" sz="4000" b="1" dirty="0"/>
              <a:t>i</a:t>
            </a:r>
            <a:r>
              <a:rPr lang="en-US" altLang="zh-CN" sz="4000" b="1" baseline="-25000" dirty="0"/>
              <a:t>o</a:t>
            </a:r>
            <a:r>
              <a:rPr lang="zh-CN" altLang="en-US" sz="4000" b="1" dirty="0"/>
              <a:t>的变化不大，较大的输入电阻。</a:t>
            </a:r>
            <a:br>
              <a:rPr lang="zh-CN" altLang="en-US" sz="4000" b="1" dirty="0"/>
            </a:br>
            <a:r>
              <a:rPr lang="zh-CN" altLang="en-US" sz="4000" b="1" dirty="0">
                <a:solidFill>
                  <a:srgbClr val="FF3300"/>
                </a:solidFill>
              </a:rPr>
              <a:t>电流串联负反馈</a:t>
            </a:r>
            <a:r>
              <a:rPr lang="zh-CN" altLang="en-US" sz="4000" dirty="0"/>
              <a:t> </a:t>
            </a:r>
            <a:endParaRPr lang="zh-CN" altLang="en-US" sz="4000" dirty="0"/>
          </a:p>
        </p:txBody>
      </p:sp>
      <p:pic>
        <p:nvPicPr>
          <p:cNvPr id="19459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349500"/>
            <a:ext cx="7273925" cy="4206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5-13</a:t>
            </a:r>
            <a:endParaRPr lang="en-US" altLang="zh-CN" dirty="0"/>
          </a:p>
        </p:txBody>
      </p:sp>
      <p:pic>
        <p:nvPicPr>
          <p:cNvPr id="20483" name="Picture 6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908175" y="2133600"/>
            <a:ext cx="5111750" cy="3725863"/>
          </a:xfrm>
          <a:ln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3"/>
          <p:cNvSpPr>
            <a:spLocks noGrp="1"/>
          </p:cNvSpPr>
          <p:nvPr>
            <p:ph idx="1"/>
          </p:nvPr>
        </p:nvSpPr>
        <p:spPr>
          <a:xfrm>
            <a:off x="457200" y="260350"/>
            <a:ext cx="8229600" cy="5865813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）稳定的源电压增益：基本增益是电压增益，所以是</a:t>
            </a:r>
            <a:r>
              <a:rPr lang="zh-CN" altLang="en-US" b="1" dirty="0">
                <a:solidFill>
                  <a:srgbClr val="FF3300"/>
                </a:solidFill>
              </a:rPr>
              <a:t>电压串联负反馈</a:t>
            </a:r>
            <a:endParaRPr lang="zh-CN" altLang="en-US" b="1" dirty="0">
              <a:solidFill>
                <a:srgbClr val="FF3300"/>
              </a:solidFill>
            </a:endParaRPr>
          </a:p>
        </p:txBody>
      </p:sp>
      <p:pic>
        <p:nvPicPr>
          <p:cNvPr id="2150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1773238"/>
            <a:ext cx="5905500" cy="4435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3"/>
          <p:cNvSpPr>
            <a:spLocks noGrp="1"/>
          </p:cNvSpPr>
          <p:nvPr>
            <p:ph idx="1"/>
          </p:nvPr>
        </p:nvSpPr>
        <p:spPr>
          <a:xfrm>
            <a:off x="457200" y="333375"/>
            <a:ext cx="8229600" cy="5792788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）低的输入电阻，稳定的输出电流，所以是</a:t>
            </a:r>
            <a:r>
              <a:rPr lang="zh-CN" altLang="en-US" b="1" dirty="0">
                <a:solidFill>
                  <a:srgbClr val="FF3300"/>
                </a:solidFill>
              </a:rPr>
              <a:t>电流并联负反馈</a:t>
            </a:r>
            <a:endParaRPr lang="zh-CN" altLang="en-US" b="1" dirty="0">
              <a:solidFill>
                <a:srgbClr val="FF3300"/>
              </a:solidFill>
            </a:endParaRPr>
          </a:p>
        </p:txBody>
      </p:sp>
      <p:pic>
        <p:nvPicPr>
          <p:cNvPr id="22531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8175" y="1557338"/>
            <a:ext cx="5616575" cy="46212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3"/>
          <p:cNvSpPr>
            <a:spLocks noGrp="1"/>
          </p:cNvSpPr>
          <p:nvPr>
            <p:ph idx="1"/>
          </p:nvPr>
        </p:nvSpPr>
        <p:spPr>
          <a:xfrm>
            <a:off x="457200" y="333375"/>
            <a:ext cx="8229600" cy="5792788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/>
              <a:t>（</a:t>
            </a:r>
            <a:r>
              <a:rPr lang="en-US" altLang="zh-CN" b="1" dirty="0"/>
              <a:t>3</a:t>
            </a:r>
            <a:r>
              <a:rPr lang="zh-CN" altLang="en-US" b="1" dirty="0"/>
              <a:t>）高的输入电阻和输出电阻，所以是</a:t>
            </a:r>
            <a:r>
              <a:rPr lang="zh-CN" altLang="en-US" b="1" dirty="0">
                <a:solidFill>
                  <a:srgbClr val="FF3300"/>
                </a:solidFill>
              </a:rPr>
              <a:t>电流串联负反馈</a:t>
            </a:r>
            <a:endParaRPr lang="zh-CN" altLang="en-US" b="1" dirty="0">
              <a:solidFill>
                <a:srgbClr val="FF3300"/>
              </a:solidFill>
            </a:endParaRPr>
          </a:p>
        </p:txBody>
      </p:sp>
      <p:pic>
        <p:nvPicPr>
          <p:cNvPr id="2355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1412875"/>
            <a:ext cx="5905500" cy="4857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3"/>
          <p:cNvSpPr>
            <a:spLocks noGrp="1"/>
          </p:cNvSpPr>
          <p:nvPr>
            <p:ph idx="1"/>
          </p:nvPr>
        </p:nvSpPr>
        <p:spPr>
          <a:xfrm>
            <a:off x="457200" y="333375"/>
            <a:ext cx="8229600" cy="5792788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/>
              <a:t>（</a:t>
            </a:r>
            <a:r>
              <a:rPr lang="en-US" altLang="zh-CN" b="1" dirty="0"/>
              <a:t>4</a:t>
            </a:r>
            <a:r>
              <a:rPr lang="zh-CN" altLang="en-US" b="1" dirty="0"/>
              <a:t>）稳定的输出电压和低的输入电阻，所以是</a:t>
            </a:r>
            <a:r>
              <a:rPr lang="zh-CN" altLang="en-US" b="1" dirty="0">
                <a:solidFill>
                  <a:srgbClr val="FF3300"/>
                </a:solidFill>
              </a:rPr>
              <a:t>电压并联负反馈</a:t>
            </a:r>
            <a:endParaRPr lang="zh-CN" altLang="en-US" b="1" dirty="0">
              <a:solidFill>
                <a:srgbClr val="FF3300"/>
              </a:solidFill>
            </a:endParaRPr>
          </a:p>
        </p:txBody>
      </p:sp>
      <p:pic>
        <p:nvPicPr>
          <p:cNvPr id="24579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13" y="1916113"/>
            <a:ext cx="5184775" cy="4438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4000" dirty="0"/>
              <a:t>5-20   </a:t>
            </a:r>
            <a:r>
              <a:rPr lang="zh-CN" altLang="en-US" sz="4000" b="1" dirty="0"/>
              <a:t>在深度负反馈条件下求电压增益和源电压增益</a:t>
            </a:r>
            <a:endParaRPr lang="zh-CN" altLang="en-US" sz="4000" b="1" dirty="0"/>
          </a:p>
        </p:txBody>
      </p:sp>
      <p:pic>
        <p:nvPicPr>
          <p:cNvPr id="25603" name="Picture 3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116013" y="1916113"/>
            <a:ext cx="6335712" cy="4295775"/>
          </a:xfrm>
          <a:ln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4000" b="1" dirty="0"/>
              <a:t>电压串联负反馈，基本增益是电压增益</a:t>
            </a:r>
            <a:r>
              <a:rPr lang="zh-CN" altLang="en-US" sz="4000" dirty="0"/>
              <a:t>。</a:t>
            </a:r>
            <a:endParaRPr lang="zh-CN" altLang="en-US" sz="4000" dirty="0"/>
          </a:p>
        </p:txBody>
      </p:sp>
      <p:pic>
        <p:nvPicPr>
          <p:cNvPr id="26627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2363" y="1700213"/>
            <a:ext cx="2952750" cy="27797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28" name="Rectangle 4"/>
          <p:cNvSpPr/>
          <p:nvPr/>
        </p:nvSpPr>
        <p:spPr>
          <a:xfrm>
            <a:off x="-252412" y="32131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6629" name="Object 5"/>
          <p:cNvGraphicFramePr/>
          <p:nvPr/>
        </p:nvGraphicFramePr>
        <p:xfrm>
          <a:off x="611188" y="2276475"/>
          <a:ext cx="3960812" cy="160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2" imgW="1155700" imgH="469900" progId="Equation.DSMT4">
                  <p:embed/>
                </p:oleObj>
              </mc:Choice>
              <mc:Fallback>
                <p:oleObj name="" r:id="rId2" imgW="1155700" imgH="4699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1188" y="2276475"/>
                        <a:ext cx="3960812" cy="1603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/>
          <p:cNvGraphicFramePr>
            <a:graphicFrameLocks noChangeAspect="1"/>
          </p:cNvGraphicFramePr>
          <p:nvPr>
            <p:ph idx="1"/>
          </p:nvPr>
        </p:nvGraphicFramePr>
        <p:xfrm>
          <a:off x="395288" y="4724400"/>
          <a:ext cx="8280400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4" imgW="2794000" imgH="469900" progId="Equation.DSMT4">
                  <p:embed/>
                </p:oleObj>
              </mc:Choice>
              <mc:Fallback>
                <p:oleObj name="" r:id="rId4" imgW="2794000" imgH="4699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>
                      <a:xfrm>
                        <a:off x="395288" y="4724400"/>
                        <a:ext cx="8280400" cy="13938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9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5-21</a:t>
            </a:r>
            <a:endParaRPr lang="en-US" altLang="zh-CN" dirty="0"/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xfrm>
            <a:off x="457200" y="1052513"/>
            <a:ext cx="8229600" cy="507365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27652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7653" name="Object 4"/>
          <p:cNvGraphicFramePr/>
          <p:nvPr/>
        </p:nvGraphicFramePr>
        <p:xfrm>
          <a:off x="468313" y="1196975"/>
          <a:ext cx="3024187" cy="128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054100" imgH="444500" progId="Equation.DSMT4">
                  <p:embed/>
                </p:oleObj>
              </mc:Choice>
              <mc:Fallback>
                <p:oleObj name="" r:id="rId1" imgW="1054100" imgH="4445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8313" y="1196975"/>
                        <a:ext cx="3024187" cy="1281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Rectangle 7"/>
          <p:cNvSpPr/>
          <p:nvPr/>
        </p:nvSpPr>
        <p:spPr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7655" name="Object 6"/>
          <p:cNvGraphicFramePr/>
          <p:nvPr/>
        </p:nvGraphicFramePr>
        <p:xfrm>
          <a:off x="323850" y="2492375"/>
          <a:ext cx="3167063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1231265" imgH="469900" progId="Equation.DSMT4">
                  <p:embed/>
                </p:oleObj>
              </mc:Choice>
              <mc:Fallback>
                <p:oleObj name="" r:id="rId3" imgW="1231265" imgH="4699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3850" y="2492375"/>
                        <a:ext cx="3167063" cy="1201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Rectangle 10"/>
          <p:cNvSpPr/>
          <p:nvPr/>
        </p:nvSpPr>
        <p:spPr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7657" name="Object 9"/>
          <p:cNvGraphicFramePr/>
          <p:nvPr/>
        </p:nvGraphicFramePr>
        <p:xfrm>
          <a:off x="395288" y="3860800"/>
          <a:ext cx="3889375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1651000" imgH="469900" progId="Equation.DSMT4">
                  <p:embed/>
                </p:oleObj>
              </mc:Choice>
              <mc:Fallback>
                <p:oleObj name="" r:id="rId5" imgW="1651000" imgH="4699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5288" y="3860800"/>
                        <a:ext cx="3889375" cy="1101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8" name="Rectangle 12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7659" name="Object 11"/>
          <p:cNvGraphicFramePr/>
          <p:nvPr/>
        </p:nvGraphicFramePr>
        <p:xfrm>
          <a:off x="323850" y="5229225"/>
          <a:ext cx="7704138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7" imgW="3009900" imgH="457200" progId="Equation.DSMT4">
                  <p:embed/>
                </p:oleObj>
              </mc:Choice>
              <mc:Fallback>
                <p:oleObj name="" r:id="rId7" imgW="3009900" imgH="4572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3850" y="5229225"/>
                        <a:ext cx="7704138" cy="1169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0" name="Rectangle 14"/>
          <p:cNvSpPr/>
          <p:nvPr/>
        </p:nvSpPr>
        <p:spPr>
          <a:xfrm>
            <a:off x="0" y="3300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7661" name="Object 13"/>
          <p:cNvGraphicFramePr/>
          <p:nvPr/>
        </p:nvGraphicFramePr>
        <p:xfrm>
          <a:off x="4787900" y="4076700"/>
          <a:ext cx="1871663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9" imgW="761365" imgH="254000" progId="Equation.DSMT4">
                  <p:embed/>
                </p:oleObj>
              </mc:Choice>
              <mc:Fallback>
                <p:oleObj name="" r:id="rId9" imgW="761365" imgH="2540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87900" y="4076700"/>
                        <a:ext cx="1871663" cy="631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662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86250" y="785813"/>
            <a:ext cx="4116388" cy="3143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4000" dirty="0"/>
              <a:t>5-22</a:t>
            </a:r>
            <a:r>
              <a:rPr lang="zh-CN" altLang="en-US" sz="4000" b="1" dirty="0"/>
              <a:t>在深度负反馈条件下求电流增益和源电压增益</a:t>
            </a:r>
            <a:endParaRPr lang="zh-CN" altLang="en-US" sz="4000" b="1" dirty="0"/>
          </a:p>
        </p:txBody>
      </p:sp>
      <p:pic>
        <p:nvPicPr>
          <p:cNvPr id="28675" name="Picture 3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476375" y="1628775"/>
            <a:ext cx="5903913" cy="4899025"/>
          </a:xfrm>
          <a:ln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437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b="1" dirty="0"/>
              <a:t>交流通路、基本放大器、反馈网络</a:t>
            </a:r>
            <a:endParaRPr lang="zh-CN" altLang="en-US" sz="4000" b="1" dirty="0"/>
          </a:p>
        </p:txBody>
      </p:sp>
      <p:pic>
        <p:nvPicPr>
          <p:cNvPr id="29699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150" y="1052513"/>
            <a:ext cx="6911975" cy="5629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0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8" y="2708275"/>
            <a:ext cx="1847850" cy="2520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/>
          <p:nvPr/>
        </p:nvSpPr>
        <p:spPr>
          <a:xfrm>
            <a:off x="0" y="32051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0723" name="Object 3"/>
          <p:cNvGraphicFramePr/>
          <p:nvPr/>
        </p:nvGraphicFramePr>
        <p:xfrm>
          <a:off x="1042988" y="765175"/>
          <a:ext cx="3529012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129665" imgH="444500" progId="Equation.DSMT4">
                  <p:embed/>
                </p:oleObj>
              </mc:Choice>
              <mc:Fallback>
                <p:oleObj name="" r:id="rId1" imgW="1129665" imgH="4445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42988" y="765175"/>
                        <a:ext cx="3529012" cy="1393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Rectangle 4"/>
          <p:cNvSpPr/>
          <p:nvPr/>
        </p:nvSpPr>
        <p:spPr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0725" name="Object 5"/>
          <p:cNvGraphicFramePr/>
          <p:nvPr/>
        </p:nvGraphicFramePr>
        <p:xfrm>
          <a:off x="4716463" y="908050"/>
          <a:ext cx="3600450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1422400" imgH="469900" progId="Equation.DSMT4">
                  <p:embed/>
                </p:oleObj>
              </mc:Choice>
              <mc:Fallback>
                <p:oleObj name="" r:id="rId3" imgW="1422400" imgH="4699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16463" y="908050"/>
                        <a:ext cx="3600450" cy="1184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Rectangle 6"/>
          <p:cNvSpPr/>
          <p:nvPr/>
        </p:nvSpPr>
        <p:spPr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0727" name="Object 7"/>
          <p:cNvGraphicFramePr/>
          <p:nvPr/>
        </p:nvGraphicFramePr>
        <p:xfrm>
          <a:off x="1116013" y="2420938"/>
          <a:ext cx="7200900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5" imgW="2933700" imgH="469900" progId="Equation.DSMT4">
                  <p:embed/>
                </p:oleObj>
              </mc:Choice>
              <mc:Fallback>
                <p:oleObj name="" r:id="rId5" imgW="2933700" imgH="4699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6013" y="2420938"/>
                        <a:ext cx="7200900" cy="1146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Rectangle 8"/>
          <p:cNvSpPr/>
          <p:nvPr/>
        </p:nvSpPr>
        <p:spPr>
          <a:xfrm>
            <a:off x="0" y="29860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0729" name="Object 9"/>
          <p:cNvGraphicFramePr/>
          <p:nvPr/>
        </p:nvGraphicFramePr>
        <p:xfrm>
          <a:off x="1403350" y="3941763"/>
          <a:ext cx="6478588" cy="238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7" imgW="2540000" imgH="939800" progId="Equation.DSMT4">
                  <p:embed/>
                </p:oleObj>
              </mc:Choice>
              <mc:Fallback>
                <p:oleObj name="" r:id="rId7" imgW="2540000" imgH="9398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03350" y="3941763"/>
                        <a:ext cx="6478588" cy="2386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3412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6-1</a:t>
            </a:r>
            <a:endParaRPr lang="en-US" altLang="zh-CN" sz="4000" dirty="0"/>
          </a:p>
        </p:txBody>
      </p:sp>
      <p:pic>
        <p:nvPicPr>
          <p:cNvPr id="31747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9838" y="1196975"/>
            <a:ext cx="4721225" cy="4219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8" y="692150"/>
            <a:ext cx="15128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9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13" y="620713"/>
            <a:ext cx="1439862" cy="12620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0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825" y="2420938"/>
            <a:ext cx="1584325" cy="1149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1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825" y="3933825"/>
            <a:ext cx="1584325" cy="1174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2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" y="5516563"/>
            <a:ext cx="1584325" cy="1047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3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1050" y="2492375"/>
            <a:ext cx="1441450" cy="1081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54" name="Rectangle 10"/>
          <p:cNvSpPr/>
          <p:nvPr/>
        </p:nvSpPr>
        <p:spPr>
          <a:xfrm>
            <a:off x="0" y="188913"/>
            <a:ext cx="1338263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反相放大器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755" name="Rectangle 11"/>
          <p:cNvSpPr/>
          <p:nvPr/>
        </p:nvSpPr>
        <p:spPr>
          <a:xfrm>
            <a:off x="2051050" y="188913"/>
            <a:ext cx="1338263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同相放大器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756" name="Rectangle 12"/>
          <p:cNvSpPr/>
          <p:nvPr/>
        </p:nvSpPr>
        <p:spPr>
          <a:xfrm>
            <a:off x="0" y="3573463"/>
            <a:ext cx="13271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差动放大器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757" name="Rectangle 13"/>
          <p:cNvSpPr/>
          <p:nvPr/>
        </p:nvSpPr>
        <p:spPr>
          <a:xfrm>
            <a:off x="2195513" y="2133600"/>
            <a:ext cx="9334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积分器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758" name="Rectangle 14"/>
          <p:cNvSpPr/>
          <p:nvPr/>
        </p:nvSpPr>
        <p:spPr>
          <a:xfrm>
            <a:off x="0" y="5229225"/>
            <a:ext cx="1338263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同相加法器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537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6-1</a:t>
            </a:r>
            <a:endParaRPr lang="en-US" altLang="zh-CN" sz="4000" dirty="0"/>
          </a:p>
        </p:txBody>
      </p:sp>
      <p:sp>
        <p:nvSpPr>
          <p:cNvPr id="32771" name="Rectangle 3"/>
          <p:cNvSpPr/>
          <p:nvPr/>
        </p:nvSpPr>
        <p:spPr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2772" name="Object 4"/>
          <p:cNvGraphicFramePr/>
          <p:nvPr/>
        </p:nvGraphicFramePr>
        <p:xfrm>
          <a:off x="250825" y="1052513"/>
          <a:ext cx="4392613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2108200" imgH="393700" progId="Equation.DSMT4">
                  <p:embed/>
                </p:oleObj>
              </mc:Choice>
              <mc:Fallback>
                <p:oleObj name="" r:id="rId1" imgW="2108200" imgH="3937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0825" y="1052513"/>
                        <a:ext cx="4392613" cy="814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Rectangle 5"/>
          <p:cNvSpPr/>
          <p:nvPr/>
        </p:nvSpPr>
        <p:spPr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2774" name="Object 6"/>
          <p:cNvGraphicFramePr/>
          <p:nvPr/>
        </p:nvGraphicFramePr>
        <p:xfrm>
          <a:off x="179388" y="2636838"/>
          <a:ext cx="4752975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" imgW="2298700" imgH="393700" progId="Equation.DSMT4">
                  <p:embed/>
                </p:oleObj>
              </mc:Choice>
              <mc:Fallback>
                <p:oleObj name="" r:id="rId3" imgW="2298700" imgH="3937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388" y="2636838"/>
                        <a:ext cx="4752975" cy="808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Rectangle 7"/>
          <p:cNvSpPr/>
          <p:nvPr/>
        </p:nvSpPr>
        <p:spPr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2776" name="Object 8"/>
          <p:cNvGraphicFramePr/>
          <p:nvPr/>
        </p:nvGraphicFramePr>
        <p:xfrm>
          <a:off x="179388" y="3933825"/>
          <a:ext cx="4608512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5" imgW="1981200" imgH="393700" progId="Equation.DSMT4">
                  <p:embed/>
                </p:oleObj>
              </mc:Choice>
              <mc:Fallback>
                <p:oleObj name="" r:id="rId5" imgW="1981200" imgH="3937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9388" y="3933825"/>
                        <a:ext cx="4608512" cy="908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7" name="Rectangle 9"/>
          <p:cNvSpPr/>
          <p:nvPr/>
        </p:nvSpPr>
        <p:spPr>
          <a:xfrm>
            <a:off x="0" y="34290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2778" name="Object 10"/>
          <p:cNvGraphicFramePr/>
          <p:nvPr/>
        </p:nvGraphicFramePr>
        <p:xfrm>
          <a:off x="395288" y="5229225"/>
          <a:ext cx="6913562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7" imgW="2578100" imgH="393700" progId="Equation.DSMT4">
                  <p:embed/>
                </p:oleObj>
              </mc:Choice>
              <mc:Fallback>
                <p:oleObj name="" r:id="rId7" imgW="2578100" imgH="3937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5288" y="5229225"/>
                        <a:ext cx="6913562" cy="1046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779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3800" y="1196975"/>
            <a:ext cx="3960813" cy="3670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537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6-2</a:t>
            </a:r>
            <a:endParaRPr lang="en-US" altLang="zh-CN" sz="4000" dirty="0"/>
          </a:p>
        </p:txBody>
      </p:sp>
      <p:pic>
        <p:nvPicPr>
          <p:cNvPr id="33795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0200" y="333375"/>
            <a:ext cx="4319588" cy="2889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796" name="Rectangle 4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3797" name="Object 5"/>
          <p:cNvGraphicFramePr/>
          <p:nvPr/>
        </p:nvGraphicFramePr>
        <p:xfrm>
          <a:off x="468313" y="188913"/>
          <a:ext cx="2808287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2" imgW="1231265" imgH="431800" progId="Equation.DSMT4">
                  <p:embed/>
                </p:oleObj>
              </mc:Choice>
              <mc:Fallback>
                <p:oleObj name="" r:id="rId2" imgW="1231265" imgH="4318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8313" y="188913"/>
                        <a:ext cx="2808287" cy="979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Rectangle 6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3799" name="Object 7"/>
          <p:cNvGraphicFramePr/>
          <p:nvPr/>
        </p:nvGraphicFramePr>
        <p:xfrm>
          <a:off x="468313" y="1196975"/>
          <a:ext cx="2808287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4" imgW="1346200" imgH="431800" progId="Equation.DSMT4">
                  <p:embed/>
                </p:oleObj>
              </mc:Choice>
              <mc:Fallback>
                <p:oleObj name="" r:id="rId4" imgW="1346200" imgH="4318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8313" y="1196975"/>
                        <a:ext cx="2808287" cy="896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0" name="Rectangle 8"/>
          <p:cNvSpPr/>
          <p:nvPr/>
        </p:nvSpPr>
        <p:spPr>
          <a:xfrm>
            <a:off x="468313" y="2133600"/>
            <a:ext cx="3455987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sz="2400" dirty="0">
                <a:latin typeface="Arial" panose="020B0604020202020204" pitchFamily="34" charset="0"/>
              </a:rPr>
              <a:t>∵</a:t>
            </a:r>
            <a:r>
              <a:rPr lang="zh-CN" altLang="en-US" sz="2400" dirty="0">
                <a:latin typeface="Arial" panose="020B0604020202020204" pitchFamily="34" charset="0"/>
              </a:rPr>
              <a:t>反相端为虚地，∴</a:t>
            </a:r>
            <a:r>
              <a:rPr lang="en-US" altLang="zh-CN" sz="2400" dirty="0">
                <a:latin typeface="Arial" panose="020B0604020202020204" pitchFamily="34" charset="0"/>
              </a:rPr>
              <a:t>R2</a:t>
            </a:r>
            <a:r>
              <a:rPr lang="zh-CN" altLang="en-US" sz="2400" dirty="0">
                <a:latin typeface="Arial" panose="020B0604020202020204" pitchFamily="34" charset="0"/>
              </a:rPr>
              <a:t>和</a:t>
            </a:r>
            <a:r>
              <a:rPr lang="en-US" altLang="zh-CN" sz="2400" dirty="0">
                <a:latin typeface="Arial" panose="020B0604020202020204" pitchFamily="34" charset="0"/>
              </a:rPr>
              <a:t>R3</a:t>
            </a:r>
            <a:r>
              <a:rPr lang="zh-CN" altLang="en-US" sz="2400" dirty="0">
                <a:latin typeface="Arial" panose="020B0604020202020204" pitchFamily="34" charset="0"/>
              </a:rPr>
              <a:t>可视为并联关系 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33801" name="Rectangle 9"/>
          <p:cNvSpPr/>
          <p:nvPr/>
        </p:nvSpPr>
        <p:spPr>
          <a:xfrm>
            <a:off x="0" y="30099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3802" name="Object 10"/>
          <p:cNvGraphicFramePr/>
          <p:nvPr/>
        </p:nvGraphicFramePr>
        <p:xfrm>
          <a:off x="406400" y="2997200"/>
          <a:ext cx="8401050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6" imgW="4279900" imgH="838200" progId="Equation.DSMT4">
                  <p:embed/>
                </p:oleObj>
              </mc:Choice>
              <mc:Fallback>
                <p:oleObj name="" r:id="rId6" imgW="4279900" imgH="8382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6400" y="2997200"/>
                        <a:ext cx="8401050" cy="164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3" name="Rectangle 11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3804" name="Object 12"/>
          <p:cNvGraphicFramePr/>
          <p:nvPr/>
        </p:nvGraphicFramePr>
        <p:xfrm>
          <a:off x="323850" y="4581525"/>
          <a:ext cx="4608513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8" imgW="2273300" imgH="431800" progId="Equation.DSMT4">
                  <p:embed/>
                </p:oleObj>
              </mc:Choice>
              <mc:Fallback>
                <p:oleObj name="" r:id="rId8" imgW="2273300" imgH="4318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23850" y="4581525"/>
                        <a:ext cx="4608513" cy="866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5" name="Rectangle 13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3806" name="Object 14"/>
          <p:cNvGraphicFramePr/>
          <p:nvPr/>
        </p:nvGraphicFramePr>
        <p:xfrm>
          <a:off x="323850" y="5661025"/>
          <a:ext cx="856932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0" imgW="4165600" imgH="431800" progId="Equation.DSMT4">
                  <p:embed/>
                </p:oleObj>
              </mc:Choice>
              <mc:Fallback>
                <p:oleObj name="" r:id="rId10" imgW="4165600" imgH="4318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23850" y="5661025"/>
                        <a:ext cx="8569325" cy="882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3412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6-3 </a:t>
            </a:r>
            <a:r>
              <a:rPr lang="zh-CN" altLang="en-US" sz="4000" dirty="0"/>
              <a:t>（</a:t>
            </a:r>
            <a:r>
              <a:rPr lang="en-US" altLang="zh-CN" sz="4000" dirty="0"/>
              <a:t>b</a:t>
            </a:r>
            <a:r>
              <a:rPr lang="zh-CN" altLang="en-US" sz="4000" dirty="0"/>
              <a:t>） </a:t>
            </a:r>
            <a:endParaRPr lang="zh-CN" altLang="en-US" sz="4000" dirty="0"/>
          </a:p>
        </p:txBody>
      </p:sp>
      <p:pic>
        <p:nvPicPr>
          <p:cNvPr id="34819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3800" y="1484313"/>
            <a:ext cx="3848100" cy="4537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20" name="Rectangle 4"/>
          <p:cNvSpPr/>
          <p:nvPr/>
        </p:nvSpPr>
        <p:spPr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endParaRPr lang="zh-CN" altLang="zh-CN" dirty="0">
              <a:latin typeface="Arial" panose="020B0604020202020204" pitchFamily="34" charset="0"/>
            </a:endParaRPr>
          </a:p>
        </p:txBody>
      </p:sp>
      <p:graphicFrame>
        <p:nvGraphicFramePr>
          <p:cNvPr id="34821" name="Object 5"/>
          <p:cNvGraphicFramePr/>
          <p:nvPr/>
        </p:nvGraphicFramePr>
        <p:xfrm>
          <a:off x="250825" y="1844675"/>
          <a:ext cx="4465638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2" imgW="1777365" imgH="393700" progId="Equation.DSMT4">
                  <p:embed/>
                </p:oleObj>
              </mc:Choice>
              <mc:Fallback>
                <p:oleObj name="" r:id="rId2" imgW="1777365" imgH="3937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0825" y="1844675"/>
                        <a:ext cx="4465638" cy="979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4823" name="Object 7"/>
          <p:cNvGraphicFramePr/>
          <p:nvPr/>
        </p:nvGraphicFramePr>
        <p:xfrm>
          <a:off x="250825" y="2924175"/>
          <a:ext cx="4465638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4" imgW="1790700" imgH="393700" progId="Equation.DSMT4">
                  <p:embed/>
                </p:oleObj>
              </mc:Choice>
              <mc:Fallback>
                <p:oleObj name="" r:id="rId4" imgW="1790700" imgH="3937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0825" y="2924175"/>
                        <a:ext cx="4465638" cy="974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4" name="Rectangle 8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4825" name="Object 9"/>
          <p:cNvGraphicFramePr/>
          <p:nvPr/>
        </p:nvGraphicFramePr>
        <p:xfrm>
          <a:off x="250825" y="4149725"/>
          <a:ext cx="4608513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6" imgW="1562100" imgH="228600" progId="Equation.DSMT4">
                  <p:embed/>
                </p:oleObj>
              </mc:Choice>
              <mc:Fallback>
                <p:oleObj name="" r:id="rId6" imgW="1562100" imgH="2286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0825" y="4149725"/>
                        <a:ext cx="4608513" cy="674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197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b="1" dirty="0"/>
              <a:t>6-5</a:t>
            </a:r>
            <a:endParaRPr lang="en-US" altLang="zh-CN" sz="4000" b="1" dirty="0"/>
          </a:p>
        </p:txBody>
      </p:sp>
      <p:pic>
        <p:nvPicPr>
          <p:cNvPr id="35843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8625" y="404813"/>
            <a:ext cx="3316288" cy="39608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4" name="Rectangle 4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5845" name="Object 5"/>
          <p:cNvGraphicFramePr/>
          <p:nvPr/>
        </p:nvGraphicFramePr>
        <p:xfrm>
          <a:off x="250825" y="1196975"/>
          <a:ext cx="3313113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2" imgW="1727200" imgH="431800" progId="Equation.DSMT4">
                  <p:embed/>
                </p:oleObj>
              </mc:Choice>
              <mc:Fallback>
                <p:oleObj name="" r:id="rId2" imgW="1727200" imgH="4318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0825" y="1196975"/>
                        <a:ext cx="3313113" cy="823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Rectangle 6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5847" name="Object 7"/>
          <p:cNvGraphicFramePr/>
          <p:nvPr/>
        </p:nvGraphicFramePr>
        <p:xfrm>
          <a:off x="3779838" y="1196975"/>
          <a:ext cx="1655762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4" imgW="799465" imgH="431800" progId="Equation.DSMT4">
                  <p:embed/>
                </p:oleObj>
              </mc:Choice>
              <mc:Fallback>
                <p:oleObj name="" r:id="rId4" imgW="799465" imgH="4318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79838" y="1196975"/>
                        <a:ext cx="1655762" cy="887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8" name="Rectangle 8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5849" name="Object 9"/>
          <p:cNvGraphicFramePr/>
          <p:nvPr/>
        </p:nvGraphicFramePr>
        <p:xfrm>
          <a:off x="250825" y="2276475"/>
          <a:ext cx="38163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6" imgW="2159000" imgH="431800" progId="Equation.DSMT4">
                  <p:embed/>
                </p:oleObj>
              </mc:Choice>
              <mc:Fallback>
                <p:oleObj name="" r:id="rId6" imgW="2159000" imgH="4318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0825" y="2276475"/>
                        <a:ext cx="3816350" cy="757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0" name="Rectangle 10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5851" name="Object 11"/>
          <p:cNvGraphicFramePr/>
          <p:nvPr/>
        </p:nvGraphicFramePr>
        <p:xfrm>
          <a:off x="668338" y="3357563"/>
          <a:ext cx="190341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8" imgW="761365" imgH="228600" progId="Equation.DSMT4">
                  <p:embed/>
                </p:oleObj>
              </mc:Choice>
              <mc:Fallback>
                <p:oleObj name="" r:id="rId8" imgW="761365" imgH="2286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8338" y="3357563"/>
                        <a:ext cx="1903412" cy="568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2" name="Rectangle 12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5853" name="Object 13"/>
          <p:cNvGraphicFramePr/>
          <p:nvPr/>
        </p:nvGraphicFramePr>
        <p:xfrm>
          <a:off x="250825" y="4365625"/>
          <a:ext cx="640873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0" imgW="3300730" imgH="431800" progId="Equation.DSMT4">
                  <p:embed/>
                </p:oleObj>
              </mc:Choice>
              <mc:Fallback>
                <p:oleObj name="" r:id="rId10" imgW="3300730" imgH="4318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0825" y="4365625"/>
                        <a:ext cx="6408738" cy="831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4" name="Rectangle 14"/>
          <p:cNvSpPr/>
          <p:nvPr/>
        </p:nvSpPr>
        <p:spPr>
          <a:xfrm>
            <a:off x="0" y="31194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5855" name="Object 15"/>
          <p:cNvGraphicFramePr/>
          <p:nvPr/>
        </p:nvGraphicFramePr>
        <p:xfrm>
          <a:off x="323850" y="5516563"/>
          <a:ext cx="54006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2" imgW="3098800" imgH="622300" progId="Equation.DSMT4">
                  <p:embed/>
                </p:oleObj>
              </mc:Choice>
              <mc:Fallback>
                <p:oleObj name="" r:id="rId12" imgW="3098800" imgH="6223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23850" y="5516563"/>
                        <a:ext cx="5400675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6e537654-8621-406e-844a-eb276062da78"/>
  <p:tag name="COMMONDATA" val="eyJoZGlkIjoiM2NiMTAxNzRkMTEwZmE2MzVmN2NhOGRhZjdmYTNiZDg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781</Words>
  <Application>WPS 演示</Application>
  <PresentationFormat>全屏显示(4:3)</PresentationFormat>
  <Paragraphs>88</Paragraphs>
  <Slides>34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29</vt:i4>
      </vt:variant>
      <vt:variant>
        <vt:lpstr>幻灯片标题</vt:lpstr>
      </vt:variant>
      <vt:variant>
        <vt:i4>34</vt:i4>
      </vt:variant>
    </vt:vector>
  </HeadingPairs>
  <TitlesOfParts>
    <vt:vector size="71" baseType="lpstr">
      <vt:lpstr>Arial</vt:lpstr>
      <vt:lpstr>宋体</vt:lpstr>
      <vt:lpstr>Wingdings</vt:lpstr>
      <vt:lpstr>等线</vt:lpstr>
      <vt:lpstr>微软雅黑</vt:lpstr>
      <vt:lpstr>Arial Unicode MS</vt:lpstr>
      <vt:lpstr>Calibri</vt:lpstr>
      <vt:lpstr>默认设计模板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WWW.YlmF.CoM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习题解答</dc:title>
  <dc:creator>雨林木风</dc:creator>
  <cp:lastModifiedBy>WPS_1703547373</cp:lastModifiedBy>
  <cp:revision>19</cp:revision>
  <dcterms:created xsi:type="dcterms:W3CDTF">2012-12-17T08:48:01Z</dcterms:created>
  <dcterms:modified xsi:type="dcterms:W3CDTF">2026-09-09T09:47:24Z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DFC5C1269BD747E2BCF42864FBD1FC69_13</vt:lpwstr>
  </property>
  <property fmtid="{D5CDD505-2E9C-101B-9397-08002B2CF9AE}" pid="3" name="KSOProductBuildVer">
    <vt:lpwstr>2052-12.1.0.28043</vt:lpwstr>
  </property>
</Properties>
</file>