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80" r:id="rId5"/>
    <p:sldId id="258" r:id="rId6"/>
    <p:sldId id="259" r:id="rId7"/>
    <p:sldId id="261" r:id="rId8"/>
    <p:sldId id="262" r:id="rId9"/>
    <p:sldId id="277" r:id="rId10"/>
    <p:sldId id="263" r:id="rId11"/>
    <p:sldId id="265" r:id="rId12"/>
    <p:sldId id="266" r:id="rId13"/>
    <p:sldId id="267" r:id="rId14"/>
    <p:sldId id="264" r:id="rId15"/>
    <p:sldId id="260" r:id="rId16"/>
    <p:sldId id="279" r:id="rId17"/>
    <p:sldId id="271" r:id="rId18"/>
    <p:sldId id="268" r:id="rId19"/>
    <p:sldId id="269" r:id="rId20"/>
    <p:sldId id="270" r:id="rId21"/>
    <p:sldId id="272" r:id="rId22"/>
    <p:sldId id="273" r:id="rId23"/>
    <p:sldId id="274" r:id="rId24"/>
    <p:sldId id="275" r:id="rId25"/>
    <p:sldId id="276" r:id="rId26"/>
    <p:sldId id="278" r:id="rId2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-153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85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12.xml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8.wmf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4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3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oleObject" Target="../embeddings/oleObject16.bin"/><Relationship Id="rId7" Type="http://schemas.openxmlformats.org/officeDocument/2006/relationships/image" Target="../media/image21.wmf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4.bin"/><Relationship Id="rId3" Type="http://schemas.openxmlformats.org/officeDocument/2006/relationships/image" Target="../media/image19.wmf"/><Relationship Id="rId2" Type="http://schemas.openxmlformats.org/officeDocument/2006/relationships/oleObject" Target="../embeddings/oleObject13.bin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3.emf"/><Relationship Id="rId1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23.emf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2.wmf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1.bin"/><Relationship Id="rId3" Type="http://schemas.openxmlformats.org/officeDocument/2006/relationships/image" Target="../media/image30.w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wmf"/><Relationship Id="rId8" Type="http://schemas.openxmlformats.org/officeDocument/2006/relationships/oleObject" Target="../embeddings/oleObject26.bin"/><Relationship Id="rId7" Type="http://schemas.openxmlformats.org/officeDocument/2006/relationships/image" Target="../media/image35.wmf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4.bin"/><Relationship Id="rId3" Type="http://schemas.openxmlformats.org/officeDocument/2006/relationships/image" Target="../media/image33.wmf"/><Relationship Id="rId2" Type="http://schemas.openxmlformats.org/officeDocument/2006/relationships/oleObject" Target="../embeddings/oleObject23.bin"/><Relationship Id="rId13" Type="http://schemas.openxmlformats.org/officeDocument/2006/relationships/vmlDrawing" Target="../drawings/vmlDrawing7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7.wmf"/><Relationship Id="rId10" Type="http://schemas.openxmlformats.org/officeDocument/2006/relationships/oleObject" Target="../embeddings/oleObject27.bin"/><Relationship Id="rId1" Type="http://schemas.openxmlformats.org/officeDocument/2006/relationships/image" Target="../media/image28.emf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0.emf"/><Relationship Id="rId4" Type="http://schemas.openxmlformats.org/officeDocument/2006/relationships/image" Target="../media/image39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8.emf"/><Relationship Id="rId1" Type="http://schemas.openxmlformats.org/officeDocument/2006/relationships/image" Target="../media/image38.emf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emf"/><Relationship Id="rId8" Type="http://schemas.openxmlformats.org/officeDocument/2006/relationships/image" Target="../media/image44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41.wmf"/><Relationship Id="rId11" Type="http://schemas.openxmlformats.org/officeDocument/2006/relationships/vmlDrawing" Target="../drawings/vmlDrawing9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2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46.wmf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38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3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53.w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44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39.bin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59.wmf"/><Relationship Id="rId1" Type="http://schemas.openxmlformats.org/officeDocument/2006/relationships/oleObject" Target="../embeddings/oleObject4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65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64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62.wmf"/><Relationship Id="rId12" Type="http://schemas.openxmlformats.org/officeDocument/2006/relationships/vmlDrawing" Target="../drawings/vmlDrawing1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6.wmf"/><Relationship Id="rId1" Type="http://schemas.openxmlformats.org/officeDocument/2006/relationships/oleObject" Target="../embeddings/oleObject47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67.wmf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1.wmf"/><Relationship Id="rId1" Type="http://schemas.openxmlformats.org/officeDocument/2006/relationships/oleObject" Target="../embeddings/oleObject5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5.emf"/><Relationship Id="rId3" Type="http://schemas.openxmlformats.org/officeDocument/2006/relationships/image" Target="../media/image72.emf"/><Relationship Id="rId2" Type="http://schemas.openxmlformats.org/officeDocument/2006/relationships/image" Target="../media/image74.wmf"/><Relationship Id="rId1" Type="http://schemas.openxmlformats.org/officeDocument/2006/relationships/oleObject" Target="../embeddings/oleObject57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emf"/><Relationship Id="rId8" Type="http://schemas.openxmlformats.org/officeDocument/2006/relationships/image" Target="../media/image79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76.wmf"/><Relationship Id="rId11" Type="http://schemas.openxmlformats.org/officeDocument/2006/relationships/vmlDrawing" Target="../drawings/vmlDrawing16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5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84.emf"/><Relationship Id="rId7" Type="http://schemas.openxmlformats.org/officeDocument/2006/relationships/image" Target="../media/image72.emf"/><Relationship Id="rId6" Type="http://schemas.openxmlformats.org/officeDocument/2006/relationships/image" Target="../media/image83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81.wmf"/><Relationship Id="rId12" Type="http://schemas.openxmlformats.org/officeDocument/2006/relationships/vmlDrawing" Target="../drawings/vmlDrawing17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62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emf"/><Relationship Id="rId8" Type="http://schemas.openxmlformats.org/officeDocument/2006/relationships/image" Target="../media/image89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86.wmf"/><Relationship Id="rId11" Type="http://schemas.openxmlformats.org/officeDocument/2006/relationships/vmlDrawing" Target="../drawings/vmlDrawing18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6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b="1" dirty="0">
                <a:solidFill>
                  <a:srgbClr val="FF3300"/>
                </a:solidFill>
              </a:rPr>
              <a:t>习题解答</a:t>
            </a:r>
            <a:endParaRPr lang="zh-CN" altLang="en-US" b="1" dirty="0">
              <a:solidFill>
                <a:srgbClr val="FF3300"/>
              </a:solidFill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type="subTitle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zh-CN" altLang="en-US" b="1" dirty="0">
                <a:latin typeface="+mn-lt"/>
                <a:ea typeface="+mn-ea"/>
                <a:cs typeface="+mn-cs"/>
              </a:rPr>
              <a:t>线性</a:t>
            </a:r>
            <a:endParaRPr lang="zh-CN" altLang="en-US" b="1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r>
              <a:rPr lang="zh-CN" altLang="en-US" b="1" dirty="0">
                <a:latin typeface="+mn-lt"/>
                <a:ea typeface="+mn-ea"/>
                <a:cs typeface="+mn-cs"/>
              </a:rPr>
              <a:t>第二章</a:t>
            </a:r>
            <a:endParaRPr lang="zh-CN" altLang="en-US" b="1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2-4 </a:t>
            </a:r>
            <a:endParaRPr lang="en-US" altLang="zh-CN" dirty="0"/>
          </a:p>
        </p:txBody>
      </p:sp>
      <p:sp>
        <p:nvSpPr>
          <p:cNvPr id="1031" name="Rectangle 3"/>
          <p:cNvSpPr>
            <a:spLocks noGrp="1"/>
          </p:cNvSpPr>
          <p:nvPr>
            <p:ph type="body" sz="half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endParaRPr lang="en-US" altLang="zh-CN" sz="2800" dirty="0"/>
          </a:p>
          <a:p>
            <a:pPr eaLnBrk="1" hangingPunct="1">
              <a:buClrTx/>
              <a:buSzTx/>
              <a:buFontTx/>
            </a:pPr>
            <a:endParaRPr lang="en-US" altLang="zh-CN" sz="2800" dirty="0"/>
          </a:p>
        </p:txBody>
      </p:sp>
      <p:graphicFrame>
        <p:nvGraphicFramePr>
          <p:cNvPr id="1026" name="Object 6"/>
          <p:cNvGraphicFramePr/>
          <p:nvPr>
            <p:ph sz="quarter" idx="2"/>
          </p:nvPr>
        </p:nvGraphicFramePr>
        <p:xfrm>
          <a:off x="4716463" y="1557338"/>
          <a:ext cx="360045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459865" imgH="419100" progId="Equation.DSMT4">
                  <p:embed/>
                </p:oleObj>
              </mc:Choice>
              <mc:Fallback>
                <p:oleObj name="" r:id="rId1" imgW="1459865" imgH="4191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16463" y="1557338"/>
                        <a:ext cx="3600450" cy="10334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7" name="Object 4"/>
          <p:cNvGraphicFramePr/>
          <p:nvPr/>
        </p:nvGraphicFramePr>
        <p:xfrm>
          <a:off x="611188" y="1557338"/>
          <a:ext cx="3313112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536065" imgH="393700" progId="Equation.DSMT4">
                  <p:embed/>
                </p:oleObj>
              </mc:Choice>
              <mc:Fallback>
                <p:oleObj name="" r:id="rId3" imgW="1536065" imgH="3937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8" y="1557338"/>
                        <a:ext cx="3313112" cy="842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9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8" name="Object 8"/>
          <p:cNvGraphicFramePr/>
          <p:nvPr/>
        </p:nvGraphicFramePr>
        <p:xfrm>
          <a:off x="323850" y="3284538"/>
          <a:ext cx="381635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1726565" imgH="393700" progId="Equation.DSMT4">
                  <p:embed/>
                </p:oleObj>
              </mc:Choice>
              <mc:Fallback>
                <p:oleObj name="" r:id="rId5" imgW="1726565" imgH="3937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850" y="3284538"/>
                        <a:ext cx="3816350" cy="865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10"/>
          <p:cNvGraphicFramePr/>
          <p:nvPr>
            <p:ph sz="quarter" idx="3"/>
          </p:nvPr>
        </p:nvGraphicFramePr>
        <p:xfrm>
          <a:off x="4572000" y="3357563"/>
          <a:ext cx="3960813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1752600" imgH="419100" progId="Equation.DSMT4">
                  <p:embed/>
                </p:oleObj>
              </mc:Choice>
              <mc:Fallback>
                <p:oleObj name="" r:id="rId7" imgW="1752600" imgH="4191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0" y="3357563"/>
                        <a:ext cx="3960813" cy="9477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4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868863"/>
            <a:ext cx="8820150" cy="1223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675" y="2565400"/>
            <a:ext cx="3552825" cy="3790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520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7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2-13(</a:t>
            </a:r>
            <a:r>
              <a:rPr lang="zh-CN" altLang="en-US" dirty="0"/>
              <a:t>达林顿管</a:t>
            </a:r>
            <a:r>
              <a:rPr lang="en-US" altLang="zh-CN" dirty="0"/>
              <a:t>) (2) </a:t>
            </a:r>
            <a:endParaRPr lang="en-US" altLang="zh-CN" dirty="0"/>
          </a:p>
        </p:txBody>
      </p:sp>
      <p:sp>
        <p:nvSpPr>
          <p:cNvPr id="2058" name="Rectangle 3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2059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0" name="Object 4"/>
          <p:cNvGraphicFramePr/>
          <p:nvPr/>
        </p:nvGraphicFramePr>
        <p:xfrm>
          <a:off x="323850" y="1341438"/>
          <a:ext cx="33115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637665" imgH="431800" progId="Equation.DSMT4">
                  <p:embed/>
                </p:oleObj>
              </mc:Choice>
              <mc:Fallback>
                <p:oleObj name="" r:id="rId1" imgW="1637665" imgH="431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1341438"/>
                        <a:ext cx="3311525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0" name="Rectangle 7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1" name="Object 6"/>
          <p:cNvGraphicFramePr/>
          <p:nvPr/>
        </p:nvGraphicFramePr>
        <p:xfrm>
          <a:off x="4211638" y="1268413"/>
          <a:ext cx="3455987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1600200" imgH="431800" progId="Equation.DSMT4">
                  <p:embed/>
                </p:oleObj>
              </mc:Choice>
              <mc:Fallback>
                <p:oleObj name="" r:id="rId3" imgW="1600200" imgH="4318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11638" y="1268413"/>
                        <a:ext cx="3455987" cy="925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Rectangle 9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2" name="Object 8"/>
          <p:cNvGraphicFramePr/>
          <p:nvPr/>
        </p:nvGraphicFramePr>
        <p:xfrm>
          <a:off x="468313" y="2565400"/>
          <a:ext cx="55435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2133600" imgH="228600" progId="Equation.DSMT4">
                  <p:embed/>
                </p:oleObj>
              </mc:Choice>
              <mc:Fallback>
                <p:oleObj name="" r:id="rId5" imgW="2133600" imgH="2286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313" y="2565400"/>
                        <a:ext cx="5543550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2" name="Rectangle 1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3" name="Object 10"/>
          <p:cNvGraphicFramePr/>
          <p:nvPr/>
        </p:nvGraphicFramePr>
        <p:xfrm>
          <a:off x="468313" y="3429000"/>
          <a:ext cx="547211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2260600" imgH="228600" progId="Equation.DSMT4">
                  <p:embed/>
                </p:oleObj>
              </mc:Choice>
              <mc:Fallback>
                <p:oleObj name="" r:id="rId7" imgW="2260600" imgH="2286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8313" y="3429000"/>
                        <a:ext cx="5472112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3" name="Rectangle 13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4" name="Object 12"/>
          <p:cNvGraphicFramePr/>
          <p:nvPr/>
        </p:nvGraphicFramePr>
        <p:xfrm>
          <a:off x="468313" y="4076700"/>
          <a:ext cx="424815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9" imgW="1866900" imgH="431800" progId="Equation.DSMT4">
                  <p:embed/>
                </p:oleObj>
              </mc:Choice>
              <mc:Fallback>
                <p:oleObj name="" r:id="rId9" imgW="1866900" imgH="431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8313" y="4076700"/>
                        <a:ext cx="4248150" cy="976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4" name="Rectangle 15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5" name="Object 14"/>
          <p:cNvGraphicFramePr/>
          <p:nvPr/>
        </p:nvGraphicFramePr>
        <p:xfrm>
          <a:off x="539750" y="5229225"/>
          <a:ext cx="56896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1" imgW="2336800" imgH="228600" progId="Equation.DSMT4">
                  <p:embed/>
                </p:oleObj>
              </mc:Choice>
              <mc:Fallback>
                <p:oleObj name="" r:id="rId11" imgW="2336800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9750" y="5229225"/>
                        <a:ext cx="5689600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5" name="Rectangle 17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6" name="Object 16"/>
          <p:cNvGraphicFramePr/>
          <p:nvPr/>
        </p:nvGraphicFramePr>
        <p:xfrm>
          <a:off x="611188" y="6021388"/>
          <a:ext cx="64087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3" imgW="2552700" imgH="228600" progId="Equation.DSMT4">
                  <p:embed/>
                </p:oleObj>
              </mc:Choice>
              <mc:Fallback>
                <p:oleObj name="" r:id="rId13" imgW="2552700" imgH="2286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1188" y="6021388"/>
                        <a:ext cx="6408737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2-13(3)</a:t>
            </a:r>
            <a:endParaRPr lang="en-US" altLang="zh-CN" dirty="0"/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3077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4" name="Object 4"/>
          <p:cNvGraphicFramePr/>
          <p:nvPr/>
        </p:nvGraphicFramePr>
        <p:xfrm>
          <a:off x="971550" y="2060575"/>
          <a:ext cx="69850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009900" imgH="431800" progId="Equation.DSMT4">
                  <p:embed/>
                </p:oleObj>
              </mc:Choice>
              <mc:Fallback>
                <p:oleObj name="" r:id="rId1" imgW="3009900" imgH="4318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2060575"/>
                        <a:ext cx="6985000" cy="995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395288" y="0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2-18</a:t>
            </a:r>
            <a:endParaRPr lang="en-US" altLang="zh-CN" dirty="0"/>
          </a:p>
        </p:txBody>
      </p:sp>
      <p:pic>
        <p:nvPicPr>
          <p:cNvPr id="22531" name="Picture 6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50825" y="836613"/>
            <a:ext cx="8496300" cy="2490787"/>
          </a:xfrm>
          <a:ln/>
        </p:spPr>
      </p:pic>
      <p:pic>
        <p:nvPicPr>
          <p:cNvPr id="2253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3429000"/>
            <a:ext cx="4910138" cy="3178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02" name="Picture 6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571625" y="142875"/>
            <a:ext cx="2519363" cy="2327275"/>
          </a:xfrm>
          <a:ln/>
        </p:spPr>
      </p:pic>
      <p:sp>
        <p:nvSpPr>
          <p:cNvPr id="4103" name="Rectangle 8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098" name="Object 7"/>
          <p:cNvGraphicFramePr/>
          <p:nvPr/>
        </p:nvGraphicFramePr>
        <p:xfrm>
          <a:off x="539750" y="2565400"/>
          <a:ext cx="30241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2" imgW="1295400" imgH="228600" progId="Equation.DSMT4">
                  <p:embed/>
                </p:oleObj>
              </mc:Choice>
              <mc:Fallback>
                <p:oleObj name="" r:id="rId2" imgW="1295400" imgH="2286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9750" y="2565400"/>
                        <a:ext cx="3024188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10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099" name="Object 9"/>
          <p:cNvGraphicFramePr/>
          <p:nvPr/>
        </p:nvGraphicFramePr>
        <p:xfrm>
          <a:off x="539750" y="3357563"/>
          <a:ext cx="590391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4" imgW="2222500" imgH="241300" progId="Equation.DSMT4">
                  <p:embed/>
                </p:oleObj>
              </mc:Choice>
              <mc:Fallback>
                <p:oleObj name="" r:id="rId4" imgW="2222500" imgH="2413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9750" y="3357563"/>
                        <a:ext cx="5903913" cy="633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Rectangle 12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100" name="Object 11"/>
          <p:cNvGraphicFramePr/>
          <p:nvPr/>
        </p:nvGraphicFramePr>
        <p:xfrm>
          <a:off x="468313" y="4149725"/>
          <a:ext cx="3598862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6" imgW="1701800" imgH="431800" progId="Equation.DSMT4">
                  <p:embed/>
                </p:oleObj>
              </mc:Choice>
              <mc:Fallback>
                <p:oleObj name="" r:id="rId6" imgW="1701800" imgH="4318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8313" y="4149725"/>
                        <a:ext cx="3598862" cy="903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Rectangle 14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101" name="Object 13"/>
          <p:cNvGraphicFramePr/>
          <p:nvPr/>
        </p:nvGraphicFramePr>
        <p:xfrm>
          <a:off x="539750" y="5373688"/>
          <a:ext cx="54006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8" imgW="2095500" imgH="228600" progId="Equation.DSMT4">
                  <p:embed/>
                </p:oleObj>
              </mc:Choice>
              <mc:Fallback>
                <p:oleObj name="" r:id="rId8" imgW="2095500" imgH="228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9750" y="5373688"/>
                        <a:ext cx="5400675" cy="588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7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214313"/>
            <a:ext cx="2516187" cy="2214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5" name="标题 3"/>
          <p:cNvSpPr>
            <a:spLocks noGrp="1"/>
          </p:cNvSpPr>
          <p:nvPr>
            <p:ph type="title"/>
          </p:nvPr>
        </p:nvSpPr>
        <p:spPr>
          <a:xfrm>
            <a:off x="457200" y="3214688"/>
            <a:ext cx="8401050" cy="2571750"/>
          </a:xfrm>
          <a:ln/>
        </p:spPr>
        <p:txBody>
          <a:bodyPr vert="horz" wrap="square" lIns="91440" tIns="45720" rIns="91440" bIns="45720" anchor="ctr" anchorCtr="0"/>
          <a:p>
            <a:pPr algn="l"/>
            <a:r>
              <a:rPr lang="en-US" altLang="zh-CN" dirty="0"/>
              <a:t>V</a:t>
            </a:r>
            <a:r>
              <a:rPr lang="en-US" altLang="zh-CN" baseline="-25000" dirty="0"/>
              <a:t>CE</a:t>
            </a:r>
            <a:r>
              <a:rPr lang="en-US" altLang="zh-CN" dirty="0"/>
              <a:t>处于“临界饱和”（0.7V）到“完全饱和”（0.3V）之间，I</a:t>
            </a:r>
            <a:r>
              <a:rPr lang="en-US" altLang="zh-CN" baseline="-25000" dirty="0"/>
              <a:t>C</a:t>
            </a:r>
            <a:r>
              <a:rPr lang="en-US" altLang="zh-CN" dirty="0"/>
              <a:t>&gt;&gt;I</a:t>
            </a:r>
            <a:r>
              <a:rPr lang="en-US" altLang="zh-CN" baseline="-25000" dirty="0"/>
              <a:t>B</a:t>
            </a:r>
            <a:r>
              <a:rPr lang="en-US" altLang="zh-CN" dirty="0"/>
              <a:t>  ， I</a:t>
            </a:r>
            <a:r>
              <a:rPr lang="en-US" altLang="zh-CN" baseline="-25000" dirty="0"/>
              <a:t>C</a:t>
            </a:r>
            <a:r>
              <a:rPr lang="en-US" altLang="zh-CN" dirty="0"/>
              <a:t> ≈ I</a:t>
            </a:r>
            <a:r>
              <a:rPr lang="en-US" altLang="zh-CN" baseline="-25000" dirty="0"/>
              <a:t>E</a:t>
            </a:r>
            <a:r>
              <a:rPr lang="en-US" altLang="zh-CN" dirty="0"/>
              <a:t>还是成立</a:t>
            </a:r>
            <a:endParaRPr lang="zh-CN" altLang="en-US" dirty="0"/>
          </a:p>
        </p:txBody>
      </p:sp>
      <p:sp>
        <p:nvSpPr>
          <p:cNvPr id="512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5122" name="Object 1"/>
          <p:cNvGraphicFramePr/>
          <p:nvPr/>
        </p:nvGraphicFramePr>
        <p:xfrm>
          <a:off x="571500" y="428625"/>
          <a:ext cx="4857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943100" imgH="228600" progId="Equation.DSMT4">
                  <p:embed/>
                </p:oleObj>
              </mc:Choice>
              <mc:Fallback>
                <p:oleObj name="" r:id="rId1" imgW="1943100" imgH="2286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1500" y="428625"/>
                        <a:ext cx="485775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5123" name="Object 3"/>
          <p:cNvGraphicFramePr/>
          <p:nvPr/>
        </p:nvGraphicFramePr>
        <p:xfrm>
          <a:off x="571500" y="1357313"/>
          <a:ext cx="21653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913765" imgH="177800" progId="Equation.DSMT4">
                  <p:embed/>
                </p:oleObj>
              </mc:Choice>
              <mc:Fallback>
                <p:oleObj name="" r:id="rId3" imgW="913765" imgH="1778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1500" y="1357313"/>
                        <a:ext cx="2165350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5124" name="Object 5"/>
          <p:cNvGraphicFramePr/>
          <p:nvPr/>
        </p:nvGraphicFramePr>
        <p:xfrm>
          <a:off x="571500" y="2000250"/>
          <a:ext cx="39147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1308100" imgH="241300" progId="Equation.DSMT4">
                  <p:embed/>
                </p:oleObj>
              </mc:Choice>
              <mc:Fallback>
                <p:oleObj name="" r:id="rId5" imgW="1308100" imgH="2413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1500" y="2000250"/>
                        <a:ext cx="3914775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9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0688" y="500063"/>
            <a:ext cx="2516187" cy="2214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2-19</a:t>
            </a:r>
            <a:endParaRPr lang="en-US" altLang="zh-CN" dirty="0"/>
          </a:p>
        </p:txBody>
      </p:sp>
      <p:pic>
        <p:nvPicPr>
          <p:cNvPr id="2355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1844675"/>
            <a:ext cx="2722562" cy="3097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3" y="1785938"/>
            <a:ext cx="2071687" cy="3416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5300663"/>
            <a:ext cx="8340725" cy="1223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3688" y="928688"/>
            <a:ext cx="2071687" cy="3416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6146" name="Object 1"/>
          <p:cNvGraphicFramePr/>
          <p:nvPr/>
        </p:nvGraphicFramePr>
        <p:xfrm>
          <a:off x="285750" y="571500"/>
          <a:ext cx="61055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2" imgW="2794000" imgH="457200" progId="Equation.DSMT4">
                  <p:embed/>
                </p:oleObj>
              </mc:Choice>
              <mc:Fallback>
                <p:oleObj name="" r:id="rId2" imgW="2794000" imgH="457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5750" y="571500"/>
                        <a:ext cx="6105525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6147" name="Object 3"/>
          <p:cNvGraphicFramePr/>
          <p:nvPr/>
        </p:nvGraphicFramePr>
        <p:xfrm>
          <a:off x="214313" y="1928813"/>
          <a:ext cx="54292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4" imgW="2133600" imgH="228600" progId="Equation.DSMT4">
                  <p:embed/>
                </p:oleObj>
              </mc:Choice>
              <mc:Fallback>
                <p:oleObj name="" r:id="rId4" imgW="2133600" imgH="2286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4313" y="1928813"/>
                        <a:ext cx="542925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矩形 7"/>
          <p:cNvSpPr/>
          <p:nvPr/>
        </p:nvSpPr>
        <p:spPr>
          <a:xfrm>
            <a:off x="928688" y="2714625"/>
            <a:ext cx="27146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latin typeface="Arial" panose="020B0604020202020204" pitchFamily="34" charset="0"/>
              </a:rPr>
              <a:t>（假设在放大区）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615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6148" name="Object 5"/>
          <p:cNvGraphicFramePr/>
          <p:nvPr/>
        </p:nvGraphicFramePr>
        <p:xfrm>
          <a:off x="285750" y="3500438"/>
          <a:ext cx="702151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6" imgW="3213100" imgH="228600" progId="Equation.DSMT4">
                  <p:embed/>
                </p:oleObj>
              </mc:Choice>
              <mc:Fallback>
                <p:oleObj name="" r:id="rId6" imgW="3213100" imgH="2286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5750" y="3500438"/>
                        <a:ext cx="7021513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矩形 10"/>
          <p:cNvSpPr/>
          <p:nvPr/>
        </p:nvSpPr>
        <p:spPr>
          <a:xfrm>
            <a:off x="1285875" y="4429125"/>
            <a:ext cx="40719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latin typeface="Arial" panose="020B0604020202020204" pitchFamily="34" charset="0"/>
              </a:rPr>
              <a:t>所以三极管饱和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75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3688" y="928688"/>
            <a:ext cx="2071687" cy="3416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6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170" name="Object 1"/>
          <p:cNvGraphicFramePr/>
          <p:nvPr/>
        </p:nvGraphicFramePr>
        <p:xfrm>
          <a:off x="500063" y="357188"/>
          <a:ext cx="573563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2" imgW="2120900" imgH="241300" progId="Equation.DSMT4">
                  <p:embed/>
                </p:oleObj>
              </mc:Choice>
              <mc:Fallback>
                <p:oleObj name="" r:id="rId2" imgW="2120900" imgH="2413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0063" y="357188"/>
                        <a:ext cx="5735637" cy="642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171" name="Object 3"/>
          <p:cNvGraphicFramePr/>
          <p:nvPr/>
        </p:nvGraphicFramePr>
        <p:xfrm>
          <a:off x="571500" y="1143000"/>
          <a:ext cx="45005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4" imgW="1803400" imgH="228600" progId="Equation.DSMT4">
                  <p:embed/>
                </p:oleObj>
              </mc:Choice>
              <mc:Fallback>
                <p:oleObj name="" r:id="rId4" imgW="1803400" imgH="228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1500" y="1143000"/>
                        <a:ext cx="4500563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172" name="Object 5"/>
          <p:cNvGraphicFramePr/>
          <p:nvPr/>
        </p:nvGraphicFramePr>
        <p:xfrm>
          <a:off x="571500" y="2071688"/>
          <a:ext cx="564356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6" imgW="2120900" imgH="241300" progId="Equation.DSMT4">
                  <p:embed/>
                </p:oleObj>
              </mc:Choice>
              <mc:Fallback>
                <p:oleObj name="" r:id="rId6" imgW="2120900" imgH="2413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1500" y="2071688"/>
                        <a:ext cx="5643563" cy="633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173" name="Object 7"/>
          <p:cNvGraphicFramePr/>
          <p:nvPr/>
        </p:nvGraphicFramePr>
        <p:xfrm>
          <a:off x="500063" y="3214688"/>
          <a:ext cx="4572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8" imgW="1828800" imgH="228600" progId="Equation.DSMT4">
                  <p:embed/>
                </p:oleObj>
              </mc:Choice>
              <mc:Fallback>
                <p:oleObj name="" r:id="rId8" imgW="1828800" imgH="228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0063" y="3214688"/>
                        <a:ext cx="45720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矩形 10"/>
          <p:cNvSpPr/>
          <p:nvPr/>
        </p:nvSpPr>
        <p:spPr>
          <a:xfrm>
            <a:off x="571500" y="4214813"/>
            <a:ext cx="56435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latin typeface="Arial" panose="020B0604020202020204" pitchFamily="34" charset="0"/>
              </a:rPr>
              <a:t>求解（</a:t>
            </a:r>
            <a:r>
              <a:rPr lang="en-US" altLang="zh-CN" sz="3200" dirty="0">
                <a:latin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</a:rPr>
              <a:t>）（</a:t>
            </a:r>
            <a:r>
              <a:rPr lang="en-US" altLang="zh-CN" sz="3200" dirty="0">
                <a:latin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</a:rPr>
              <a:t>）方程组得：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7181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174" name="Object 9"/>
          <p:cNvGraphicFramePr/>
          <p:nvPr/>
        </p:nvGraphicFramePr>
        <p:xfrm>
          <a:off x="500063" y="5214938"/>
          <a:ext cx="65008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0" imgW="2298700" imgH="228600" progId="Equation.DSMT4">
                  <p:embed/>
                </p:oleObj>
              </mc:Choice>
              <mc:Fallback>
                <p:oleObj name="" r:id="rId10" imgW="2298700" imgH="2286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0063" y="5214938"/>
                        <a:ext cx="6500812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000125"/>
            <a:ext cx="2736850" cy="2928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6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28688"/>
            <a:ext cx="1857375" cy="306228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194" name="Object 5"/>
          <p:cNvGraphicFramePr/>
          <p:nvPr/>
        </p:nvGraphicFramePr>
        <p:xfrm>
          <a:off x="3643313" y="4143375"/>
          <a:ext cx="1500187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520700" imgH="228600" progId="Equation.DSMT4">
                  <p:embed/>
                </p:oleObj>
              </mc:Choice>
              <mc:Fallback>
                <p:oleObj name="" r:id="rId3" imgW="520700" imgH="2286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3313" y="4143375"/>
                        <a:ext cx="1500187" cy="658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矩形 5"/>
          <p:cNvSpPr/>
          <p:nvPr/>
        </p:nvSpPr>
        <p:spPr>
          <a:xfrm>
            <a:off x="1857375" y="5286375"/>
            <a:ext cx="47863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4000" dirty="0">
                <a:latin typeface="Arial" panose="020B0604020202020204" pitchFamily="34" charset="0"/>
              </a:rPr>
              <a:t>所以左图变为右图</a:t>
            </a:r>
            <a:endParaRPr lang="zh-CN" altLang="en-US" sz="4000" dirty="0">
              <a:latin typeface="Arial" panose="020B0604020202020204" pitchFamily="34" charset="0"/>
            </a:endParaRPr>
          </a:p>
        </p:txBody>
      </p:sp>
      <p:pic>
        <p:nvPicPr>
          <p:cNvPr id="819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5" y="1143000"/>
            <a:ext cx="2778125" cy="285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2" name="Rectangle 6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218" name="Object 5"/>
          <p:cNvGraphicFramePr/>
          <p:nvPr/>
        </p:nvGraphicFramePr>
        <p:xfrm>
          <a:off x="395288" y="2420938"/>
          <a:ext cx="30972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57300" imgH="228600" progId="Equation.DSMT4">
                  <p:embed/>
                </p:oleObj>
              </mc:Choice>
              <mc:Fallback>
                <p:oleObj name="" r:id="rId1" imgW="1257300" imgH="228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2420938"/>
                        <a:ext cx="3097212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8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219" name="Object 7"/>
          <p:cNvGraphicFramePr/>
          <p:nvPr/>
        </p:nvGraphicFramePr>
        <p:xfrm>
          <a:off x="468313" y="3213100"/>
          <a:ext cx="518318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070100" imgH="241300" progId="Equation.DSMT4">
                  <p:embed/>
                </p:oleObj>
              </mc:Choice>
              <mc:Fallback>
                <p:oleObj name="" r:id="rId3" imgW="2070100" imgH="2413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3213100"/>
                        <a:ext cx="5183187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10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220" name="Object 9"/>
          <p:cNvGraphicFramePr/>
          <p:nvPr/>
        </p:nvGraphicFramePr>
        <p:xfrm>
          <a:off x="395288" y="4076700"/>
          <a:ext cx="38893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1562100" imgH="431800" progId="Equation.DSMT4">
                  <p:embed/>
                </p:oleObj>
              </mc:Choice>
              <mc:Fallback>
                <p:oleObj name="" r:id="rId5" imgW="1562100" imgH="431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88" y="4076700"/>
                        <a:ext cx="3889375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ctangle 12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221" name="Object 11"/>
          <p:cNvGraphicFramePr/>
          <p:nvPr/>
        </p:nvGraphicFramePr>
        <p:xfrm>
          <a:off x="395288" y="5373688"/>
          <a:ext cx="61214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2120900" imgH="228600" progId="Equation.DSMT4">
                  <p:embed/>
                </p:oleObj>
              </mc:Choice>
              <mc:Fallback>
                <p:oleObj name="" r:id="rId7" imgW="2120900" imgH="2286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288" y="5373688"/>
                        <a:ext cx="6121400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6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6438" y="785813"/>
            <a:ext cx="2500312" cy="2571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8" name="Rectangle 2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7921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2-20</a:t>
            </a:r>
            <a:endParaRPr lang="en-US" altLang="zh-CN" dirty="0"/>
          </a:p>
        </p:txBody>
      </p:sp>
      <p:sp>
        <p:nvSpPr>
          <p:cNvPr id="10249" name="Rectangle 3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0250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42" name="Object 4"/>
          <p:cNvGraphicFramePr/>
          <p:nvPr/>
        </p:nvGraphicFramePr>
        <p:xfrm>
          <a:off x="323850" y="1341438"/>
          <a:ext cx="51117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514600" imgH="241300" progId="Equation.DSMT4">
                  <p:embed/>
                </p:oleObj>
              </mc:Choice>
              <mc:Fallback>
                <p:oleObj name="" r:id="rId1" imgW="2514600" imgH="2413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1341438"/>
                        <a:ext cx="5111750" cy="484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Rectangle 7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43" name="Object 6"/>
          <p:cNvGraphicFramePr/>
          <p:nvPr/>
        </p:nvGraphicFramePr>
        <p:xfrm>
          <a:off x="250825" y="2060575"/>
          <a:ext cx="61214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2870200" imgH="431800" progId="Equation.DSMT4">
                  <p:embed/>
                </p:oleObj>
              </mc:Choice>
              <mc:Fallback>
                <p:oleObj name="" r:id="rId3" imgW="2870200" imgH="4318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825" y="2060575"/>
                        <a:ext cx="6121400" cy="915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9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44" name="Object 8"/>
          <p:cNvGraphicFramePr/>
          <p:nvPr/>
        </p:nvGraphicFramePr>
        <p:xfrm>
          <a:off x="250825" y="3068638"/>
          <a:ext cx="65532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2628900" imgH="241300" progId="Equation.DSMT4">
                  <p:embed/>
                </p:oleObj>
              </mc:Choice>
              <mc:Fallback>
                <p:oleObj name="" r:id="rId5" imgW="2628900" imgH="2413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825" y="3068638"/>
                        <a:ext cx="6553200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Rectangle 11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45" name="Object 10"/>
          <p:cNvGraphicFramePr/>
          <p:nvPr/>
        </p:nvGraphicFramePr>
        <p:xfrm>
          <a:off x="250825" y="3789363"/>
          <a:ext cx="6697663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2832100" imgH="431800" progId="Equation.DSMT4">
                  <p:embed/>
                </p:oleObj>
              </mc:Choice>
              <mc:Fallback>
                <p:oleObj name="" r:id="rId7" imgW="2832100" imgH="4318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825" y="3789363"/>
                        <a:ext cx="6697663" cy="1014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Rectangle 13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46" name="Object 12"/>
          <p:cNvGraphicFramePr/>
          <p:nvPr/>
        </p:nvGraphicFramePr>
        <p:xfrm>
          <a:off x="250825" y="4724400"/>
          <a:ext cx="424815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9" imgW="1803400" imgH="419100" progId="Equation.DSMT4">
                  <p:embed/>
                </p:oleObj>
              </mc:Choice>
              <mc:Fallback>
                <p:oleObj name="" r:id="rId9" imgW="1803400" imgH="4191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825" y="4724400"/>
                        <a:ext cx="4248150" cy="989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Rectangle 15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47" name="Object 14"/>
          <p:cNvGraphicFramePr/>
          <p:nvPr/>
        </p:nvGraphicFramePr>
        <p:xfrm>
          <a:off x="323850" y="5876925"/>
          <a:ext cx="74882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1" imgW="2946400" imgH="241300" progId="Equation.DSMT4">
                  <p:embed/>
                </p:oleObj>
              </mc:Choice>
              <mc:Fallback>
                <p:oleObj name="" r:id="rId11" imgW="2946400" imgH="2413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3850" y="5876925"/>
                        <a:ext cx="7488238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700213"/>
            <a:ext cx="6713538" cy="3675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72" name="Rectangle 2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88265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补充</a:t>
            </a:r>
            <a:r>
              <a:rPr lang="en-US" altLang="zh-CN" dirty="0"/>
              <a:t>1</a:t>
            </a:r>
            <a:r>
              <a:rPr lang="zh-CN" altLang="en-US" dirty="0"/>
              <a:t>、（</a:t>
            </a:r>
            <a:r>
              <a:rPr lang="en-US" altLang="zh-CN" dirty="0"/>
              <a:t>P76</a:t>
            </a:r>
            <a:r>
              <a:rPr lang="zh-CN" altLang="en-US" dirty="0"/>
              <a:t>例</a:t>
            </a:r>
            <a:r>
              <a:rPr lang="en-US" altLang="zh-CN" dirty="0"/>
              <a:t>2-3-1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1273" name="Rectangle 3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72125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当               ，问     为多少时，三极管可以脱离饱和？</a:t>
            </a:r>
            <a:endParaRPr lang="zh-CN" altLang="en-US" dirty="0"/>
          </a:p>
          <a:p>
            <a:r>
              <a:rPr lang="zh-CN" altLang="en-US" dirty="0"/>
              <a:t>解：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如在放大区</a:t>
            </a:r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r>
              <a:rPr lang="zh-CN" altLang="en-US" dirty="0"/>
              <a:t> 当：                                                时，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脱离饱和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11274" name="Rectangle 5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1266" name="Object 2"/>
          <p:cNvGraphicFramePr/>
          <p:nvPr/>
        </p:nvGraphicFramePr>
        <p:xfrm>
          <a:off x="1285875" y="1214438"/>
          <a:ext cx="1655763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698500" imgH="228600" progId="Equation.DSMT4">
                  <p:embed/>
                </p:oleObj>
              </mc:Choice>
              <mc:Fallback>
                <p:oleObj name="" r:id="rId1" imgW="698500" imgH="2286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85875" y="1214438"/>
                        <a:ext cx="1655763" cy="544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1267" name="Object 3"/>
          <p:cNvGraphicFramePr/>
          <p:nvPr/>
        </p:nvGraphicFramePr>
        <p:xfrm>
          <a:off x="3857625" y="1214438"/>
          <a:ext cx="48101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203200" imgH="228600" progId="Equation.DSMT4">
                  <p:embed/>
                </p:oleObj>
              </mc:Choice>
              <mc:Fallback>
                <p:oleObj name="" r:id="rId3" imgW="203200" imgH="2286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7625" y="1214438"/>
                        <a:ext cx="481013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Rectangl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1268" name="Object 4"/>
          <p:cNvGraphicFramePr/>
          <p:nvPr/>
        </p:nvGraphicFramePr>
        <p:xfrm>
          <a:off x="1857375" y="2071688"/>
          <a:ext cx="58324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2336800" imgH="457200" progId="Equation.DSMT4">
                  <p:embed/>
                </p:oleObj>
              </mc:Choice>
              <mc:Fallback>
                <p:oleObj name="" r:id="rId5" imgW="2336800" imgH="4572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375" y="2071688"/>
                        <a:ext cx="5832475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Rectangle 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1269" name="Object 5"/>
          <p:cNvGraphicFramePr/>
          <p:nvPr/>
        </p:nvGraphicFramePr>
        <p:xfrm>
          <a:off x="3214688" y="3286125"/>
          <a:ext cx="5113337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7" imgW="1943100" imgH="241300" progId="Equation.DSMT4">
                  <p:embed/>
                </p:oleObj>
              </mc:Choice>
              <mc:Fallback>
                <p:oleObj name="" r:id="rId7" imgW="1943100" imgH="2413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4688" y="3286125"/>
                        <a:ext cx="5113337" cy="627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13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79" name="Rectangle 1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1270" name="Object 14"/>
          <p:cNvGraphicFramePr/>
          <p:nvPr/>
        </p:nvGraphicFramePr>
        <p:xfrm>
          <a:off x="3214688" y="3857625"/>
          <a:ext cx="478631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9" imgW="1714500" imgH="241300" progId="Equation.DSMT4">
                  <p:embed/>
                </p:oleObj>
              </mc:Choice>
              <mc:Fallback>
                <p:oleObj name="" r:id="rId9" imgW="1714500" imgH="2413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14688" y="3857625"/>
                        <a:ext cx="4786312" cy="665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Rectangle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1271" name="Object 16"/>
          <p:cNvGraphicFramePr/>
          <p:nvPr/>
        </p:nvGraphicFramePr>
        <p:xfrm>
          <a:off x="1357313" y="4500563"/>
          <a:ext cx="48704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1" imgW="2451100" imgH="469900" progId="Equation.DSMT4">
                  <p:embed/>
                </p:oleObj>
              </mc:Choice>
              <mc:Fallback>
                <p:oleObj name="" r:id="rId11" imgW="2451100" imgH="4699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57313" y="4500563"/>
                        <a:ext cx="4870450" cy="928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sz="4000" dirty="0"/>
              <a:t>补充</a:t>
            </a:r>
            <a:r>
              <a:rPr lang="en-US" altLang="zh-CN" sz="4000" dirty="0"/>
              <a:t>2 </a:t>
            </a:r>
            <a:r>
              <a:rPr lang="zh-CN" altLang="en-US" sz="4000" dirty="0"/>
              <a:t>、已知</a:t>
            </a:r>
            <a:endParaRPr lang="zh-CN" altLang="en-US" sz="4000" dirty="0"/>
          </a:p>
        </p:txBody>
      </p:sp>
      <p:sp>
        <p:nvSpPr>
          <p:cNvPr id="12293" name="Rectangle 3"/>
          <p:cNvSpPr>
            <a:spLocks noGrp="1"/>
          </p:cNvSpPr>
          <p:nvPr>
            <p:ph sz="half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zh-CN" altLang="en-US" sz="3200" b="1" dirty="0">
                <a:latin typeface="+mn-lt"/>
                <a:ea typeface="+mn-ea"/>
                <a:cs typeface="+mn-cs"/>
              </a:rPr>
              <a:t>分别用戴维宁定理法和近似估算求 </a:t>
            </a:r>
            <a:endParaRPr lang="zh-CN" alt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2294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2290" name="Object 2"/>
          <p:cNvGraphicFramePr/>
          <p:nvPr/>
        </p:nvGraphicFramePr>
        <p:xfrm>
          <a:off x="3857625" y="571500"/>
          <a:ext cx="435610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485265" imgH="241300" progId="Equation.DSMT4">
                  <p:embed/>
                </p:oleObj>
              </mc:Choice>
              <mc:Fallback>
                <p:oleObj name="" r:id="rId1" imgW="1485265" imgH="2413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7625" y="571500"/>
                        <a:ext cx="4356100" cy="700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Rectangle 7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2291" name="Object 3"/>
          <p:cNvGraphicFramePr/>
          <p:nvPr/>
        </p:nvGraphicFramePr>
        <p:xfrm>
          <a:off x="900113" y="2852738"/>
          <a:ext cx="2808287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977900" imgH="241300" progId="Equation.DSMT4">
                  <p:embed/>
                </p:oleObj>
              </mc:Choice>
              <mc:Fallback>
                <p:oleObj name="" r:id="rId3" imgW="977900" imgH="2413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2852738"/>
                        <a:ext cx="2808287" cy="681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6" name="Picture 9"/>
          <p:cNvPicPr>
            <a:picLocks noChangeAspect="1"/>
          </p:cNvPicPr>
          <p:nvPr>
            <p:ph sz="half" idx="2"/>
          </p:nvPr>
        </p:nvPicPr>
        <p:blipFill>
          <a:blip r:embed="rId5"/>
          <a:srcRect/>
          <a:stretch>
            <a:fillRect/>
          </a:stretch>
        </p:blipFill>
        <p:spPr>
          <a:xfrm>
            <a:off x="5003800" y="1628775"/>
            <a:ext cx="3529013" cy="3068638"/>
          </a:xfrm>
          <a:ln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）用戴维宁定理 </a:t>
            </a:r>
            <a:endParaRPr lang="zh-CN" altLang="en-US" dirty="0"/>
          </a:p>
        </p:txBody>
      </p:sp>
      <p:sp>
        <p:nvSpPr>
          <p:cNvPr id="1332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3321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4" name="Object 2"/>
          <p:cNvGraphicFramePr/>
          <p:nvPr/>
        </p:nvGraphicFramePr>
        <p:xfrm>
          <a:off x="684213" y="1341438"/>
          <a:ext cx="5903912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2590800" imgH="431800" progId="Equation.DSMT4">
                  <p:embed/>
                </p:oleObj>
              </mc:Choice>
              <mc:Fallback>
                <p:oleObj name="" r:id="rId1" imgW="2590800" imgH="4318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1341438"/>
                        <a:ext cx="5903912" cy="976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7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5" name="Object 3"/>
          <p:cNvGraphicFramePr/>
          <p:nvPr/>
        </p:nvGraphicFramePr>
        <p:xfrm>
          <a:off x="611188" y="2492375"/>
          <a:ext cx="590550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2362200" imgH="393700" progId="Equation.DSMT4">
                  <p:embed/>
                </p:oleObj>
              </mc:Choice>
              <mc:Fallback>
                <p:oleObj name="" r:id="rId3" imgW="2362200" imgH="3937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8" y="2492375"/>
                        <a:ext cx="5905500" cy="976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Rectangle 9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6" name="Object 4"/>
          <p:cNvGraphicFramePr/>
          <p:nvPr/>
        </p:nvGraphicFramePr>
        <p:xfrm>
          <a:off x="539750" y="3573463"/>
          <a:ext cx="70564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3213100" imgH="457200" progId="Equation.DSMT4">
                  <p:embed/>
                </p:oleObj>
              </mc:Choice>
              <mc:Fallback>
                <p:oleObj name="" r:id="rId5" imgW="3213100" imgH="457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750" y="3573463"/>
                        <a:ext cx="7056438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Rectangle 11"/>
          <p:cNvSpPr/>
          <p:nvPr/>
        </p:nvSpPr>
        <p:spPr>
          <a:xfrm>
            <a:off x="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7" name="Object 5"/>
          <p:cNvGraphicFramePr/>
          <p:nvPr/>
        </p:nvGraphicFramePr>
        <p:xfrm>
          <a:off x="684213" y="4868863"/>
          <a:ext cx="6408737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7" imgW="2413000" imgH="241300" progId="Equation.DSMT4">
                  <p:embed/>
                </p:oleObj>
              </mc:Choice>
              <mc:Fallback>
                <p:oleObj name="" r:id="rId7" imgW="2413000" imgH="2413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4213" y="4868863"/>
                        <a:ext cx="6408737" cy="633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8" name="Object 6"/>
          <p:cNvGraphicFramePr/>
          <p:nvPr/>
        </p:nvGraphicFramePr>
        <p:xfrm>
          <a:off x="755650" y="5805488"/>
          <a:ext cx="81375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9" imgW="3416300" imgH="241300" progId="Equation.DSMT4">
                  <p:embed/>
                </p:oleObj>
              </mc:Choice>
              <mc:Fallback>
                <p:oleObj name="" r:id="rId9" imgW="3416300" imgH="2413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5650" y="5805488"/>
                        <a:ext cx="8137525" cy="566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3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sz="4000" dirty="0"/>
              <a:t>（</a:t>
            </a:r>
            <a:r>
              <a:rPr lang="en-US" altLang="zh-CN" sz="4000" dirty="0"/>
              <a:t>2</a:t>
            </a:r>
            <a:r>
              <a:rPr lang="zh-CN" altLang="en-US" sz="4000" dirty="0"/>
              <a:t>）近似估算</a:t>
            </a:r>
            <a:endParaRPr lang="zh-CN" altLang="en-US" sz="4000" dirty="0"/>
          </a:p>
        </p:txBody>
      </p:sp>
      <p:sp>
        <p:nvSpPr>
          <p:cNvPr id="1434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4345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38" name="Object 2"/>
          <p:cNvGraphicFramePr/>
          <p:nvPr/>
        </p:nvGraphicFramePr>
        <p:xfrm>
          <a:off x="1835150" y="981075"/>
          <a:ext cx="38163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1955800" imgH="431800" progId="Equation.DSMT4">
                  <p:embed/>
                </p:oleObj>
              </mc:Choice>
              <mc:Fallback>
                <p:oleObj name="" r:id="rId1" imgW="1955800" imgH="4318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5150" y="981075"/>
                        <a:ext cx="38163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7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39" name="Object 3"/>
          <p:cNvGraphicFramePr/>
          <p:nvPr/>
        </p:nvGraphicFramePr>
        <p:xfrm>
          <a:off x="1476375" y="1989138"/>
          <a:ext cx="43926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2095500" imgH="241300" progId="Equation.DSMT4">
                  <p:embed/>
                </p:oleObj>
              </mc:Choice>
              <mc:Fallback>
                <p:oleObj name="" r:id="rId3" imgW="2095500" imgH="2413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1989138"/>
                        <a:ext cx="4392613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Rectangle 9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40" name="Object 4"/>
          <p:cNvGraphicFramePr/>
          <p:nvPr/>
        </p:nvGraphicFramePr>
        <p:xfrm>
          <a:off x="1476375" y="2781300"/>
          <a:ext cx="43910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5" imgW="2019300" imgH="431800" progId="Equation.DSMT4">
                  <p:embed/>
                </p:oleObj>
              </mc:Choice>
              <mc:Fallback>
                <p:oleObj name="" r:id="rId5" imgW="2019300" imgH="4318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6375" y="2781300"/>
                        <a:ext cx="4391025" cy="93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Rectangle 11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41" name="Object 5"/>
          <p:cNvGraphicFramePr/>
          <p:nvPr/>
        </p:nvGraphicFramePr>
        <p:xfrm>
          <a:off x="1476375" y="3860800"/>
          <a:ext cx="4535488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7" imgW="2133600" imgH="444500" progId="Equation.DSMT4">
                  <p:embed/>
                </p:oleObj>
              </mc:Choice>
              <mc:Fallback>
                <p:oleObj name="" r:id="rId7" imgW="2133600" imgH="4445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3860800"/>
                        <a:ext cx="4535488" cy="950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Rectangle 13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42" name="Object 6"/>
          <p:cNvGraphicFramePr/>
          <p:nvPr/>
        </p:nvGraphicFramePr>
        <p:xfrm>
          <a:off x="539750" y="5300663"/>
          <a:ext cx="78501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9" imgW="3403600" imgH="241300" progId="Equation.DSMT4">
                  <p:embed/>
                </p:oleObj>
              </mc:Choice>
              <mc:Fallback>
                <p:oleObj name="" r:id="rId9" imgW="3403600" imgH="2413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9750" y="5300663"/>
                        <a:ext cx="7850188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sz="3200" b="1" dirty="0"/>
              <a:t>补充</a:t>
            </a:r>
            <a:r>
              <a:rPr lang="en-US" altLang="zh-CN" sz="3200" b="1" dirty="0"/>
              <a:t>3</a:t>
            </a:r>
            <a:r>
              <a:rPr lang="zh-CN" altLang="en-US" sz="3200" b="1" dirty="0"/>
              <a:t>、放大电路及三极管输出特性曲线如下图，设三极管的</a:t>
            </a:r>
            <a:r>
              <a:rPr lang="en-US" altLang="zh-CN" sz="3200" b="1" dirty="0"/>
              <a:t>V</a:t>
            </a:r>
            <a:r>
              <a:rPr lang="en-US" altLang="zh-CN" sz="3200" b="1" baseline="-25000" dirty="0"/>
              <a:t>BE(on)</a:t>
            </a:r>
            <a:r>
              <a:rPr lang="en-US" altLang="zh-CN" sz="3200" b="1" dirty="0"/>
              <a:t>=0.6V</a:t>
            </a:r>
            <a:r>
              <a:rPr lang="zh-CN" altLang="en-US" sz="3200" b="1" dirty="0"/>
              <a:t>，</a:t>
            </a:r>
            <a:endParaRPr lang="zh-CN" altLang="en-US" sz="3200" b="1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/>
              <a:t>(1)</a:t>
            </a:r>
            <a:r>
              <a:rPr lang="zh-CN" altLang="en-US" b="1" dirty="0"/>
              <a:t>求</a:t>
            </a:r>
            <a:r>
              <a:rPr lang="en-US" altLang="zh-CN" b="1" dirty="0"/>
              <a:t>I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BQ</a:t>
            </a:r>
            <a:r>
              <a:rPr lang="zh-CN" altLang="en-US" b="1" dirty="0"/>
              <a:t>；</a:t>
            </a:r>
            <a:endParaRPr lang="zh-CN" altLang="en-US" b="1" dirty="0"/>
          </a:p>
          <a:p>
            <a:pPr>
              <a:buNone/>
            </a:pPr>
            <a:r>
              <a:rPr lang="en-US" altLang="zh-CN" b="1" dirty="0"/>
              <a:t>(2)</a:t>
            </a:r>
            <a:r>
              <a:rPr lang="zh-CN" altLang="en-US" b="1" dirty="0"/>
              <a:t>画出直流负载线，用作图法求</a:t>
            </a:r>
            <a:r>
              <a:rPr lang="en-US" altLang="zh-CN" b="1" dirty="0"/>
              <a:t>I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CQ</a:t>
            </a:r>
            <a:r>
              <a:rPr lang="zh-CN" altLang="en-US" b="1" dirty="0"/>
              <a:t>、</a:t>
            </a:r>
            <a:r>
              <a:rPr lang="en-US" altLang="zh-CN" b="1" dirty="0"/>
              <a:t>V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CEQ</a:t>
            </a:r>
            <a:r>
              <a:rPr lang="zh-CN" altLang="en-US" b="1" dirty="0"/>
              <a:t>；</a:t>
            </a:r>
            <a:endParaRPr lang="zh-CN" altLang="en-US" b="1" dirty="0"/>
          </a:p>
        </p:txBody>
      </p:sp>
      <p:pic>
        <p:nvPicPr>
          <p:cNvPr id="2560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3357563"/>
            <a:ext cx="2808287" cy="23225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2852738"/>
            <a:ext cx="4248150" cy="3852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5792788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/>
              <a:t>(3)i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b</a:t>
            </a:r>
            <a:r>
              <a:rPr lang="en-US" altLang="zh-CN" b="1" dirty="0"/>
              <a:t>=10sinωt (μA ) , </a:t>
            </a:r>
            <a:r>
              <a:rPr lang="zh-CN" altLang="en-US" b="1" dirty="0"/>
              <a:t>请在指定的坐标上画出</a:t>
            </a:r>
            <a:r>
              <a:rPr lang="en-US" altLang="zh-CN" b="1" dirty="0"/>
              <a:t>v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CE</a:t>
            </a:r>
            <a:r>
              <a:rPr lang="zh-CN" altLang="en-US" b="1" dirty="0"/>
              <a:t>和</a:t>
            </a:r>
            <a:r>
              <a:rPr lang="en-US" altLang="zh-CN" b="1" dirty="0"/>
              <a:t>i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C</a:t>
            </a:r>
            <a:r>
              <a:rPr lang="zh-CN" altLang="en-US" b="1" dirty="0"/>
              <a:t>的波形，并求输出电压幅度</a:t>
            </a:r>
            <a:r>
              <a:rPr lang="en-US" altLang="zh-CN" b="1" dirty="0"/>
              <a:t>V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om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>
              <a:buNone/>
            </a:pPr>
            <a:r>
              <a:rPr lang="en-US" altLang="zh-CN" b="1" dirty="0"/>
              <a:t>(4)</a:t>
            </a:r>
            <a:r>
              <a:rPr lang="zh-CN" altLang="en-US" b="1" dirty="0"/>
              <a:t>如加大输入信号幅度，先出现何种失真？如要使动态范围变大，应如何改变</a:t>
            </a:r>
            <a:r>
              <a:rPr lang="en-US" altLang="zh-CN" b="1" dirty="0"/>
              <a:t>R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B</a:t>
            </a:r>
            <a:r>
              <a:rPr lang="zh-CN" altLang="en-US" b="1" dirty="0"/>
              <a:t>（变大或变小）</a:t>
            </a:r>
            <a:r>
              <a:rPr lang="en-US" altLang="zh-CN" b="1" dirty="0"/>
              <a:t>?</a:t>
            </a: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(5)</a:t>
            </a:r>
            <a:r>
              <a:rPr lang="zh-CN" altLang="en-US" b="1" dirty="0"/>
              <a:t>当接负载</a:t>
            </a:r>
            <a:r>
              <a:rPr lang="en-US" altLang="zh-CN" b="1" dirty="0"/>
              <a:t>R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L</a:t>
            </a:r>
            <a:r>
              <a:rPr lang="en-US" altLang="zh-CN" b="1" dirty="0"/>
              <a:t>=2kΩ</a:t>
            </a:r>
            <a:r>
              <a:rPr lang="zh-CN" altLang="en-US" b="1" dirty="0"/>
              <a:t>，画出交流负载线。如</a:t>
            </a:r>
            <a:r>
              <a:rPr lang="en-US" altLang="zh-CN" b="1" dirty="0"/>
              <a:t>i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b</a:t>
            </a:r>
            <a:r>
              <a:rPr lang="en-US" altLang="zh-CN" b="1" dirty="0"/>
              <a:t>=10sinωt (μA )</a:t>
            </a:r>
            <a:r>
              <a:rPr lang="zh-CN" altLang="en-US" b="1" dirty="0"/>
              <a:t>，画出</a:t>
            </a:r>
            <a:r>
              <a:rPr lang="en-US" altLang="zh-CN" b="1" dirty="0"/>
              <a:t>v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CE</a:t>
            </a:r>
            <a:r>
              <a:rPr lang="zh-CN" altLang="en-US" b="1" dirty="0"/>
              <a:t>的波形，并求输出电压幅度</a:t>
            </a:r>
            <a:r>
              <a:rPr lang="en-US" altLang="zh-CN" b="1" dirty="0"/>
              <a:t>V</a:t>
            </a:r>
            <a:r>
              <a:rPr lang="en-US" altLang="zh-CN" sz="3600" b="1" baseline="-25000" dirty="0">
                <a:solidFill>
                  <a:schemeClr val="tx2"/>
                </a:solidFill>
              </a:rPr>
              <a:t>om</a:t>
            </a:r>
            <a:r>
              <a:rPr lang="en-US" altLang="zh-CN" b="1" dirty="0"/>
              <a:t>’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endParaRPr lang="en-US" altLang="zh-CN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  <a:ln/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sz="4000" dirty="0"/>
              <a:t>解：</a:t>
            </a:r>
            <a:endParaRPr lang="zh-CN" altLang="en-US" sz="4000" dirty="0"/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5365" name="Rectangle 5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5362" name="Object 2"/>
          <p:cNvGraphicFramePr/>
          <p:nvPr/>
        </p:nvGraphicFramePr>
        <p:xfrm>
          <a:off x="138113" y="1196975"/>
          <a:ext cx="577373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2552700" imgH="457200" progId="Equation.DSMT4">
                  <p:embed/>
                </p:oleObj>
              </mc:Choice>
              <mc:Fallback>
                <p:oleObj name="" r:id="rId1" imgW="2552700" imgH="4572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8113" y="1196975"/>
                        <a:ext cx="5773737" cy="1033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714625"/>
            <a:ext cx="2808288" cy="2322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3" y="2571750"/>
            <a:ext cx="3346450" cy="2571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90" name="Rectangle 3"/>
          <p:cNvSpPr>
            <a:spLocks noGrp="1"/>
          </p:cNvSpPr>
          <p:nvPr>
            <p:ph idx="1"/>
          </p:nvPr>
        </p:nvSpPr>
        <p:spPr>
          <a:xfrm>
            <a:off x="457200" y="333375"/>
            <a:ext cx="5400675" cy="6264275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dirty="0"/>
              <a:t>(2)</a:t>
            </a:r>
            <a:r>
              <a:rPr lang="zh-CN" altLang="en-US" dirty="0"/>
              <a:t>纵轴截距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横轴截距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得直流负载线，得</a:t>
            </a:r>
            <a:r>
              <a:rPr lang="en-US" altLang="zh-CN" dirty="0"/>
              <a:t>Q</a:t>
            </a:r>
            <a:r>
              <a:rPr lang="zh-CN" altLang="en-US" dirty="0"/>
              <a:t>点，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    Q</a:t>
            </a:r>
            <a:r>
              <a:rPr lang="zh-CN" altLang="en-US" dirty="0"/>
              <a:t>点坐标：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6391" name="Rectangle 5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386" name="Object 2"/>
          <p:cNvGraphicFramePr/>
          <p:nvPr/>
        </p:nvGraphicFramePr>
        <p:xfrm>
          <a:off x="2916238" y="260350"/>
          <a:ext cx="2447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1397000" imgH="431800" progId="Equation.DSMT4">
                  <p:embed/>
                </p:oleObj>
              </mc:Choice>
              <mc:Fallback>
                <p:oleObj name="" r:id="rId1" imgW="1397000" imgH="4318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16238" y="260350"/>
                        <a:ext cx="2447925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7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387" name="Object 3"/>
          <p:cNvGraphicFramePr/>
          <p:nvPr/>
        </p:nvGraphicFramePr>
        <p:xfrm>
          <a:off x="2987675" y="1052513"/>
          <a:ext cx="1944688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3" imgW="1016000" imgH="228600" progId="Equation.DSMT4">
                  <p:embed/>
                </p:oleObj>
              </mc:Choice>
              <mc:Fallback>
                <p:oleObj name="" r:id="rId3" imgW="1016000" imgH="2286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7675" y="1052513"/>
                        <a:ext cx="1944688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Rectangle 10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388" name="Object 4"/>
          <p:cNvGraphicFramePr/>
          <p:nvPr/>
        </p:nvGraphicFramePr>
        <p:xfrm>
          <a:off x="395288" y="3068638"/>
          <a:ext cx="15843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5" imgW="685800" imgH="241300" progId="Equation.DSMT4">
                  <p:embed/>
                </p:oleObj>
              </mc:Choice>
              <mc:Fallback>
                <p:oleObj name="" r:id="rId5" imgW="685800" imgH="2413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88" y="3068638"/>
                        <a:ext cx="1584325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12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389" name="Object 5"/>
          <p:cNvGraphicFramePr/>
          <p:nvPr/>
        </p:nvGraphicFramePr>
        <p:xfrm>
          <a:off x="395288" y="3860800"/>
          <a:ext cx="165576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7" imgW="647700" imgH="241300" progId="Equation.DSMT4">
                  <p:embed/>
                </p:oleObj>
              </mc:Choice>
              <mc:Fallback>
                <p:oleObj name="" r:id="rId7" imgW="647700" imgH="2413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288" y="3860800"/>
                        <a:ext cx="1655762" cy="60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6938" y="2559050"/>
            <a:ext cx="4200525" cy="3227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(3) </a:t>
            </a:r>
            <a:r>
              <a:rPr lang="zh-CN" altLang="en-US" dirty="0"/>
              <a:t>瞬时工作点移动：</a:t>
            </a:r>
            <a:endParaRPr lang="zh-CN" altLang="en-US" dirty="0"/>
          </a:p>
        </p:txBody>
      </p:sp>
      <p:sp>
        <p:nvSpPr>
          <p:cNvPr id="17415" name="内容占位符 10"/>
          <p:cNvSpPr>
            <a:spLocks noGrp="1"/>
          </p:cNvSpPr>
          <p:nvPr>
            <p:ph idx="1"/>
          </p:nvPr>
        </p:nvSpPr>
        <p:spPr>
          <a:xfrm>
            <a:off x="0" y="1600200"/>
            <a:ext cx="4143375" cy="4525963"/>
          </a:xfrm>
          <a:ln/>
        </p:spPr>
        <p:txBody>
          <a:bodyPr vert="horz" wrap="square" lIns="91440" tIns="45720" rIns="91440" bIns="45720" anchor="t" anchorCtr="0"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7416" name="Rectangle 8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10" name="Object 2"/>
          <p:cNvGraphicFramePr/>
          <p:nvPr/>
        </p:nvGraphicFramePr>
        <p:xfrm>
          <a:off x="250825" y="1484313"/>
          <a:ext cx="33210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1574800" imgH="203200" progId="Equation.DSMT4">
                  <p:embed/>
                </p:oleObj>
              </mc:Choice>
              <mc:Fallback>
                <p:oleObj name="" r:id="rId1" imgW="1574800" imgH="2032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1484313"/>
                        <a:ext cx="3321050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Rectangle 1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11" name="Object 3"/>
          <p:cNvGraphicFramePr/>
          <p:nvPr/>
        </p:nvGraphicFramePr>
        <p:xfrm>
          <a:off x="285750" y="2143125"/>
          <a:ext cx="26177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1117600" imgH="228600" progId="Equation.DSMT4">
                  <p:embed/>
                </p:oleObj>
              </mc:Choice>
              <mc:Fallback>
                <p:oleObj name="" r:id="rId3" imgW="1117600" imgH="2286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50" y="2143125"/>
                        <a:ext cx="2617788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Rectangle 11"/>
          <p:cNvSpPr/>
          <p:nvPr/>
        </p:nvSpPr>
        <p:spPr>
          <a:xfrm>
            <a:off x="250825" y="2786063"/>
            <a:ext cx="3600450" cy="1200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3600" b="1" dirty="0">
                <a:latin typeface="Arial" panose="020B0604020202020204" pitchFamily="34" charset="0"/>
              </a:rPr>
              <a:t>（</a:t>
            </a:r>
            <a:r>
              <a:rPr lang="en-US" altLang="zh-CN" sz="3600" b="1" dirty="0">
                <a:latin typeface="Arial" panose="020B0604020202020204" pitchFamily="34" charset="0"/>
              </a:rPr>
              <a:t>4</a:t>
            </a:r>
            <a:r>
              <a:rPr lang="zh-CN" altLang="en-US" sz="3600" b="1" dirty="0">
                <a:latin typeface="Arial" panose="020B0604020202020204" pitchFamily="34" charset="0"/>
              </a:rPr>
              <a:t>）</a:t>
            </a:r>
            <a:r>
              <a:rPr lang="en-US" altLang="zh-CN" sz="3600" b="1" dirty="0">
                <a:latin typeface="Arial" panose="020B0604020202020204" pitchFamily="34" charset="0"/>
              </a:rPr>
              <a:t>Q</a:t>
            </a:r>
            <a:r>
              <a:rPr lang="zh-CN" altLang="en-US" sz="3600" b="1" dirty="0">
                <a:latin typeface="Arial" panose="020B0604020202020204" pitchFamily="34" charset="0"/>
              </a:rPr>
              <a:t>点偏高，∴先饱和失真</a:t>
            </a:r>
            <a:endParaRPr lang="zh-CN" altLang="en-US" sz="3600" b="1" dirty="0">
              <a:latin typeface="Arial" panose="020B0604020202020204" pitchFamily="34" charset="0"/>
            </a:endParaRPr>
          </a:p>
        </p:txBody>
      </p:sp>
      <p:sp>
        <p:nvSpPr>
          <p:cNvPr id="17419" name="Rectangle 13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12" name="Object 4"/>
          <p:cNvGraphicFramePr/>
          <p:nvPr/>
        </p:nvGraphicFramePr>
        <p:xfrm>
          <a:off x="142875" y="4071938"/>
          <a:ext cx="35290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1358265" imgH="254000" progId="Equation.DSMT4">
                  <p:embed/>
                </p:oleObj>
              </mc:Choice>
              <mc:Fallback>
                <p:oleObj name="" r:id="rId5" imgW="1358265" imgH="2540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875" y="4071938"/>
                        <a:ext cx="3529013" cy="666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20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929188"/>
            <a:ext cx="2214563" cy="1831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21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7775" y="1643063"/>
            <a:ext cx="5356225" cy="35718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7413" name="Object 14"/>
          <p:cNvGraphicFramePr/>
          <p:nvPr/>
        </p:nvGraphicFramePr>
        <p:xfrm>
          <a:off x="6786563" y="1214438"/>
          <a:ext cx="20478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9" imgW="1091565" imgH="228600" progId="Equation.DSMT4">
                  <p:embed/>
                </p:oleObj>
              </mc:Choice>
              <mc:Fallback>
                <p:oleObj name="" r:id="rId9" imgW="1091565" imgH="2286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86563" y="1214438"/>
                        <a:ext cx="204787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54175"/>
          </a:xfrm>
          <a:ln/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8439" name="内容占位符 2"/>
          <p:cNvSpPr>
            <a:spLocks noGrp="1"/>
          </p:cNvSpPr>
          <p:nvPr>
            <p:ph idx="1"/>
          </p:nvPr>
        </p:nvSpPr>
        <p:spPr>
          <a:xfrm>
            <a:off x="142875" y="2214563"/>
            <a:ext cx="4500563" cy="4643437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dirty="0"/>
              <a:t>交流负载线在横轴截距</a:t>
            </a:r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r>
              <a:rPr lang="zh-CN" altLang="en-US" dirty="0"/>
              <a:t>过该截距点和</a:t>
            </a:r>
            <a:r>
              <a:rPr lang="en-US" altLang="zh-CN" dirty="0"/>
              <a:t>Q</a:t>
            </a:r>
            <a:r>
              <a:rPr lang="zh-CN" altLang="en-US" dirty="0"/>
              <a:t>点的直线为交流负载线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瞬时工作点应沿交流负载线移动：</a:t>
            </a:r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r>
              <a:rPr lang="zh-CN" altLang="en-US" dirty="0"/>
              <a:t>得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844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8434" name="Object 1"/>
          <p:cNvGraphicFramePr/>
          <p:nvPr/>
        </p:nvGraphicFramePr>
        <p:xfrm>
          <a:off x="142875" y="2786063"/>
          <a:ext cx="4140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1968500" imgH="241300" progId="Equation.DSMT4">
                  <p:embed/>
                </p:oleObj>
              </mc:Choice>
              <mc:Fallback>
                <p:oleObj name="" r:id="rId1" imgW="1968500" imgH="2413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875" y="2786063"/>
                        <a:ext cx="4140200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8435" name="Object 4"/>
          <p:cNvGraphicFramePr/>
          <p:nvPr/>
        </p:nvGraphicFramePr>
        <p:xfrm>
          <a:off x="214313" y="5572125"/>
          <a:ext cx="34290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" imgW="1600200" imgH="203200" progId="Equation.DSMT4">
                  <p:embed/>
                </p:oleObj>
              </mc:Choice>
              <mc:Fallback>
                <p:oleObj name="" r:id="rId3" imgW="1600200" imgH="2032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4313" y="5572125"/>
                        <a:ext cx="3429000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8436" name="Object 6"/>
          <p:cNvGraphicFramePr/>
          <p:nvPr/>
        </p:nvGraphicFramePr>
        <p:xfrm>
          <a:off x="1214438" y="6143625"/>
          <a:ext cx="23209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5" imgW="1104265" imgH="241300" progId="Equation.DSMT4">
                  <p:embed/>
                </p:oleObj>
              </mc:Choice>
              <mc:Fallback>
                <p:oleObj name="" r:id="rId5" imgW="1104265" imgH="2413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4438" y="6143625"/>
                        <a:ext cx="2320925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Rectangl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8437" name="Object 8"/>
          <p:cNvGraphicFramePr/>
          <p:nvPr/>
        </p:nvGraphicFramePr>
        <p:xfrm>
          <a:off x="1000125" y="1214438"/>
          <a:ext cx="39020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7" imgW="1676400" imgH="279400" progId="Equation.DSMT4">
                  <p:embed/>
                </p:oleObj>
              </mc:Choice>
              <mc:Fallback>
                <p:oleObj name="" r:id="rId7" imgW="1676400" imgH="2794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00125" y="1214438"/>
                        <a:ext cx="3902075" cy="642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44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9125" y="2428875"/>
            <a:ext cx="4640263" cy="3500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WPS 演示</Application>
  <PresentationFormat>全屏显示(4:3)</PresentationFormat>
  <Paragraphs>98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69</vt:i4>
      </vt:variant>
      <vt:variant>
        <vt:lpstr>幻灯片标题</vt:lpstr>
      </vt:variant>
      <vt:variant>
        <vt:i4>25</vt:i4>
      </vt:variant>
    </vt:vector>
  </HeadingPairs>
  <TitlesOfParts>
    <vt:vector size="102" baseType="lpstr">
      <vt:lpstr>Arial</vt:lpstr>
      <vt:lpstr>宋体</vt:lpstr>
      <vt:lpstr>Wingdings</vt:lpstr>
      <vt:lpstr>Calibri</vt:lpstr>
      <vt:lpstr>微软雅黑</vt:lpstr>
      <vt:lpstr>Arial Unicode MS</vt:lpstr>
      <vt:lpstr>MS PGothic</vt:lpstr>
      <vt:lpstr>默认设计模板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XMU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习题解答</dc:title>
  <dc:creator>微软用户</dc:creator>
  <cp:lastModifiedBy>WPS_1703547373</cp:lastModifiedBy>
  <cp:revision>27</cp:revision>
  <dcterms:created xsi:type="dcterms:W3CDTF">2012-10-28T07:57:13Z</dcterms:created>
  <dcterms:modified xsi:type="dcterms:W3CDTF">2026-09-09T09:40:59Z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67A5674662404CF2A3BE13A1837BB2DE_13</vt:lpwstr>
  </property>
  <property fmtid="{D5CDD505-2E9C-101B-9397-08002B2CF9AE}" pid="3" name="KSOProductBuildVer">
    <vt:lpwstr>2052-12.1.0.28043</vt:lpwstr>
  </property>
</Properties>
</file>