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77" r:id="rId8"/>
    <p:sldId id="278" r:id="rId9"/>
    <p:sldId id="279" r:id="rId10"/>
    <p:sldId id="280" r:id="rId11"/>
    <p:sldId id="281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-1692" y="-5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3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2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76.wmf"/><Relationship Id="rId3" Type="http://schemas.openxmlformats.org/officeDocument/2006/relationships/image" Target="../media/image65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aseline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aseline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baseline="0" dirty="0">
                <a:latin typeface="Arial" panose="020B0604020202020204" pitchFamily="34" charset="0"/>
              </a:rPr>
            </a:fld>
            <a:endParaRPr lang="en-US" altLang="zh-CN" baseline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9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6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0.wmf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emf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emf"/><Relationship Id="rId3" Type="http://schemas.openxmlformats.org/officeDocument/2006/relationships/image" Target="../media/image24.emf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wmf"/><Relationship Id="rId3" Type="http://schemas.openxmlformats.org/officeDocument/2006/relationships/image" Target="../media/image32.wmf"/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5.emf"/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emf"/><Relationship Id="rId1" Type="http://schemas.openxmlformats.org/officeDocument/2006/relationships/image" Target="../media/image51.emf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52.emf"/><Relationship Id="rId1" Type="http://schemas.openxmlformats.org/officeDocument/2006/relationships/image" Target="../media/image50.emf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54.emf"/><Relationship Id="rId1" Type="http://schemas.openxmlformats.org/officeDocument/2006/relationships/image" Target="../media/image50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21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61.wmf"/><Relationship Id="rId15" Type="http://schemas.openxmlformats.org/officeDocument/2006/relationships/vmlDrawing" Target="../drawings/vmlDrawing12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68.emf"/><Relationship Id="rId12" Type="http://schemas.openxmlformats.org/officeDocument/2006/relationships/image" Target="../media/image67.emf"/><Relationship Id="rId11" Type="http://schemas.openxmlformats.org/officeDocument/2006/relationships/image" Target="../media/image66.emf"/><Relationship Id="rId10" Type="http://schemas.openxmlformats.org/officeDocument/2006/relationships/image" Target="../media/image65.wmf"/><Relationship Id="rId1" Type="http://schemas.openxmlformats.org/officeDocument/2006/relationships/image" Target="../media/image60.wmf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oleObject" Target="../embeddings/oleObject30.bin"/><Relationship Id="rId7" Type="http://schemas.openxmlformats.org/officeDocument/2006/relationships/image" Target="../media/image65.wmf"/><Relationship Id="rId6" Type="http://schemas.openxmlformats.org/officeDocument/2006/relationships/oleObject" Target="../embeddings/oleObject29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28.bin"/><Relationship Id="rId3" Type="http://schemas.openxmlformats.org/officeDocument/2006/relationships/image" Target="../media/image62.wmf"/><Relationship Id="rId2" Type="http://schemas.openxmlformats.org/officeDocument/2006/relationships/oleObject" Target="../embeddings/oleObject27.bin"/><Relationship Id="rId15" Type="http://schemas.openxmlformats.org/officeDocument/2006/relationships/vmlDrawing" Target="../drawings/vmlDrawing13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73.emf"/><Relationship Id="rId12" Type="http://schemas.openxmlformats.org/officeDocument/2006/relationships/image" Target="../media/image72.wmf"/><Relationship Id="rId11" Type="http://schemas.openxmlformats.org/officeDocument/2006/relationships/image" Target="../media/image71.wmf"/><Relationship Id="rId10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emf"/><Relationship Id="rId8" Type="http://schemas.openxmlformats.org/officeDocument/2006/relationships/image" Target="../media/image76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74.wmf"/><Relationship Id="rId15" Type="http://schemas.openxmlformats.org/officeDocument/2006/relationships/vmlDrawing" Target="../drawings/vmlDrawing14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81.emf"/><Relationship Id="rId12" Type="http://schemas.openxmlformats.org/officeDocument/2006/relationships/image" Target="../media/image80.emf"/><Relationship Id="rId11" Type="http://schemas.openxmlformats.org/officeDocument/2006/relationships/image" Target="../media/image79.emf"/><Relationship Id="rId10" Type="http://schemas.openxmlformats.org/officeDocument/2006/relationships/image" Target="../media/image78.emf"/><Relationship Id="rId1" Type="http://schemas.openxmlformats.org/officeDocument/2006/relationships/oleObject" Target="../embeddings/oleObject31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2.emf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5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85.wmf"/><Relationship Id="rId6" Type="http://schemas.openxmlformats.org/officeDocument/2006/relationships/oleObject" Target="../embeddings/oleObject37.bin"/><Relationship Id="rId5" Type="http://schemas.openxmlformats.org/officeDocument/2006/relationships/image" Target="../media/image84.wmf"/><Relationship Id="rId4" Type="http://schemas.openxmlformats.org/officeDocument/2006/relationships/oleObject" Target="../embeddings/oleObject36.bin"/><Relationship Id="rId3" Type="http://schemas.openxmlformats.org/officeDocument/2006/relationships/image" Target="../media/image83.wmf"/><Relationship Id="rId2" Type="http://schemas.openxmlformats.org/officeDocument/2006/relationships/oleObject" Target="../embeddings/oleObject35.bin"/><Relationship Id="rId1" Type="http://schemas.openxmlformats.org/officeDocument/2006/relationships/image" Target="../media/image8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dirty="0"/>
              <a:t>第一章  习题解答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1-9</a:t>
            </a:r>
            <a:endParaRPr lang="en-US" altLang="zh-CN" dirty="0"/>
          </a:p>
        </p:txBody>
      </p:sp>
      <p:sp>
        <p:nvSpPr>
          <p:cNvPr id="102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Ge </a:t>
            </a:r>
            <a:r>
              <a:rPr lang="zh-CN" altLang="en-US" dirty="0"/>
              <a:t>：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en-US" altLang="zh-CN" dirty="0"/>
              <a:t>Si </a:t>
            </a:r>
            <a:r>
              <a:rPr lang="zh-CN" altLang="en-US" dirty="0"/>
              <a:t>：  </a:t>
            </a:r>
            <a:endParaRPr lang="zh-CN" altLang="en-US" dirty="0"/>
          </a:p>
        </p:txBody>
      </p:sp>
      <p:sp>
        <p:nvSpPr>
          <p:cNvPr id="1030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6" name="Object 4"/>
          <p:cNvGraphicFramePr/>
          <p:nvPr/>
        </p:nvGraphicFramePr>
        <p:xfrm>
          <a:off x="2195513" y="1700213"/>
          <a:ext cx="6048375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413000" imgH="457200" progId="Equation.DSMT4">
                  <p:embed/>
                </p:oleObj>
              </mc:Choice>
              <mc:Fallback>
                <p:oleObj name="" r:id="rId1" imgW="2413000" imgH="457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513" y="1700213"/>
                        <a:ext cx="6048375" cy="1147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Rectangle 8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7" name="Object 7"/>
          <p:cNvGraphicFramePr/>
          <p:nvPr/>
        </p:nvGraphicFramePr>
        <p:xfrm>
          <a:off x="1979613" y="3284538"/>
          <a:ext cx="6624637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768600" imgH="457200" progId="Equation.DSMT4">
                  <p:embed/>
                </p:oleObj>
              </mc:Choice>
              <mc:Fallback>
                <p:oleObj name="" r:id="rId3" imgW="2768600" imgH="457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613" y="3284538"/>
                        <a:ext cx="6624637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3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1-10</a:t>
            </a:r>
            <a:endParaRPr lang="en-US" altLang="zh-CN" dirty="0"/>
          </a:p>
        </p:txBody>
      </p:sp>
      <p:sp>
        <p:nvSpPr>
          <p:cNvPr id="205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(1) </a:t>
            </a:r>
            <a:endParaRPr lang="en-US" altLang="zh-CN" dirty="0"/>
          </a:p>
        </p:txBody>
      </p:sp>
      <p:sp>
        <p:nvSpPr>
          <p:cNvPr id="2055" name="Rectangle 5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0" name="Object 4"/>
          <p:cNvGraphicFramePr/>
          <p:nvPr/>
        </p:nvGraphicFramePr>
        <p:xfrm>
          <a:off x="1692275" y="1773238"/>
          <a:ext cx="66246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946400" imgH="457200" progId="Equation.DSMT4">
                  <p:embed/>
                </p:oleObj>
              </mc:Choice>
              <mc:Fallback>
                <p:oleObj name="" r:id="rId1" imgW="2946400" imgH="4572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275" y="1773238"/>
                        <a:ext cx="6624638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Rectangle 7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1" name="Object 6"/>
          <p:cNvGraphicFramePr/>
          <p:nvPr/>
        </p:nvGraphicFramePr>
        <p:xfrm>
          <a:off x="1619250" y="3213100"/>
          <a:ext cx="69135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2959100" imgH="457200" progId="Equation.DSMT4">
                  <p:embed/>
                </p:oleObj>
              </mc:Choice>
              <mc:Fallback>
                <p:oleObj name="" r:id="rId3" imgW="2959100" imgH="457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3213100"/>
                        <a:ext cx="6913563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Rectangle 9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052" name="Object 8"/>
          <p:cNvGraphicFramePr/>
          <p:nvPr/>
        </p:nvGraphicFramePr>
        <p:xfrm>
          <a:off x="1692275" y="4797425"/>
          <a:ext cx="51117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044700" imgH="241300" progId="Equation.DSMT4">
                  <p:embed/>
                </p:oleObj>
              </mc:Choice>
              <mc:Fallback>
                <p:oleObj name="" r:id="rId5" imgW="2044700" imgH="2413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2275" y="4797425"/>
                        <a:ext cx="511175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4000" dirty="0"/>
              <a:t>(2) </a:t>
            </a:r>
            <a:endParaRPr lang="en-US" altLang="zh-CN" sz="4000" dirty="0"/>
          </a:p>
        </p:txBody>
      </p:sp>
      <p:sp>
        <p:nvSpPr>
          <p:cNvPr id="3079" name="Rectangle 7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0" name="Rectangle 9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4" name="Object 8"/>
          <p:cNvGraphicFramePr/>
          <p:nvPr/>
        </p:nvGraphicFramePr>
        <p:xfrm>
          <a:off x="539750" y="908050"/>
          <a:ext cx="777716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2959100" imgH="457200" progId="Equation.DSMT4">
                  <p:embed/>
                </p:oleObj>
              </mc:Choice>
              <mc:Fallback>
                <p:oleObj name="" r:id="rId1" imgW="2959100" imgH="4572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908050"/>
                        <a:ext cx="7777163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11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5" name="Object 10"/>
          <p:cNvGraphicFramePr/>
          <p:nvPr/>
        </p:nvGraphicFramePr>
        <p:xfrm>
          <a:off x="539750" y="1916113"/>
          <a:ext cx="792003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971800" imgH="457200" progId="Equation.DSMT4">
                  <p:embed/>
                </p:oleObj>
              </mc:Choice>
              <mc:Fallback>
                <p:oleObj name="" r:id="rId3" imgW="2971800" imgH="457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0" y="1916113"/>
                        <a:ext cx="7920038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13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6" name="Object 12"/>
          <p:cNvGraphicFramePr/>
          <p:nvPr/>
        </p:nvGraphicFramePr>
        <p:xfrm>
          <a:off x="755650" y="3141663"/>
          <a:ext cx="568960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2070100" imgH="241300" progId="Equation.DSMT4">
                  <p:embed/>
                </p:oleObj>
              </mc:Choice>
              <mc:Fallback>
                <p:oleObj name="" r:id="rId5" imgW="2070100" imgH="2413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5650" y="3141663"/>
                        <a:ext cx="5689600" cy="655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3" name="Rectangle 14"/>
          <p:cNvSpPr/>
          <p:nvPr/>
        </p:nvSpPr>
        <p:spPr>
          <a:xfrm>
            <a:off x="539750" y="4289425"/>
            <a:ext cx="962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b="1" baseline="0" dirty="0">
                <a:latin typeface="Arial" panose="020B0604020202020204" pitchFamily="34" charset="0"/>
              </a:rPr>
              <a:t>或：</a:t>
            </a:r>
            <a:r>
              <a:rPr lang="zh-CN" altLang="en-US" baseline="0" dirty="0">
                <a:latin typeface="Arial" panose="020B0604020202020204" pitchFamily="34" charset="0"/>
              </a:rPr>
              <a:t> </a:t>
            </a:r>
            <a:endParaRPr lang="zh-CN" altLang="en-US" baseline="0" dirty="0">
              <a:latin typeface="Arial" panose="020B0604020202020204" pitchFamily="34" charset="0"/>
            </a:endParaRPr>
          </a:p>
        </p:txBody>
      </p:sp>
      <p:sp>
        <p:nvSpPr>
          <p:cNvPr id="3084" name="Rectangle 16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7" name="Object 15"/>
          <p:cNvGraphicFramePr/>
          <p:nvPr/>
        </p:nvGraphicFramePr>
        <p:xfrm>
          <a:off x="179388" y="4868863"/>
          <a:ext cx="8640762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7" imgW="3797300" imgH="457200" progId="Equation.DSMT4">
                  <p:embed/>
                </p:oleObj>
              </mc:Choice>
              <mc:Fallback>
                <p:oleObj name="" r:id="rId7" imgW="3797300" imgH="4572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388" y="4868863"/>
                        <a:ext cx="8640762" cy="1039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9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1-13</a:t>
            </a:r>
            <a:endParaRPr lang="en-US" altLang="zh-CN" dirty="0"/>
          </a:p>
        </p:txBody>
      </p:sp>
      <p:pic>
        <p:nvPicPr>
          <p:cNvPr id="1843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413" y="476250"/>
            <a:ext cx="1655762" cy="1379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6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538" y="908050"/>
            <a:ext cx="3024187" cy="50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7" name="Picture 11"/>
          <p:cNvPicPr>
            <a:picLocks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971550" y="2565400"/>
            <a:ext cx="1903413" cy="2447925"/>
          </a:xfrm>
          <a:ln/>
        </p:spPr>
      </p:pic>
      <p:sp>
        <p:nvSpPr>
          <p:cNvPr id="18438" name="Rectangle 12"/>
          <p:cNvSpPr/>
          <p:nvPr/>
        </p:nvSpPr>
        <p:spPr>
          <a:xfrm>
            <a:off x="468313" y="5311775"/>
            <a:ext cx="8351837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200" baseline="0" dirty="0">
                <a:latin typeface="Arial" panose="020B0604020202020204" pitchFamily="34" charset="0"/>
              </a:rPr>
              <a:t>D1</a:t>
            </a:r>
            <a:r>
              <a:rPr lang="zh-CN" altLang="en-US" sz="3200" baseline="0" dirty="0">
                <a:latin typeface="Arial" panose="020B0604020202020204" pitchFamily="34" charset="0"/>
              </a:rPr>
              <a:t>的正向压降最大（</a:t>
            </a:r>
            <a:r>
              <a:rPr lang="en-US" altLang="zh-CN" sz="3200" baseline="0" dirty="0">
                <a:latin typeface="Arial" panose="020B0604020202020204" pitchFamily="34" charset="0"/>
              </a:rPr>
              <a:t>5-1.7</a:t>
            </a:r>
            <a:r>
              <a:rPr lang="zh-CN" altLang="en-US" sz="3200" baseline="0" dirty="0">
                <a:latin typeface="Arial" panose="020B0604020202020204" pitchFamily="34" charset="0"/>
              </a:rPr>
              <a:t>），</a:t>
            </a:r>
            <a:endParaRPr lang="zh-CN" altLang="en-US" sz="3200" baseline="0" dirty="0">
              <a:latin typeface="Arial" panose="020B0604020202020204" pitchFamily="34" charset="0"/>
            </a:endParaRPr>
          </a:p>
          <a:p>
            <a:r>
              <a:rPr lang="zh-CN" altLang="en-US" sz="3200" baseline="0" dirty="0">
                <a:latin typeface="Arial" panose="020B0604020202020204" pitchFamily="34" charset="0"/>
              </a:rPr>
              <a:t>∴</a:t>
            </a:r>
            <a:r>
              <a:rPr lang="en-US" altLang="zh-CN" sz="3200" baseline="0" dirty="0">
                <a:latin typeface="Arial" panose="020B0604020202020204" pitchFamily="34" charset="0"/>
              </a:rPr>
              <a:t>D1</a:t>
            </a:r>
            <a:r>
              <a:rPr lang="zh-CN" altLang="en-US" sz="3200" baseline="0" dirty="0">
                <a:latin typeface="Arial" panose="020B0604020202020204" pitchFamily="34" charset="0"/>
              </a:rPr>
              <a:t>导通，∴</a:t>
            </a:r>
            <a:r>
              <a:rPr lang="en-US" altLang="zh-CN" sz="3200" baseline="0" dirty="0">
                <a:latin typeface="Arial" panose="020B0604020202020204" pitchFamily="34" charset="0"/>
              </a:rPr>
              <a:t>V</a:t>
            </a:r>
            <a:r>
              <a:rPr lang="en-US" altLang="zh-CN" sz="3200" dirty="0">
                <a:latin typeface="Arial" panose="020B0604020202020204" pitchFamily="34" charset="0"/>
              </a:rPr>
              <a:t>D </a:t>
            </a:r>
            <a:r>
              <a:rPr lang="en-US" altLang="zh-CN" sz="3200" baseline="0" dirty="0">
                <a:latin typeface="Arial" panose="020B0604020202020204" pitchFamily="34" charset="0"/>
              </a:rPr>
              <a:t>=1.7V</a:t>
            </a:r>
            <a:r>
              <a:rPr lang="en-US" altLang="zh-CN" baseline="0" dirty="0">
                <a:latin typeface="Arial" panose="020B0604020202020204" pitchFamily="34" charset="0"/>
              </a:rPr>
              <a:t> </a:t>
            </a:r>
            <a:endParaRPr lang="en-US" altLang="zh-CN" baseline="0" dirty="0">
              <a:latin typeface="Arial" panose="020B0604020202020204" pitchFamily="34" charset="0"/>
            </a:endParaRPr>
          </a:p>
        </p:txBody>
      </p:sp>
      <p:pic>
        <p:nvPicPr>
          <p:cNvPr id="18439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0" y="1773238"/>
            <a:ext cx="4103688" cy="359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341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>
                <a:solidFill>
                  <a:srgbClr val="0000FF"/>
                </a:solidFill>
              </a:rPr>
              <a:t>四、二极管伏安特性的近似等效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052513"/>
            <a:ext cx="8229600" cy="50736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b="1" dirty="0">
                <a:solidFill>
                  <a:srgbClr val="FF3300"/>
                </a:solidFill>
              </a:rPr>
              <a:t>1</a:t>
            </a:r>
            <a:r>
              <a:rPr lang="zh-CN" altLang="en-US" sz="2800" b="1" dirty="0">
                <a:solidFill>
                  <a:srgbClr val="FF3300"/>
                </a:solidFill>
              </a:rPr>
              <a:t>、理想二极管</a:t>
            </a:r>
            <a:endParaRPr lang="zh-CN" altLang="en-US" sz="2800" b="1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b="1" dirty="0"/>
              <a:t>   正偏时导通，两端电压为零，通过的电流任意，相当短路；</a:t>
            </a:r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   反偏时截止，通过的电流为零，两端电压任意，相当开路。</a:t>
            </a:r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   伏安特性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</a:t>
            </a:r>
            <a:endParaRPr lang="zh-CN" altLang="en-US" sz="2800" b="1" dirty="0"/>
          </a:p>
          <a:p>
            <a:pPr eaLnBrk="1" hangingPunct="1"/>
            <a:endParaRPr lang="zh-CN" altLang="en-US" sz="2800" b="1" dirty="0"/>
          </a:p>
          <a:p>
            <a:pPr eaLnBrk="1" hangingPunct="1"/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符号：</a:t>
            </a:r>
            <a:endParaRPr lang="zh-CN" altLang="en-US" sz="2800" b="1" dirty="0"/>
          </a:p>
        </p:txBody>
      </p:sp>
      <p:pic>
        <p:nvPicPr>
          <p:cNvPr id="1946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5373688"/>
            <a:ext cx="520700" cy="865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275" y="3357563"/>
            <a:ext cx="2736850" cy="200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0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b="1" dirty="0">
                <a:solidFill>
                  <a:srgbClr val="FF3300"/>
                </a:solidFill>
              </a:rPr>
              <a:t>2</a:t>
            </a:r>
            <a:r>
              <a:rPr lang="zh-CN" altLang="en-US" sz="4000" b="1" dirty="0">
                <a:solidFill>
                  <a:srgbClr val="FF3300"/>
                </a:solidFill>
              </a:rPr>
              <a:t>、实际二极管伏安特性的折线近似</a:t>
            </a:r>
            <a:endParaRPr lang="zh-CN" altLang="en-US" sz="4000" b="1" dirty="0">
              <a:solidFill>
                <a:srgbClr val="FF3300"/>
              </a:solidFill>
            </a:endParaRPr>
          </a:p>
        </p:txBody>
      </p:sp>
      <p:pic>
        <p:nvPicPr>
          <p:cNvPr id="4101" name="Picture 3"/>
          <p:cNvPicPr>
            <a:picLocks noChangeAspect="1"/>
          </p:cNvPicPr>
          <p:nvPr>
            <p:ph type="body" idx="4294967295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1773238"/>
            <a:ext cx="3779838" cy="3094037"/>
          </a:xfrm>
          <a:ln/>
        </p:spPr>
      </p:pic>
      <p:pic>
        <p:nvPicPr>
          <p:cNvPr id="410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63" y="2852738"/>
            <a:ext cx="647700" cy="647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773238"/>
            <a:ext cx="2952750" cy="2803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Rectangle 6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baseline="0" dirty="0">
              <a:latin typeface="Arial" panose="020B0604020202020204" pitchFamily="34" charset="0"/>
            </a:endParaRPr>
          </a:p>
        </p:txBody>
      </p:sp>
      <p:graphicFrame>
        <p:nvGraphicFramePr>
          <p:cNvPr id="4098" name="Object 7"/>
          <p:cNvGraphicFramePr/>
          <p:nvPr/>
        </p:nvGraphicFramePr>
        <p:xfrm>
          <a:off x="7667625" y="2349500"/>
          <a:ext cx="11525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4" imgW="596900" imgH="431800" progId="Equation.DSMT4">
                  <p:embed/>
                </p:oleObj>
              </mc:Choice>
              <mc:Fallback>
                <p:oleObj name="" r:id="rId4" imgW="596900" imgH="4318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67625" y="2349500"/>
                        <a:ext cx="1152525" cy="823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Rectangle 8"/>
          <p:cNvSpPr/>
          <p:nvPr/>
        </p:nvSpPr>
        <p:spPr>
          <a:xfrm>
            <a:off x="7667625" y="1939925"/>
            <a:ext cx="12255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2400" b="1" baseline="0" dirty="0">
                <a:latin typeface="Arial" panose="020B0604020202020204" pitchFamily="34" charset="0"/>
              </a:rPr>
              <a:t>斜率为</a:t>
            </a:r>
            <a:endParaRPr lang="zh-CN" altLang="en-US" sz="2400" b="1" baseline="0" dirty="0">
              <a:latin typeface="Arial" panose="020B0604020202020204" pitchFamily="34" charset="0"/>
            </a:endParaRPr>
          </a:p>
        </p:txBody>
      </p:sp>
      <p:graphicFrame>
        <p:nvGraphicFramePr>
          <p:cNvPr id="4099" name="Object 9"/>
          <p:cNvGraphicFramePr/>
          <p:nvPr>
            <p:ph idx="1"/>
          </p:nvPr>
        </p:nvGraphicFramePr>
        <p:xfrm>
          <a:off x="5292725" y="4797425"/>
          <a:ext cx="12255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6" imgW="609600" imgH="393700" progId="Equation.DSMT4">
                  <p:embed/>
                </p:oleObj>
              </mc:Choice>
              <mc:Fallback>
                <p:oleObj name="" r:id="rId6" imgW="609600" imgH="3937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92725" y="4797425"/>
                        <a:ext cx="1225550" cy="7921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10"/>
          <p:cNvSpPr/>
          <p:nvPr/>
        </p:nvSpPr>
        <p:spPr>
          <a:xfrm>
            <a:off x="6732588" y="4941888"/>
            <a:ext cx="20891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2400" b="1" baseline="0" dirty="0">
                <a:latin typeface="Arial" panose="020B0604020202020204" pitchFamily="34" charset="0"/>
              </a:rPr>
              <a:t>为导通电阻</a:t>
            </a:r>
            <a:r>
              <a:rPr lang="zh-CN" altLang="en-US" baseline="0" dirty="0">
                <a:latin typeface="Arial" panose="020B0604020202020204" pitchFamily="34" charset="0"/>
              </a:rPr>
              <a:t> </a:t>
            </a:r>
            <a:endParaRPr lang="zh-CN" altLang="en-US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3" name="Picture 2"/>
          <p:cNvPicPr>
            <a:picLocks noChangeAspect="1"/>
          </p:cNvPicPr>
          <p:nvPr>
            <p:ph type="body" idx="4294967295"/>
          </p:nvPr>
        </p:nvPicPr>
        <p:blipFill>
          <a:blip r:embed="rId1"/>
          <a:srcRect/>
          <a:stretch>
            <a:fillRect/>
          </a:stretch>
        </p:blipFill>
        <p:spPr>
          <a:xfrm>
            <a:off x="611188" y="908050"/>
            <a:ext cx="2665412" cy="2533650"/>
          </a:xfrm>
          <a:ln/>
        </p:spPr>
      </p:pic>
      <p:sp>
        <p:nvSpPr>
          <p:cNvPr id="5124" name="Rectangle 3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baseline="0" dirty="0">
              <a:latin typeface="Arial" panose="020B0604020202020204" pitchFamily="34" charset="0"/>
            </a:endParaRPr>
          </a:p>
        </p:txBody>
      </p:sp>
      <p:sp>
        <p:nvSpPr>
          <p:cNvPr id="5125" name="Rectangle 4"/>
          <p:cNvSpPr/>
          <p:nvPr/>
        </p:nvSpPr>
        <p:spPr>
          <a:xfrm>
            <a:off x="3851275" y="1341438"/>
            <a:ext cx="350043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baseline="0" dirty="0">
                <a:latin typeface="Arial" panose="020B0604020202020204" pitchFamily="34" charset="0"/>
              </a:rPr>
              <a:t>当</a:t>
            </a:r>
            <a:r>
              <a:rPr lang="en-US" altLang="zh-CN" sz="2800" baseline="0" dirty="0">
                <a:latin typeface="Arial" panose="020B0604020202020204" pitchFamily="34" charset="0"/>
              </a:rPr>
              <a:t>V &lt; V</a:t>
            </a:r>
            <a:r>
              <a:rPr lang="en-US" altLang="zh-CN" sz="2800" dirty="0">
                <a:latin typeface="Arial" panose="020B0604020202020204" pitchFamily="34" charset="0"/>
              </a:rPr>
              <a:t>D(on)</a:t>
            </a:r>
            <a:r>
              <a:rPr lang="en-US" altLang="zh-CN" sz="2800" baseline="0" dirty="0">
                <a:latin typeface="Arial" panose="020B0604020202020204" pitchFamily="34" charset="0"/>
              </a:rPr>
              <a:t> </a:t>
            </a:r>
            <a:r>
              <a:rPr lang="zh-CN" altLang="en-US" sz="2800" baseline="0" dirty="0">
                <a:latin typeface="Arial" panose="020B0604020202020204" pitchFamily="34" charset="0"/>
              </a:rPr>
              <a:t>时， </a:t>
            </a:r>
            <a:r>
              <a:rPr lang="en-US" altLang="zh-CN" sz="2800" baseline="0" dirty="0">
                <a:latin typeface="Arial" panose="020B0604020202020204" pitchFamily="34" charset="0"/>
              </a:rPr>
              <a:t>I=0</a:t>
            </a:r>
            <a:r>
              <a:rPr lang="en-US" altLang="zh-CN" baseline="0" dirty="0">
                <a:latin typeface="Arial" panose="020B0604020202020204" pitchFamily="34" charset="0"/>
              </a:rPr>
              <a:t> </a:t>
            </a:r>
            <a:endParaRPr lang="en-US" altLang="zh-CN" baseline="0" dirty="0">
              <a:latin typeface="Arial" panose="020B0604020202020204" pitchFamily="34" charset="0"/>
            </a:endParaRPr>
          </a:p>
        </p:txBody>
      </p:sp>
      <p:sp>
        <p:nvSpPr>
          <p:cNvPr id="5126" name="Rectangle 5"/>
          <p:cNvSpPr/>
          <p:nvPr/>
        </p:nvSpPr>
        <p:spPr>
          <a:xfrm>
            <a:off x="3779838" y="2636838"/>
            <a:ext cx="289718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baseline="0" dirty="0">
                <a:latin typeface="Arial" panose="020B0604020202020204" pitchFamily="34" charset="0"/>
              </a:rPr>
              <a:t>当</a:t>
            </a:r>
            <a:r>
              <a:rPr lang="en-US" altLang="zh-CN" sz="2800" baseline="0" dirty="0">
                <a:latin typeface="Arial" panose="020B0604020202020204" pitchFamily="34" charset="0"/>
              </a:rPr>
              <a:t>V &gt; V</a:t>
            </a:r>
            <a:r>
              <a:rPr lang="en-US" altLang="zh-CN" sz="2800" dirty="0">
                <a:latin typeface="Arial" panose="020B0604020202020204" pitchFamily="34" charset="0"/>
              </a:rPr>
              <a:t>D(on)</a:t>
            </a:r>
            <a:r>
              <a:rPr lang="en-US" altLang="zh-CN" sz="2800" baseline="0" dirty="0">
                <a:latin typeface="Arial" panose="020B0604020202020204" pitchFamily="34" charset="0"/>
              </a:rPr>
              <a:t> </a:t>
            </a:r>
            <a:r>
              <a:rPr lang="zh-CN" altLang="en-US" sz="2800" baseline="0" dirty="0">
                <a:latin typeface="Arial" panose="020B0604020202020204" pitchFamily="34" charset="0"/>
              </a:rPr>
              <a:t>时，</a:t>
            </a:r>
            <a:r>
              <a:rPr lang="zh-CN" altLang="en-US" baseline="0" dirty="0">
                <a:latin typeface="Arial" panose="020B0604020202020204" pitchFamily="34" charset="0"/>
              </a:rPr>
              <a:t> </a:t>
            </a:r>
            <a:endParaRPr lang="zh-CN" altLang="en-US" baseline="0" dirty="0">
              <a:latin typeface="Arial" panose="020B0604020202020204" pitchFamily="34" charset="0"/>
            </a:endParaRPr>
          </a:p>
        </p:txBody>
      </p:sp>
      <p:sp>
        <p:nvSpPr>
          <p:cNvPr id="5127" name="Rectangle 6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baseline="0" dirty="0">
              <a:latin typeface="Arial" panose="020B0604020202020204" pitchFamily="34" charset="0"/>
            </a:endParaRPr>
          </a:p>
        </p:txBody>
      </p:sp>
      <p:graphicFrame>
        <p:nvGraphicFramePr>
          <p:cNvPr id="5122" name="Object 7"/>
          <p:cNvGraphicFramePr/>
          <p:nvPr/>
        </p:nvGraphicFramePr>
        <p:xfrm>
          <a:off x="6516688" y="2349500"/>
          <a:ext cx="2232025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" imgW="862965" imgH="457200" progId="Equation.DSMT4">
                  <p:embed/>
                </p:oleObj>
              </mc:Choice>
              <mc:Fallback>
                <p:oleObj name="" r:id="rId2" imgW="862965" imgH="4572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16688" y="2349500"/>
                        <a:ext cx="2232025" cy="117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513" y="4076700"/>
            <a:ext cx="3960812" cy="2157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solidFill>
                  <a:srgbClr val="FF3300"/>
                </a:solidFill>
              </a:rPr>
              <a:t>3</a:t>
            </a:r>
            <a:r>
              <a:rPr lang="zh-CN" altLang="en-US" b="1" dirty="0">
                <a:solidFill>
                  <a:srgbClr val="FF3300"/>
                </a:solidFill>
              </a:rPr>
              <a:t>、恒压降近似模型（         ）</a:t>
            </a:r>
            <a:endParaRPr lang="zh-CN" altLang="en-US" b="1" dirty="0">
              <a:solidFill>
                <a:srgbClr val="FF3300"/>
              </a:solidFill>
            </a:endParaRPr>
          </a:p>
        </p:txBody>
      </p:sp>
      <p:sp>
        <p:nvSpPr>
          <p:cNvPr id="6148" name="Rectangle 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baseline="0" dirty="0">
              <a:latin typeface="Arial" panose="020B0604020202020204" pitchFamily="34" charset="0"/>
            </a:endParaRPr>
          </a:p>
        </p:txBody>
      </p:sp>
      <p:graphicFrame>
        <p:nvGraphicFramePr>
          <p:cNvPr id="6146" name="Object 4"/>
          <p:cNvGraphicFramePr/>
          <p:nvPr/>
        </p:nvGraphicFramePr>
        <p:xfrm>
          <a:off x="6227763" y="549275"/>
          <a:ext cx="136842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457200" imgH="228600" progId="Equation.DSMT4">
                  <p:embed/>
                </p:oleObj>
              </mc:Choice>
              <mc:Fallback>
                <p:oleObj name="" r:id="rId1" imgW="457200" imgH="228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27763" y="549275"/>
                        <a:ext cx="1368425" cy="684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9" name="Picture 5"/>
          <p:cNvPicPr>
            <a:picLocks noChangeAspect="1"/>
          </p:cNvPicPr>
          <p:nvPr>
            <p:ph type="body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1547813" y="1773238"/>
            <a:ext cx="2295525" cy="2519362"/>
          </a:xfrm>
          <a:ln/>
        </p:spPr>
      </p:pic>
      <p:pic>
        <p:nvPicPr>
          <p:cNvPr id="615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76475"/>
            <a:ext cx="3744913" cy="1416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2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b="1" dirty="0">
                <a:solidFill>
                  <a:srgbClr val="FF3300"/>
                </a:solidFill>
              </a:rPr>
              <a:t>4</a:t>
            </a:r>
            <a:r>
              <a:rPr lang="zh-CN" altLang="en-US" sz="4000" b="1" dirty="0">
                <a:solidFill>
                  <a:srgbClr val="FF3300"/>
                </a:solidFill>
              </a:rPr>
              <a:t>、略去          ，但考虑        的近似模型</a:t>
            </a:r>
            <a:endParaRPr lang="zh-CN" altLang="en-US" sz="4000" b="1" dirty="0">
              <a:solidFill>
                <a:srgbClr val="FF3300"/>
              </a:solidFill>
            </a:endParaRPr>
          </a:p>
        </p:txBody>
      </p:sp>
      <p:sp>
        <p:nvSpPr>
          <p:cNvPr id="7173" name="Rectangle 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baseline="0" dirty="0">
              <a:latin typeface="Arial" panose="020B0604020202020204" pitchFamily="34" charset="0"/>
            </a:endParaRPr>
          </a:p>
        </p:txBody>
      </p:sp>
      <p:graphicFrame>
        <p:nvGraphicFramePr>
          <p:cNvPr id="7170" name="Object 4"/>
          <p:cNvGraphicFramePr/>
          <p:nvPr/>
        </p:nvGraphicFramePr>
        <p:xfrm>
          <a:off x="2700338" y="188913"/>
          <a:ext cx="104298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55600" imgH="241300" progId="Equation.DSMT4">
                  <p:embed/>
                </p:oleObj>
              </mc:Choice>
              <mc:Fallback>
                <p:oleObj name="" r:id="rId1" imgW="355600" imgH="2413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338" y="188913"/>
                        <a:ext cx="1042987" cy="70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baseline="0" dirty="0">
              <a:latin typeface="Arial" panose="020B0604020202020204" pitchFamily="34" charset="0"/>
            </a:endParaRPr>
          </a:p>
        </p:txBody>
      </p:sp>
      <p:graphicFrame>
        <p:nvGraphicFramePr>
          <p:cNvPr id="7171" name="Object 6"/>
          <p:cNvGraphicFramePr/>
          <p:nvPr/>
        </p:nvGraphicFramePr>
        <p:xfrm>
          <a:off x="6084888" y="188913"/>
          <a:ext cx="6889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215900" imgH="228600" progId="Equation.DSMT4">
                  <p:embed/>
                </p:oleObj>
              </mc:Choice>
              <mc:Fallback>
                <p:oleObj name="" r:id="rId3" imgW="215900" imgH="2286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84888" y="188913"/>
                        <a:ext cx="688975" cy="719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5" name="Picture 7"/>
          <p:cNvPicPr>
            <a:picLocks noChangeAspect="1"/>
          </p:cNvPicPr>
          <p:nvPr>
            <p:ph type="body" idx="4294967295"/>
          </p:nvPr>
        </p:nvPicPr>
        <p:blipFill>
          <a:blip r:embed="rId5"/>
          <a:srcRect/>
          <a:stretch>
            <a:fillRect/>
          </a:stretch>
        </p:blipFill>
        <p:spPr>
          <a:xfrm>
            <a:off x="971550" y="2349500"/>
            <a:ext cx="1884363" cy="2087563"/>
          </a:xfrm>
          <a:ln/>
        </p:spPr>
      </p:pic>
      <p:pic>
        <p:nvPicPr>
          <p:cNvPr id="7176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175" y="2420938"/>
            <a:ext cx="4249738" cy="206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9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1-14</a:t>
            </a:r>
            <a:endParaRPr lang="en-US" altLang="zh-CN" dirty="0"/>
          </a:p>
        </p:txBody>
      </p:sp>
      <p:pic>
        <p:nvPicPr>
          <p:cNvPr id="20483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2349500"/>
            <a:ext cx="1652588" cy="1944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4" name="Picture 8"/>
          <p:cNvPicPr>
            <a:picLocks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924300" y="1844675"/>
            <a:ext cx="3744913" cy="2705100"/>
          </a:xfrm>
          <a:ln/>
        </p:spPr>
      </p:pic>
      <p:pic>
        <p:nvPicPr>
          <p:cNvPr id="20485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63" y="692150"/>
            <a:ext cx="2663825" cy="446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6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413" y="476250"/>
            <a:ext cx="1655762" cy="1379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7" name="Rectangle 11"/>
          <p:cNvSpPr/>
          <p:nvPr/>
        </p:nvSpPr>
        <p:spPr>
          <a:xfrm>
            <a:off x="1042988" y="4997450"/>
            <a:ext cx="5976937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600" dirty="0">
                <a:latin typeface="Arial" panose="020B0604020202020204" pitchFamily="34" charset="0"/>
              </a:rPr>
              <a:t>D3</a:t>
            </a:r>
            <a:r>
              <a:rPr lang="zh-CN" altLang="en-US" sz="3600" dirty="0">
                <a:latin typeface="Arial" panose="020B0604020202020204" pitchFamily="34" charset="0"/>
              </a:rPr>
              <a:t>的正向压降最大（</a:t>
            </a:r>
            <a:r>
              <a:rPr lang="en-US" altLang="zh-CN" sz="3600" dirty="0">
                <a:latin typeface="Arial" panose="020B0604020202020204" pitchFamily="34" charset="0"/>
              </a:rPr>
              <a:t>3.3-0</a:t>
            </a:r>
            <a:r>
              <a:rPr lang="zh-CN" altLang="en-US" sz="3600" dirty="0">
                <a:latin typeface="Arial" panose="020B0604020202020204" pitchFamily="34" charset="0"/>
              </a:rPr>
              <a:t>），∴</a:t>
            </a:r>
            <a:r>
              <a:rPr lang="en-US" altLang="zh-CN" sz="3600" dirty="0">
                <a:latin typeface="Arial" panose="020B0604020202020204" pitchFamily="34" charset="0"/>
              </a:rPr>
              <a:t>D3</a:t>
            </a:r>
            <a:r>
              <a:rPr lang="zh-CN" altLang="en-US" sz="3600" dirty="0">
                <a:latin typeface="Arial" panose="020B0604020202020204" pitchFamily="34" charset="0"/>
              </a:rPr>
              <a:t>导通，</a:t>
            </a:r>
            <a:endParaRPr lang="zh-CN" altLang="en-US" sz="3600" dirty="0">
              <a:latin typeface="Arial" panose="020B0604020202020204" pitchFamily="34" charset="0"/>
            </a:endParaRPr>
          </a:p>
          <a:p>
            <a:r>
              <a:rPr lang="zh-CN" altLang="en-US" sz="3600" dirty="0">
                <a:latin typeface="Arial" panose="020B0604020202020204" pitchFamily="34" charset="0"/>
              </a:rPr>
              <a:t>∴</a:t>
            </a:r>
            <a:r>
              <a:rPr lang="en-US" altLang="zh-CN" sz="3600" dirty="0">
                <a:latin typeface="Arial" panose="020B0604020202020204" pitchFamily="34" charset="0"/>
              </a:rPr>
              <a:t>V</a:t>
            </a:r>
            <a:r>
              <a:rPr lang="en-US" altLang="zh-CN" sz="3200" dirty="0">
                <a:latin typeface="Arial" panose="020B0604020202020204" pitchFamily="34" charset="0"/>
              </a:rPr>
              <a:t>D </a:t>
            </a:r>
            <a:r>
              <a:rPr lang="en-US" altLang="zh-CN" sz="3600" dirty="0">
                <a:latin typeface="Arial" panose="020B0604020202020204" pitchFamily="34" charset="0"/>
              </a:rPr>
              <a:t>=3.3V </a:t>
            </a:r>
            <a:endParaRPr lang="en-US" altLang="zh-CN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1-15</a:t>
            </a:r>
            <a:endParaRPr lang="en-US" altLang="zh-CN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  </a:t>
            </a:r>
            <a:r>
              <a:rPr lang="en-US" altLang="zh-CN" dirty="0"/>
              <a:t>D (off ) </a:t>
            </a:r>
            <a:endParaRPr lang="en-US" altLang="zh-CN" dirty="0"/>
          </a:p>
        </p:txBody>
      </p:sp>
      <p:pic>
        <p:nvPicPr>
          <p:cNvPr id="21508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213" y="2060575"/>
            <a:ext cx="4537075" cy="3001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(b)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D (on)</a:t>
            </a:r>
            <a:endParaRPr lang="en-US" altLang="zh-CN" dirty="0"/>
          </a:p>
        </p:txBody>
      </p:sp>
      <p:pic>
        <p:nvPicPr>
          <p:cNvPr id="2253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313" y="1989138"/>
            <a:ext cx="5040312" cy="31067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 (c)</a:t>
            </a:r>
            <a:endParaRPr lang="en-US" altLang="zh-CN" dirty="0"/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D1 (on)  D2 (off)</a:t>
            </a:r>
            <a:endParaRPr lang="en-US" altLang="zh-CN" dirty="0"/>
          </a:p>
        </p:txBody>
      </p:sp>
      <p:pic>
        <p:nvPicPr>
          <p:cNvPr id="2355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538" y="2708275"/>
            <a:ext cx="3743325" cy="2495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(d)</a:t>
            </a:r>
            <a:endParaRPr lang="en-US" altLang="zh-CN" dirty="0"/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D1 (on)  D2 (on)</a:t>
            </a:r>
            <a:endParaRPr lang="en-US" altLang="zh-CN" dirty="0"/>
          </a:p>
        </p:txBody>
      </p:sp>
      <p:pic>
        <p:nvPicPr>
          <p:cNvPr id="24580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3" y="2492375"/>
            <a:ext cx="5184775" cy="30305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1-18 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当</a:t>
            </a:r>
            <a:r>
              <a:rPr lang="en-US" altLang="zh-CN" dirty="0"/>
              <a:t>Vi &lt;-2V</a:t>
            </a:r>
            <a:r>
              <a:rPr lang="zh-CN" altLang="en-US" dirty="0"/>
              <a:t>时，</a:t>
            </a:r>
            <a:r>
              <a:rPr lang="en-US" altLang="zh-CN" dirty="0"/>
              <a:t>D1 (on)   D2 (off) </a:t>
            </a:r>
            <a:endParaRPr lang="en-US" altLang="zh-CN" dirty="0"/>
          </a:p>
        </p:txBody>
      </p:sp>
      <p:pic>
        <p:nvPicPr>
          <p:cNvPr id="2560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2852738"/>
            <a:ext cx="4464050" cy="2325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当</a:t>
            </a:r>
            <a:r>
              <a:rPr lang="en-US" altLang="zh-CN" dirty="0"/>
              <a:t>-2V&lt;Vi &lt;5V</a:t>
            </a:r>
            <a:r>
              <a:rPr lang="zh-CN" altLang="en-US" dirty="0"/>
              <a:t>时，</a:t>
            </a:r>
            <a:endParaRPr lang="zh-CN" altLang="en-US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4000" dirty="0"/>
              <a:t>D1 (off)   D2 (off)</a:t>
            </a:r>
            <a:endParaRPr lang="en-US" altLang="zh-CN" sz="4000" dirty="0"/>
          </a:p>
        </p:txBody>
      </p:sp>
      <p:pic>
        <p:nvPicPr>
          <p:cNvPr id="2662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313" y="3068638"/>
            <a:ext cx="3240087" cy="2463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当</a:t>
            </a:r>
            <a:r>
              <a:rPr lang="en-US" altLang="zh-CN" dirty="0"/>
              <a:t>Vi &gt;5V</a:t>
            </a:r>
            <a:r>
              <a:rPr lang="zh-CN" altLang="en-US" dirty="0"/>
              <a:t>时，</a:t>
            </a:r>
            <a:endParaRPr lang="zh-CN" altLang="en-US" dirty="0"/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4000" dirty="0"/>
              <a:t>D1 (off)   D2 (on)</a:t>
            </a:r>
            <a:endParaRPr lang="en-US" altLang="zh-CN" sz="4000" dirty="0"/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538" y="2852738"/>
            <a:ext cx="4535487" cy="2078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457200" y="620713"/>
            <a:ext cx="8229600" cy="55054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当</a:t>
            </a:r>
            <a:r>
              <a:rPr lang="en-US" altLang="zh-CN" dirty="0"/>
              <a:t>Vi &lt;-2V</a:t>
            </a:r>
            <a:r>
              <a:rPr lang="zh-CN" altLang="en-US" dirty="0"/>
              <a:t>时，</a:t>
            </a:r>
            <a:r>
              <a:rPr lang="en-US" altLang="zh-CN" dirty="0"/>
              <a:t>Vo = - 2V</a:t>
            </a:r>
            <a:r>
              <a:rPr lang="zh-CN" altLang="en-US" dirty="0"/>
              <a:t>；</a:t>
            </a:r>
            <a:endParaRPr lang="zh-CN" altLang="en-US" dirty="0"/>
          </a:p>
          <a:p>
            <a:pPr eaLnBrk="1" hangingPunct="1"/>
            <a:r>
              <a:rPr lang="zh-CN" altLang="en-US" dirty="0"/>
              <a:t>当</a:t>
            </a:r>
            <a:r>
              <a:rPr lang="en-US" altLang="zh-CN" dirty="0"/>
              <a:t>Vi &gt; 5V</a:t>
            </a:r>
            <a:r>
              <a:rPr lang="zh-CN" altLang="en-US" dirty="0"/>
              <a:t>时，</a:t>
            </a:r>
            <a:r>
              <a:rPr lang="en-US" altLang="zh-CN" dirty="0"/>
              <a:t>Vo = 5V</a:t>
            </a:r>
            <a:r>
              <a:rPr lang="zh-CN" altLang="en-US" dirty="0"/>
              <a:t>；</a:t>
            </a:r>
            <a:endParaRPr lang="zh-CN" altLang="en-US" dirty="0"/>
          </a:p>
          <a:p>
            <a:pPr eaLnBrk="1" hangingPunct="1"/>
            <a:r>
              <a:rPr lang="zh-CN" altLang="en-US" dirty="0"/>
              <a:t>当</a:t>
            </a:r>
            <a:r>
              <a:rPr lang="en-US" altLang="zh-CN" dirty="0"/>
              <a:t>-2V&lt;Vi &lt;5V</a:t>
            </a:r>
            <a:r>
              <a:rPr lang="zh-CN" altLang="en-US" dirty="0"/>
              <a:t>时， </a:t>
            </a:r>
            <a:r>
              <a:rPr lang="en-US" altLang="zh-CN" dirty="0"/>
              <a:t>Vo = Vi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pic>
        <p:nvPicPr>
          <p:cNvPr id="2867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3573463"/>
            <a:ext cx="3671888" cy="1938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3429000"/>
            <a:ext cx="3384550" cy="21764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4000" dirty="0"/>
              <a:t>1-18 </a:t>
            </a:r>
            <a:r>
              <a:rPr lang="zh-CN" altLang="en-US" sz="4000" dirty="0"/>
              <a:t>（</a:t>
            </a:r>
            <a:r>
              <a:rPr lang="en-US" altLang="zh-CN" sz="4000" dirty="0"/>
              <a:t>b</a:t>
            </a:r>
            <a:r>
              <a:rPr lang="zh-CN" altLang="en-US" sz="4000" dirty="0"/>
              <a:t>）</a:t>
            </a:r>
            <a:endParaRPr lang="zh-CN" altLang="en-US" sz="4000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457200" y="908050"/>
            <a:ext cx="8229600" cy="521811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当</a:t>
            </a:r>
            <a:r>
              <a:rPr lang="en-US" altLang="zh-CN" dirty="0"/>
              <a:t>Vi &gt;2V</a:t>
            </a:r>
            <a:r>
              <a:rPr lang="zh-CN" altLang="en-US" dirty="0"/>
              <a:t>时，</a:t>
            </a:r>
            <a:r>
              <a:rPr lang="en-US" altLang="zh-CN" dirty="0"/>
              <a:t>D (on) </a:t>
            </a:r>
            <a:r>
              <a:rPr lang="zh-CN" altLang="en-US" dirty="0"/>
              <a:t>， </a:t>
            </a:r>
            <a:r>
              <a:rPr lang="en-US" altLang="zh-CN" dirty="0"/>
              <a:t>Vo = Vi </a:t>
            </a:r>
            <a:endParaRPr lang="en-US" altLang="zh-CN" dirty="0"/>
          </a:p>
          <a:p>
            <a:pPr eaLnBrk="1" hangingPunct="1"/>
            <a:r>
              <a:rPr lang="zh-CN" altLang="en-US" dirty="0"/>
              <a:t>当</a:t>
            </a:r>
            <a:r>
              <a:rPr lang="en-US" altLang="zh-CN" dirty="0"/>
              <a:t>Vi &lt;2V</a:t>
            </a:r>
            <a:r>
              <a:rPr lang="zh-CN" altLang="en-US" dirty="0"/>
              <a:t>时，</a:t>
            </a:r>
            <a:r>
              <a:rPr lang="en-US" altLang="zh-CN" dirty="0"/>
              <a:t>D (off) </a:t>
            </a:r>
            <a:r>
              <a:rPr lang="zh-CN" altLang="en-US" dirty="0"/>
              <a:t>， </a:t>
            </a:r>
            <a:r>
              <a:rPr lang="en-US" altLang="zh-CN" dirty="0"/>
              <a:t>Vo = 2V</a:t>
            </a:r>
            <a:endParaRPr lang="en-US" altLang="zh-CN" dirty="0"/>
          </a:p>
        </p:txBody>
      </p:sp>
      <p:pic>
        <p:nvPicPr>
          <p:cNvPr id="2970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2205038"/>
            <a:ext cx="2592387" cy="1922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3" y="2133600"/>
            <a:ext cx="2016125" cy="1995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2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3" y="4365625"/>
            <a:ext cx="3095625" cy="1687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3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3" y="4365625"/>
            <a:ext cx="2951162" cy="220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/>
              <a:t>1-21</a:t>
            </a:r>
            <a:endParaRPr lang="en-US" altLang="zh-CN" dirty="0"/>
          </a:p>
        </p:txBody>
      </p:sp>
      <p:sp>
        <p:nvSpPr>
          <p:cNvPr id="8198" name="Rectangle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194" name="Object 6"/>
          <p:cNvGraphicFramePr/>
          <p:nvPr/>
        </p:nvGraphicFramePr>
        <p:xfrm>
          <a:off x="971550" y="1700213"/>
          <a:ext cx="6624638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413000" imgH="431800" progId="Equation.DSMT4">
                  <p:embed/>
                </p:oleObj>
              </mc:Choice>
              <mc:Fallback>
                <p:oleObj name="" r:id="rId1" imgW="2413000" imgH="431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1700213"/>
                        <a:ext cx="6624638" cy="117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9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195" name="Object 8"/>
          <p:cNvGraphicFramePr/>
          <p:nvPr/>
        </p:nvGraphicFramePr>
        <p:xfrm>
          <a:off x="827088" y="3213100"/>
          <a:ext cx="705802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628900" imgH="431800" progId="Equation.DSMT4">
                  <p:embed/>
                </p:oleObj>
              </mc:Choice>
              <mc:Fallback>
                <p:oleObj name="" r:id="rId3" imgW="2628900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088" y="3213100"/>
                        <a:ext cx="7058025" cy="1150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Rectangle 11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196" name="Object 10"/>
          <p:cNvGraphicFramePr/>
          <p:nvPr/>
        </p:nvGraphicFramePr>
        <p:xfrm>
          <a:off x="971550" y="4941888"/>
          <a:ext cx="540067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1651000" imgH="203200" progId="Equation.DSMT4">
                  <p:embed/>
                </p:oleObj>
              </mc:Choice>
              <mc:Fallback>
                <p:oleObj name="" r:id="rId5" imgW="1651000" imgH="203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550" y="4941888"/>
                        <a:ext cx="5400675" cy="655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395288" y="260350"/>
            <a:ext cx="8229600" cy="59055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4000" dirty="0"/>
              <a:t>1-22</a:t>
            </a:r>
            <a:endParaRPr lang="en-US" altLang="zh-CN" sz="4000" dirty="0"/>
          </a:p>
        </p:txBody>
      </p:sp>
      <p:pic>
        <p:nvPicPr>
          <p:cNvPr id="30723" name="Picture 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468313" y="2852738"/>
            <a:ext cx="2736850" cy="1533525"/>
          </a:xfrm>
          <a:ln/>
        </p:spPr>
      </p:pic>
      <p:sp>
        <p:nvSpPr>
          <p:cNvPr id="30724" name="Rectangle 5"/>
          <p:cNvSpPr/>
          <p:nvPr/>
        </p:nvSpPr>
        <p:spPr>
          <a:xfrm>
            <a:off x="4211638" y="1341438"/>
            <a:ext cx="2735262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2400" baseline="0" dirty="0">
                <a:latin typeface="Arial" panose="020B0604020202020204" pitchFamily="34" charset="0"/>
              </a:rPr>
              <a:t>如略去</a:t>
            </a:r>
            <a:r>
              <a:rPr lang="en-US" altLang="zh-CN" sz="2400" baseline="0" dirty="0"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</a:rPr>
              <a:t>D</a:t>
            </a:r>
            <a:r>
              <a:rPr lang="en-US" altLang="zh-CN" sz="2400" baseline="0" dirty="0">
                <a:latin typeface="Arial" panose="020B0604020202020204" pitchFamily="34" charset="0"/>
              </a:rPr>
              <a:t> </a:t>
            </a:r>
            <a:r>
              <a:rPr lang="zh-CN" altLang="en-US" sz="2400" baseline="0" dirty="0">
                <a:latin typeface="Arial" panose="020B0604020202020204" pitchFamily="34" charset="0"/>
              </a:rPr>
              <a:t>，则为</a:t>
            </a:r>
            <a:endParaRPr lang="zh-CN" altLang="en-US" sz="2400" baseline="0" dirty="0">
              <a:latin typeface="Arial" panose="020B0604020202020204" pitchFamily="34" charset="0"/>
            </a:endParaRPr>
          </a:p>
        </p:txBody>
      </p:sp>
      <p:pic>
        <p:nvPicPr>
          <p:cNvPr id="3072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2420938"/>
            <a:ext cx="4176713" cy="2381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）当∣</a:t>
            </a:r>
            <a:r>
              <a:rPr lang="en-US" altLang="zh-CN" dirty="0"/>
              <a:t>Vi∣&lt;3.7V </a:t>
            </a:r>
            <a:r>
              <a:rPr lang="zh-CN" altLang="en-US" dirty="0"/>
              <a:t>时，</a:t>
            </a:r>
            <a:endParaRPr lang="zh-CN" altLang="en-US" dirty="0"/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D1</a:t>
            </a:r>
            <a:r>
              <a:rPr lang="zh-CN" altLang="en-US" dirty="0"/>
              <a:t>、</a:t>
            </a:r>
            <a:r>
              <a:rPr lang="en-US" altLang="zh-CN" dirty="0"/>
              <a:t>D2</a:t>
            </a:r>
            <a:r>
              <a:rPr lang="zh-CN" altLang="en-US" dirty="0"/>
              <a:t>均 （</a:t>
            </a:r>
            <a:r>
              <a:rPr lang="en-US" altLang="zh-CN" dirty="0"/>
              <a:t>off</a:t>
            </a:r>
            <a:r>
              <a:rPr lang="zh-CN" altLang="en-US" dirty="0"/>
              <a:t>）如图，</a:t>
            </a:r>
            <a:r>
              <a:rPr lang="en-US" altLang="zh-CN" dirty="0"/>
              <a:t>Vo = Vi</a:t>
            </a:r>
            <a:endParaRPr lang="en-US" altLang="zh-CN" dirty="0"/>
          </a:p>
        </p:txBody>
      </p:sp>
      <p:pic>
        <p:nvPicPr>
          <p:cNvPr id="3174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2781300"/>
            <a:ext cx="2303463" cy="1770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2492375"/>
            <a:ext cx="4176712" cy="2381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）当</a:t>
            </a:r>
            <a:r>
              <a:rPr lang="en-US" altLang="zh-CN" dirty="0"/>
              <a:t>Vi&gt;3.7V </a:t>
            </a:r>
            <a:r>
              <a:rPr lang="zh-CN" altLang="en-US" dirty="0"/>
              <a:t>时，</a:t>
            </a:r>
            <a:endParaRPr lang="zh-CN" altLang="en-US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D1 </a:t>
            </a:r>
            <a:r>
              <a:rPr lang="zh-CN" altLang="en-US" dirty="0"/>
              <a:t>（</a:t>
            </a:r>
            <a:r>
              <a:rPr lang="en-US" altLang="zh-CN" dirty="0"/>
              <a:t>off</a:t>
            </a:r>
            <a:r>
              <a:rPr lang="zh-CN" altLang="en-US" dirty="0"/>
              <a:t>）</a:t>
            </a:r>
            <a:r>
              <a:rPr lang="en-US" altLang="zh-CN" dirty="0"/>
              <a:t>,D2 (on)</a:t>
            </a:r>
            <a:endParaRPr lang="en-US" altLang="zh-CN" dirty="0"/>
          </a:p>
        </p:txBody>
      </p:sp>
      <p:pic>
        <p:nvPicPr>
          <p:cNvPr id="922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2492375"/>
            <a:ext cx="4176712" cy="2381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263" y="2708275"/>
            <a:ext cx="2881312" cy="1995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3" name="Rectangle 7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218" name="Object 6"/>
          <p:cNvGraphicFramePr/>
          <p:nvPr/>
        </p:nvGraphicFramePr>
        <p:xfrm>
          <a:off x="2824163" y="5373688"/>
          <a:ext cx="5799137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2005965" imgH="241300" progId="Equation.DSMT4">
                  <p:embed/>
                </p:oleObj>
              </mc:Choice>
              <mc:Fallback>
                <p:oleObj name="" r:id="rId3" imgW="2005965" imgH="2413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24163" y="5373688"/>
                        <a:ext cx="5799137" cy="68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）当</a:t>
            </a:r>
            <a:r>
              <a:rPr lang="en-US" altLang="zh-CN" dirty="0"/>
              <a:t>Vi&lt;-3.7V </a:t>
            </a:r>
            <a:r>
              <a:rPr lang="zh-CN" altLang="en-US" dirty="0"/>
              <a:t>时，</a:t>
            </a:r>
            <a:endParaRPr lang="zh-CN" altLang="en-US" dirty="0"/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D1 (on),D2 </a:t>
            </a:r>
            <a:r>
              <a:rPr lang="zh-CN" altLang="en-US" dirty="0"/>
              <a:t>（</a:t>
            </a:r>
            <a:r>
              <a:rPr lang="en-US" altLang="zh-CN" dirty="0"/>
              <a:t>off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1024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2420938"/>
            <a:ext cx="4176712" cy="2381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2565400"/>
            <a:ext cx="2881313" cy="1992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7" name="Rectangle 7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42" name="Object 6"/>
          <p:cNvGraphicFramePr/>
          <p:nvPr/>
        </p:nvGraphicFramePr>
        <p:xfrm>
          <a:off x="827088" y="5084763"/>
          <a:ext cx="748982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2451100" imgH="241300" progId="Equation.DSMT4">
                  <p:embed/>
                </p:oleObj>
              </mc:Choice>
              <mc:Fallback>
                <p:oleObj name="" r:id="rId3" imgW="2451100" imgH="2413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088" y="5084763"/>
                        <a:ext cx="7489825" cy="728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8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476250"/>
            <a:ext cx="8362950" cy="56499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）当∣</a:t>
            </a:r>
            <a:r>
              <a:rPr lang="en-US" altLang="zh-CN" sz="2800" dirty="0"/>
              <a:t>Vi∣&lt;3.7V </a:t>
            </a:r>
            <a:r>
              <a:rPr lang="zh-CN" altLang="en-US" sz="2800" dirty="0"/>
              <a:t>时，</a:t>
            </a:r>
            <a:r>
              <a:rPr lang="en-US" altLang="zh-CN" sz="2800" dirty="0"/>
              <a:t>Vo = Vi</a:t>
            </a:r>
            <a:endParaRPr lang="en-US" altLang="zh-CN" sz="2800" dirty="0"/>
          </a:p>
          <a:p>
            <a:pPr eaLnBrk="1" hangingPunct="1">
              <a:buClrTx/>
              <a:buSzTx/>
              <a:buFontTx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）当  </a:t>
            </a:r>
            <a:r>
              <a:rPr lang="en-US" altLang="zh-CN" sz="2800" dirty="0"/>
              <a:t>Vi &gt; 3.7V </a:t>
            </a:r>
            <a:r>
              <a:rPr lang="zh-CN" altLang="en-US" sz="2800" dirty="0"/>
              <a:t>时，</a:t>
            </a:r>
            <a:endParaRPr lang="zh-CN" altLang="en-US" sz="2800" dirty="0"/>
          </a:p>
          <a:p>
            <a:pPr eaLnBrk="1" hangingPunct="1">
              <a:buClrTx/>
              <a:buSzTx/>
              <a:buFontTx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）当  </a:t>
            </a:r>
            <a:r>
              <a:rPr lang="en-US" altLang="zh-CN" sz="2800" dirty="0"/>
              <a:t>Vi &lt; -3.7V </a:t>
            </a:r>
            <a:r>
              <a:rPr lang="zh-CN" altLang="en-US" sz="2800" dirty="0"/>
              <a:t>时，</a:t>
            </a:r>
            <a:endParaRPr lang="zh-CN" altLang="en-US" sz="2800" dirty="0"/>
          </a:p>
          <a:p>
            <a:pPr eaLnBrk="1" hangingPunct="1">
              <a:buClrTx/>
              <a:buSzTx/>
              <a:buFontTx/>
            </a:pPr>
            <a:endParaRPr lang="zh-CN" altLang="en-US" sz="2800" dirty="0"/>
          </a:p>
          <a:p>
            <a:pPr eaLnBrk="1" hangingPunct="1">
              <a:buClrTx/>
              <a:buSzTx/>
              <a:buFontTx/>
            </a:pPr>
            <a:r>
              <a:rPr lang="zh-CN" altLang="en-US" sz="2800" dirty="0"/>
              <a:t>输出波形                                电压传输特性曲线 </a:t>
            </a:r>
            <a:endParaRPr lang="zh-CN" altLang="en-US" sz="2800" dirty="0"/>
          </a:p>
          <a:p>
            <a:pPr eaLnBrk="1" hangingPunct="1">
              <a:buClrTx/>
              <a:buSzTx/>
              <a:buFontTx/>
            </a:pPr>
            <a:endParaRPr lang="en-US" altLang="zh-CN" sz="2800" dirty="0"/>
          </a:p>
        </p:txBody>
      </p:sp>
      <p:graphicFrame>
        <p:nvGraphicFramePr>
          <p:cNvPr id="11266" name="Object 7"/>
          <p:cNvGraphicFramePr/>
          <p:nvPr>
            <p:ph sz="half" idx="2"/>
          </p:nvPr>
        </p:nvGraphicFramePr>
        <p:xfrm>
          <a:off x="4859338" y="981075"/>
          <a:ext cx="165576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723900" imgH="228600" progId="Equation.DSMT4">
                  <p:embed/>
                </p:oleObj>
              </mc:Choice>
              <mc:Fallback>
                <p:oleObj name="" r:id="rId1" imgW="723900" imgH="2286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59338" y="981075"/>
                        <a:ext cx="1655762" cy="5222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14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1267" name="Object 13"/>
          <p:cNvGraphicFramePr/>
          <p:nvPr/>
        </p:nvGraphicFramePr>
        <p:xfrm>
          <a:off x="4787900" y="1484313"/>
          <a:ext cx="187166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812165" imgH="228600" progId="Equation.DSMT4">
                  <p:embed/>
                </p:oleObj>
              </mc:Choice>
              <mc:Fallback>
                <p:oleObj name="" r:id="rId3" imgW="812165" imgH="228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7900" y="1484313"/>
                        <a:ext cx="1871663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0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8" y="3429000"/>
            <a:ext cx="3960812" cy="2097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1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363" y="3357563"/>
            <a:ext cx="3671887" cy="2533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补充一（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2295" name="Rectangle 3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351948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b="1" dirty="0"/>
              <a:t>当           时，</a:t>
            </a:r>
            <a:r>
              <a:rPr lang="zh-CN" altLang="en-US" dirty="0"/>
              <a:t> </a:t>
            </a:r>
            <a:r>
              <a:rPr lang="en-US" altLang="zh-CN" b="1" dirty="0"/>
              <a:t>D</a:t>
            </a:r>
            <a:r>
              <a:rPr lang="zh-CN" altLang="en-US" b="1" dirty="0"/>
              <a:t>短路，</a:t>
            </a:r>
            <a:endParaRPr lang="zh-CN" altLang="en-US" b="1" dirty="0"/>
          </a:p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b="1" dirty="0"/>
              <a:t>当           时，</a:t>
            </a:r>
            <a:r>
              <a:rPr lang="zh-CN" altLang="en-US" dirty="0"/>
              <a:t> </a:t>
            </a:r>
            <a:r>
              <a:rPr lang="en-US" altLang="zh-CN" b="1" dirty="0"/>
              <a:t>D</a:t>
            </a:r>
            <a:r>
              <a:rPr lang="zh-CN" altLang="en-US" b="1" dirty="0"/>
              <a:t>开路，</a:t>
            </a:r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>
              <a:buNone/>
            </a:pPr>
            <a:endParaRPr lang="zh-CN" altLang="en-US" b="1" dirty="0"/>
          </a:p>
        </p:txBody>
      </p:sp>
      <p:pic>
        <p:nvPicPr>
          <p:cNvPr id="1229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63" y="1143000"/>
            <a:ext cx="2305050" cy="1978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643438"/>
            <a:ext cx="2951163" cy="1851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2290" name="Object 7"/>
          <p:cNvGraphicFramePr/>
          <p:nvPr/>
        </p:nvGraphicFramePr>
        <p:xfrm>
          <a:off x="2339975" y="3357563"/>
          <a:ext cx="1079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482600" imgH="228600" progId="Equation.DSMT4">
                  <p:embed/>
                </p:oleObj>
              </mc:Choice>
              <mc:Fallback>
                <p:oleObj name="" r:id="rId3" imgW="482600" imgH="228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975" y="3357563"/>
                        <a:ext cx="1079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2291" name="Object 9"/>
          <p:cNvGraphicFramePr/>
          <p:nvPr/>
        </p:nvGraphicFramePr>
        <p:xfrm>
          <a:off x="6084888" y="3429000"/>
          <a:ext cx="1619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800100" imgH="228600" progId="Equation.DSMT4">
                  <p:embed/>
                </p:oleObj>
              </mc:Choice>
              <mc:Fallback>
                <p:oleObj name="" r:id="rId5" imgW="800100" imgH="2286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4888" y="3429000"/>
                        <a:ext cx="161925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Rectangle 1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2292" name="Object 11"/>
          <p:cNvGraphicFramePr/>
          <p:nvPr/>
        </p:nvGraphicFramePr>
        <p:xfrm>
          <a:off x="2411413" y="4005263"/>
          <a:ext cx="971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7" imgW="482600" imgH="228600" progId="Equation.DSMT4">
                  <p:embed/>
                </p:oleObj>
              </mc:Choice>
              <mc:Fallback>
                <p:oleObj name="" r:id="rId7" imgW="482600" imgH="2286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1413" y="4005263"/>
                        <a:ext cx="97155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2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2293" name="Object 13"/>
          <p:cNvGraphicFramePr/>
          <p:nvPr/>
        </p:nvGraphicFramePr>
        <p:xfrm>
          <a:off x="6084888" y="3933825"/>
          <a:ext cx="10795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9" imgW="419100" imgH="228600" progId="Equation.DSMT4">
                  <p:embed/>
                </p:oleObj>
              </mc:Choice>
              <mc:Fallback>
                <p:oleObj name="" r:id="rId9" imgW="419100" imgH="228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84888" y="3933825"/>
                        <a:ext cx="1079500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02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4750" y="1143000"/>
            <a:ext cx="2232025" cy="1928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03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1143000"/>
            <a:ext cx="2228850" cy="1928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04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3438" y="4572000"/>
            <a:ext cx="2286000" cy="2041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补充一（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3319" name="Rectangle 3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50736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b="1" dirty="0"/>
              <a:t>当           时，</a:t>
            </a:r>
            <a:r>
              <a:rPr lang="zh-CN" altLang="en-US" dirty="0"/>
              <a:t> </a:t>
            </a:r>
            <a:r>
              <a:rPr lang="en-US" altLang="zh-CN" b="1" dirty="0"/>
              <a:t>D</a:t>
            </a:r>
            <a:r>
              <a:rPr lang="zh-CN" altLang="en-US" b="1" dirty="0"/>
              <a:t>短路，</a:t>
            </a:r>
            <a:endParaRPr lang="zh-CN" altLang="en-US" b="1" dirty="0"/>
          </a:p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b="1" dirty="0"/>
              <a:t>当           时，</a:t>
            </a:r>
            <a:r>
              <a:rPr lang="zh-CN" altLang="en-US" dirty="0"/>
              <a:t> </a:t>
            </a:r>
            <a:r>
              <a:rPr lang="en-US" altLang="zh-CN" b="1" dirty="0"/>
              <a:t>D</a:t>
            </a:r>
            <a:r>
              <a:rPr lang="zh-CN" altLang="en-US" b="1" dirty="0"/>
              <a:t>开路，</a:t>
            </a:r>
            <a:endParaRPr lang="zh-CN" altLang="en-US" b="1" dirty="0"/>
          </a:p>
          <a:p>
            <a:pPr eaLnBrk="1" hangingPunct="1"/>
            <a:endParaRPr lang="en-US" altLang="zh-CN" dirty="0"/>
          </a:p>
        </p:txBody>
      </p:sp>
      <p:pic>
        <p:nvPicPr>
          <p:cNvPr id="1332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268413"/>
            <a:ext cx="2374900" cy="207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21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4" name="Object 6"/>
          <p:cNvGraphicFramePr/>
          <p:nvPr/>
        </p:nvGraphicFramePr>
        <p:xfrm>
          <a:off x="2411413" y="3429000"/>
          <a:ext cx="111601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" imgW="482600" imgH="228600" progId="Equation.DSMT4">
                  <p:embed/>
                </p:oleObj>
              </mc:Choice>
              <mc:Fallback>
                <p:oleObj name="" r:id="rId2" imgW="482600" imgH="228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11413" y="3429000"/>
                        <a:ext cx="1116012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7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5" name="Object 8"/>
          <p:cNvGraphicFramePr/>
          <p:nvPr/>
        </p:nvGraphicFramePr>
        <p:xfrm>
          <a:off x="2411413" y="4076700"/>
          <a:ext cx="971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4" imgW="482600" imgH="228600" progId="Equation.DSMT4">
                  <p:embed/>
                </p:oleObj>
              </mc:Choice>
              <mc:Fallback>
                <p:oleObj name="" r:id="rId4" imgW="482600" imgH="2286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1413" y="4076700"/>
                        <a:ext cx="97155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6" name="Object 10"/>
          <p:cNvGraphicFramePr/>
          <p:nvPr/>
        </p:nvGraphicFramePr>
        <p:xfrm>
          <a:off x="6084888" y="3429000"/>
          <a:ext cx="9715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6" imgW="419100" imgH="228600" progId="Equation.DSMT4">
                  <p:embed/>
                </p:oleObj>
              </mc:Choice>
              <mc:Fallback>
                <p:oleObj name="" r:id="rId6" imgW="419100" imgH="2286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84888" y="3429000"/>
                        <a:ext cx="971550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Rectangle 1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3317" name="Object 12"/>
          <p:cNvGraphicFramePr/>
          <p:nvPr/>
        </p:nvGraphicFramePr>
        <p:xfrm>
          <a:off x="6084888" y="4076700"/>
          <a:ext cx="17637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8" imgW="800100" imgH="228600" progId="Equation.DSMT4">
                  <p:embed/>
                </p:oleObj>
              </mc:Choice>
              <mc:Fallback>
                <p:oleObj name="" r:id="rId8" imgW="800100" imgH="2286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84888" y="4076700"/>
                        <a:ext cx="1763712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25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88" y="4643438"/>
            <a:ext cx="2736850" cy="1581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6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3313" y="1357313"/>
            <a:ext cx="2089150" cy="1822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7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3625" y="1428750"/>
            <a:ext cx="2089150" cy="1824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8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0" y="4643438"/>
            <a:ext cx="2214563" cy="1998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2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补充一（</a:t>
            </a:r>
            <a:r>
              <a:rPr lang="en-US" altLang="zh-CN" dirty="0"/>
              <a:t>b’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4343" name="Rectangle 3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50736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b="1" dirty="0"/>
              <a:t>当             时，</a:t>
            </a:r>
            <a:r>
              <a:rPr lang="zh-CN" altLang="en-US" dirty="0"/>
              <a:t> </a:t>
            </a:r>
            <a:r>
              <a:rPr lang="en-US" altLang="zh-CN" b="1" dirty="0"/>
              <a:t>D</a:t>
            </a:r>
            <a:r>
              <a:rPr lang="zh-CN" altLang="en-US" b="1" dirty="0"/>
              <a:t>短路，</a:t>
            </a:r>
            <a:endParaRPr lang="zh-CN" altLang="en-US" b="1" dirty="0"/>
          </a:p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b="1" dirty="0"/>
              <a:t>当             时，</a:t>
            </a:r>
            <a:r>
              <a:rPr lang="zh-CN" altLang="en-US" dirty="0"/>
              <a:t> </a:t>
            </a:r>
            <a:r>
              <a:rPr lang="en-US" altLang="zh-CN" b="1" dirty="0"/>
              <a:t>D</a:t>
            </a:r>
            <a:r>
              <a:rPr lang="zh-CN" altLang="en-US" b="1" dirty="0"/>
              <a:t>开路，</a:t>
            </a:r>
            <a:endParaRPr lang="zh-CN" altLang="en-US" b="1" dirty="0"/>
          </a:p>
          <a:p>
            <a:pPr eaLnBrk="1" hangingPunct="1"/>
            <a:endParaRPr lang="en-US" altLang="zh-CN" dirty="0"/>
          </a:p>
        </p:txBody>
      </p:sp>
      <p:sp>
        <p:nvSpPr>
          <p:cNvPr id="14344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38" name="Object 6"/>
          <p:cNvGraphicFramePr/>
          <p:nvPr/>
        </p:nvGraphicFramePr>
        <p:xfrm>
          <a:off x="2324100" y="3429000"/>
          <a:ext cx="12922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558800" imgH="228600" progId="Equation.DSMT4">
                  <p:embed/>
                </p:oleObj>
              </mc:Choice>
              <mc:Fallback>
                <p:oleObj name="" r:id="rId1" imgW="558800" imgH="228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24100" y="3429000"/>
                        <a:ext cx="1292225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7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39" name="Object 8"/>
          <p:cNvGraphicFramePr/>
          <p:nvPr/>
        </p:nvGraphicFramePr>
        <p:xfrm>
          <a:off x="2322513" y="4076700"/>
          <a:ext cx="11509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571500" imgH="228600" progId="Equation.DSMT4">
                  <p:embed/>
                </p:oleObj>
              </mc:Choice>
              <mc:Fallback>
                <p:oleObj name="" r:id="rId3" imgW="571500" imgH="2286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2513" y="4076700"/>
                        <a:ext cx="115093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40" name="Object 10"/>
          <p:cNvGraphicFramePr/>
          <p:nvPr/>
        </p:nvGraphicFramePr>
        <p:xfrm>
          <a:off x="6084888" y="3429000"/>
          <a:ext cx="9715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419100" imgH="228600" progId="Equation.DSMT4">
                  <p:embed/>
                </p:oleObj>
              </mc:Choice>
              <mc:Fallback>
                <p:oleObj name="" r:id="rId5" imgW="419100" imgH="2286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4888" y="3429000"/>
                        <a:ext cx="971550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Rectangle 1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4341" name="Object 12"/>
          <p:cNvGraphicFramePr/>
          <p:nvPr/>
        </p:nvGraphicFramePr>
        <p:xfrm>
          <a:off x="5988050" y="4076700"/>
          <a:ext cx="19589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7" imgW="889000" imgH="228600" progId="Equation.DSMT4">
                  <p:embed/>
                </p:oleObj>
              </mc:Choice>
              <mc:Fallback>
                <p:oleObj name="" r:id="rId7" imgW="889000" imgH="2286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88050" y="4076700"/>
                        <a:ext cx="195897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8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8" y="1214438"/>
            <a:ext cx="2428875" cy="2105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9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1625" y="4643438"/>
            <a:ext cx="3160713" cy="2000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50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1875" y="1285875"/>
            <a:ext cx="2127250" cy="1857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51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1214438"/>
            <a:ext cx="2214563" cy="1933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52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0688" y="4500563"/>
            <a:ext cx="2357437" cy="2357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二、如下图，求输出电压</a:t>
            </a:r>
            <a:r>
              <a:rPr lang="en-US" altLang="zh-CN" dirty="0"/>
              <a:t>Vo</a:t>
            </a:r>
            <a:r>
              <a:rPr lang="zh-CN" altLang="en-US" dirty="0"/>
              <a:t>和流过稳压管电流</a:t>
            </a:r>
            <a:r>
              <a:rPr lang="en-US" altLang="zh-CN" dirty="0"/>
              <a:t>Iz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3277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063" y="2286000"/>
            <a:ext cx="5953125" cy="2714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解：假设能正常稳压</a:t>
            </a:r>
            <a:endParaRPr lang="zh-CN" altLang="en-US" dirty="0"/>
          </a:p>
        </p:txBody>
      </p:sp>
      <p:pic>
        <p:nvPicPr>
          <p:cNvPr id="1536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688" y="1143000"/>
            <a:ext cx="4143375" cy="1889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5362" name="Object 1"/>
          <p:cNvGraphicFramePr/>
          <p:nvPr/>
        </p:nvGraphicFramePr>
        <p:xfrm>
          <a:off x="428625" y="3357563"/>
          <a:ext cx="38576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2" imgW="1765300" imgH="393700" progId="Equation.DSMT4">
                  <p:embed/>
                </p:oleObj>
              </mc:Choice>
              <mc:Fallback>
                <p:oleObj name="" r:id="rId2" imgW="1765300" imgH="3937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8625" y="3357563"/>
                        <a:ext cx="3857625" cy="855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5363" name="Object 3"/>
          <p:cNvGraphicFramePr/>
          <p:nvPr/>
        </p:nvGraphicFramePr>
        <p:xfrm>
          <a:off x="5429250" y="3286125"/>
          <a:ext cx="29289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4" imgW="1320165" imgH="431800" progId="Equation.DSMT4">
                  <p:embed/>
                </p:oleObj>
              </mc:Choice>
              <mc:Fallback>
                <p:oleObj name="" r:id="rId4" imgW="1320165" imgH="4318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29250" y="3286125"/>
                        <a:ext cx="2928938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5364" name="Object 5"/>
          <p:cNvGraphicFramePr/>
          <p:nvPr/>
        </p:nvGraphicFramePr>
        <p:xfrm>
          <a:off x="500063" y="4643438"/>
          <a:ext cx="54768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6" imgW="1752600" imgH="228600" progId="Equation.DSMT4">
                  <p:embed/>
                </p:oleObj>
              </mc:Choice>
              <mc:Fallback>
                <p:oleObj name="" r:id="rId6" imgW="1752600" imgH="2286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0063" y="4643438"/>
                        <a:ext cx="5476875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矩形 9"/>
          <p:cNvSpPr/>
          <p:nvPr/>
        </p:nvSpPr>
        <p:spPr>
          <a:xfrm>
            <a:off x="642938" y="5357813"/>
            <a:ext cx="7858125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800" b="1" dirty="0">
                <a:latin typeface="Arial" panose="020B0604020202020204" pitchFamily="34" charset="0"/>
              </a:rPr>
              <a:t>负号说明实际电流与规定方向相反，从下往上流，这是不可能的。</a:t>
            </a:r>
            <a:endParaRPr lang="zh-CN" altLang="en-US" sz="4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457200" y="2714625"/>
            <a:ext cx="8229600" cy="385762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4000" b="1" dirty="0"/>
              <a:t>实际上，如断开稳压管，则</a:t>
            </a:r>
            <a:r>
              <a:rPr lang="en-US" altLang="zh-CN" sz="4000" b="1" dirty="0"/>
              <a:t>A</a:t>
            </a:r>
            <a:r>
              <a:rPr lang="zh-CN" altLang="en-US" sz="4000" b="1" dirty="0"/>
              <a:t>、</a:t>
            </a:r>
            <a:r>
              <a:rPr lang="en-US" altLang="zh-CN" sz="4000" b="1" dirty="0"/>
              <a:t>B</a:t>
            </a:r>
            <a:r>
              <a:rPr lang="zh-CN" altLang="en-US" sz="4000" b="1" dirty="0"/>
              <a:t>间的电压为</a:t>
            </a:r>
            <a:r>
              <a:rPr lang="en-US" altLang="zh-CN" sz="4000" b="1" dirty="0"/>
              <a:t>5V</a:t>
            </a:r>
            <a:r>
              <a:rPr lang="zh-CN" altLang="en-US" sz="4000" b="1" dirty="0"/>
              <a:t>，不足以让稳压管（</a:t>
            </a:r>
            <a:r>
              <a:rPr lang="en-US" altLang="zh-CN" sz="4000" b="1" dirty="0"/>
              <a:t>Vz = 6V</a:t>
            </a:r>
            <a:r>
              <a:rPr lang="zh-CN" altLang="en-US" sz="4000" b="1" dirty="0"/>
              <a:t>）反向击穿，所以接上稳压管对电路没有影响，所以</a:t>
            </a:r>
            <a:r>
              <a:rPr lang="en-US" altLang="zh-CN" sz="4000" b="1" dirty="0"/>
              <a:t>Vo = 5V</a:t>
            </a:r>
            <a:r>
              <a:rPr lang="zh-CN" altLang="en-US" sz="4000" b="1" dirty="0"/>
              <a:t>，</a:t>
            </a:r>
            <a:r>
              <a:rPr lang="en-US" altLang="zh-CN" sz="4000" b="1" dirty="0"/>
              <a:t>Iz = 0</a:t>
            </a:r>
            <a:br>
              <a:rPr lang="zh-CN" altLang="zh-CN" sz="4000" b="1" dirty="0"/>
            </a:br>
            <a:endParaRPr lang="zh-CN" altLang="en-US" sz="4000" b="1" dirty="0"/>
          </a:p>
        </p:txBody>
      </p:sp>
      <p:pic>
        <p:nvPicPr>
          <p:cNvPr id="3379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813" y="642938"/>
            <a:ext cx="4071937" cy="1878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214313"/>
            <a:ext cx="3143250" cy="2568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</Words>
  <Application>WPS 演示</Application>
  <PresentationFormat>全屏显示(4:3)</PresentationFormat>
  <Paragraphs>152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37</vt:i4>
      </vt:variant>
      <vt:variant>
        <vt:lpstr>幻灯片标题</vt:lpstr>
      </vt:variant>
      <vt:variant>
        <vt:i4>32</vt:i4>
      </vt:variant>
    </vt:vector>
  </HeadingPairs>
  <TitlesOfParts>
    <vt:vector size="77" baseType="lpstr">
      <vt:lpstr>Arial</vt:lpstr>
      <vt:lpstr>宋体</vt:lpstr>
      <vt:lpstr>Wingdings</vt:lpstr>
      <vt:lpstr>Calibri</vt:lpstr>
      <vt:lpstr>微软雅黑</vt:lpstr>
      <vt:lpstr>Arial Unicode MS</vt:lpstr>
      <vt:lpstr>MS PGothic</vt:lpstr>
      <vt:lpstr>默认设计模板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XMU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WPS_1703547373</cp:lastModifiedBy>
  <cp:revision>16</cp:revision>
  <dcterms:created xsi:type="dcterms:W3CDTF">2012-09-25T14:02:15Z</dcterms:created>
  <dcterms:modified xsi:type="dcterms:W3CDTF">2026-09-09T09:41:09Z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366204E74AFF49AEA77D1CF1BD864451_13</vt:lpwstr>
  </property>
  <property fmtid="{D5CDD505-2E9C-101B-9397-08002B2CF9AE}" pid="3" name="KSOProductBuildVer">
    <vt:lpwstr>2052-12.1.0.28043</vt:lpwstr>
  </property>
</Properties>
</file>